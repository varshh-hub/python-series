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bold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bold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ae96c9181ae1000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ae96c9181ae1000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5ae96c9181ae1000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5ae96c9181ae1000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5ae96c9181ae1000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5ae96c9181ae1000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5ae96c9181ae1000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5ae96c9181ae1000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5ae96c9181ae1000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5ae96c9181ae1000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5ae96c9181ae1000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5ae96c9181ae1000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5ae96c9181ae1000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5ae96c9181ae1000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ae96c9181ae1000_14_0)">
  <p:cSld name="Generated (h5ae96c9181ae1000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63" y="4763"/>
              <a:ext cx="8982000" cy="4981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8" name="Google Shape;58;p14"/>
            <p:cNvGrpSpPr/>
            <p:nvPr/>
          </p:nvGrpSpPr>
          <p:grpSpPr>
            <a:xfrm>
              <a:off x="4381500" y="990600"/>
              <a:ext cx="381000" cy="381000"/>
              <a:chOff x="19050" y="19050"/>
              <a:chExt cx="190500" cy="1905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19050" y="19050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6880" y="0"/>
                      <a:pt x="0" y="26880"/>
                      <a:pt x="0" y="60000"/>
                    </a:cubicBezTo>
                    <a:cubicBezTo>
                      <a:pt x="0" y="93120"/>
                      <a:pt x="26880" y="120000"/>
                      <a:pt x="60000" y="120000"/>
                    </a:cubicBezTo>
                    <a:cubicBezTo>
                      <a:pt x="93120" y="120000"/>
                      <a:pt x="120000" y="93120"/>
                      <a:pt x="120000" y="60000"/>
                    </a:cubicBezTo>
                    <a:cubicBezTo>
                      <a:pt x="120000" y="26880"/>
                      <a:pt x="93120" y="0"/>
                      <a:pt x="60000" y="0"/>
                    </a:cubicBezTo>
                    <a:close/>
                    <a:moveTo>
                      <a:pt x="60000" y="12000"/>
                    </a:moveTo>
                    <a:cubicBezTo>
                      <a:pt x="86460" y="12000"/>
                      <a:pt x="108000" y="33540"/>
                      <a:pt x="108000" y="60000"/>
                    </a:cubicBezTo>
                    <a:cubicBezTo>
                      <a:pt x="108000" y="86460"/>
                      <a:pt x="86460" y="108000"/>
                      <a:pt x="60000" y="108000"/>
                    </a:cubicBezTo>
                    <a:cubicBezTo>
                      <a:pt x="33540" y="108000"/>
                      <a:pt x="12000" y="86460"/>
                      <a:pt x="12000" y="60000"/>
                    </a:cubicBezTo>
                    <a:cubicBezTo>
                      <a:pt x="12000" y="33540"/>
                      <a:pt x="33540" y="12000"/>
                      <a:pt x="60000" y="12000"/>
                    </a:cubicBezTo>
                    <a:close/>
                  </a:path>
                </a:pathLst>
              </a:cu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66675" y="6667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123825" y="12382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" name="Google Shape;62;p14"/>
          <p:cNvSpPr txBox="1"/>
          <p:nvPr/>
        </p:nvSpPr>
        <p:spPr>
          <a:xfrm>
            <a:off x="762000" y="2286000"/>
            <a:ext cx="76200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Getting User Input and Type Conversion in Python</a:t>
            </a:r>
            <a:endParaRPr b="1" i="0" sz="320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8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Building Interactive Console Applications</a:t>
            </a:r>
            <a:endParaRPr b="1" i="0" sz="320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b="1" i="0" lang="en" sz="13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Subscribe on YouTube: </a:t>
            </a:r>
            <a:r>
              <a:rPr b="0" i="0" lang="en" sz="1300" u="none" strike="noStrike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@learnwithvarshhh</a:t>
            </a:r>
            <a:r>
              <a:rPr b="0" i="0" lang="en" sz="13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  •  </a:t>
            </a:r>
            <a:r>
              <a:rPr b="1" i="0" lang="en" sz="13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i="0" lang="en" sz="1300" u="none" strike="noStrike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i="0" sz="320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238250" y="304800"/>
            <a:ext cx="6667500" cy="457200"/>
          </a:xfrm>
          <a:prstGeom prst="roundRect">
            <a:avLst>
              <a:gd fmla="val 43766" name="adj"/>
            </a:avLst>
          </a:prstGeom>
          <a:solidFill>
            <a:srgbClr val="F8F9FA"/>
          </a:solidFill>
          <a:ln cap="flat" cmpd="sng" w="9525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50" lIns="95250" spcFirstLastPara="1" rIns="95250" wrap="square" tIns="190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i="0" lang="en" sz="1200" u="none" strike="noStrike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i="0" lang="en" sz="12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i="0" lang="en" sz="120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i="0" lang="en" sz="1200" u="none" strike="noStrike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i="0" sz="1200" u="none" strike="noStrike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762000"/>
              <a:ext cx="91440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381000" y="752475"/>
              <a:ext cx="571500" cy="28500"/>
            </a:xfrm>
            <a:prstGeom prst="rect">
              <a:avLst/>
            </a:pr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" name="Google Shape;73;p15"/>
            <p:cNvGrpSpPr/>
            <p:nvPr/>
          </p:nvGrpSpPr>
          <p:grpSpPr>
            <a:xfrm>
              <a:off x="8553450" y="285750"/>
              <a:ext cx="190500" cy="190500"/>
              <a:chOff x="19050" y="19050"/>
              <a:chExt cx="190500" cy="190500"/>
            </a:xfrm>
          </p:grpSpPr>
          <p:sp>
            <p:nvSpPr>
              <p:cNvPr id="74" name="Google Shape;74;p15"/>
              <p:cNvSpPr/>
              <p:nvPr/>
            </p:nvSpPr>
            <p:spPr>
              <a:xfrm>
                <a:off x="19050" y="19050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6880" y="0"/>
                      <a:pt x="0" y="26880"/>
                      <a:pt x="0" y="60000"/>
                    </a:cubicBezTo>
                    <a:cubicBezTo>
                      <a:pt x="0" y="93120"/>
                      <a:pt x="26880" y="120000"/>
                      <a:pt x="60000" y="120000"/>
                    </a:cubicBezTo>
                    <a:cubicBezTo>
                      <a:pt x="93120" y="120000"/>
                      <a:pt x="120000" y="93120"/>
                      <a:pt x="120000" y="60000"/>
                    </a:cubicBezTo>
                    <a:cubicBezTo>
                      <a:pt x="120000" y="26880"/>
                      <a:pt x="93120" y="0"/>
                      <a:pt x="60000" y="0"/>
                    </a:cubicBezTo>
                    <a:close/>
                    <a:moveTo>
                      <a:pt x="60000" y="12000"/>
                    </a:moveTo>
                    <a:cubicBezTo>
                      <a:pt x="86460" y="12000"/>
                      <a:pt x="108000" y="33540"/>
                      <a:pt x="108000" y="60000"/>
                    </a:cubicBezTo>
                    <a:cubicBezTo>
                      <a:pt x="108000" y="86460"/>
                      <a:pt x="86460" y="108000"/>
                      <a:pt x="60000" y="108000"/>
                    </a:cubicBezTo>
                    <a:cubicBezTo>
                      <a:pt x="33540" y="108000"/>
                      <a:pt x="12000" y="86460"/>
                      <a:pt x="12000" y="60000"/>
                    </a:cubicBezTo>
                    <a:cubicBezTo>
                      <a:pt x="12000" y="33540"/>
                      <a:pt x="33540" y="12000"/>
                      <a:pt x="60000" y="12000"/>
                    </a:cubicBezTo>
                    <a:close/>
                  </a:path>
                </a:pathLst>
              </a:cu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66675" y="6667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123825" y="12382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" name="Google Shape;77;p15"/>
          <p:cNvSpPr txBox="1"/>
          <p:nvPr/>
        </p:nvSpPr>
        <p:spPr>
          <a:xfrm>
            <a:off x="381000" y="209550"/>
            <a:ext cx="4143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40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User Input: The input() Function</a:t>
            </a:r>
            <a:endParaRPr b="1" i="0" sz="204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381000" y="1000125"/>
            <a:ext cx="4048200" cy="3467250"/>
            <a:chOff x="0" y="0"/>
            <a:chExt cx="4048200" cy="3467250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0" y="0"/>
              <a:ext cx="4048200" cy="781200"/>
              <a:chOff x="0" y="0"/>
              <a:chExt cx="4048200" cy="781200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0" y="0"/>
                <a:ext cx="4048200" cy="781200"/>
              </a:xfrm>
              <a:prstGeom prst="roundRect">
                <a:avLst>
                  <a:gd fmla="val 9756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152400" y="238125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152400" y="238125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01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" name="Google Shape;83;p15"/>
              <p:cNvSpPr txBox="1"/>
              <p:nvPr/>
            </p:nvSpPr>
            <p:spPr>
              <a:xfrm>
                <a:off x="590550" y="114300"/>
                <a:ext cx="33147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The </a:t>
                </a:r>
                <a:r>
                  <a:rPr b="1" lang="en" sz="1100">
                    <a:solidFill>
                      <a:srgbClr val="3776A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input()</a:t>
                </a:r>
                <a:r>
                  <a:rPr lang="en" sz="11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function allows Python programs to receive data directly from the user.</a:t>
                </a:r>
                <a:endParaRPr sz="11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4" name="Google Shape;84;p15"/>
            <p:cNvGrpSpPr/>
            <p:nvPr/>
          </p:nvGrpSpPr>
          <p:grpSpPr>
            <a:xfrm>
              <a:off x="0" y="895350"/>
              <a:ext cx="4048200" cy="781200"/>
              <a:chOff x="0" y="0"/>
              <a:chExt cx="4048200" cy="7812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4048200" cy="781200"/>
              </a:xfrm>
              <a:prstGeom prst="roundRect">
                <a:avLst>
                  <a:gd fmla="val 9756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152400" y="238125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5"/>
              <p:cNvSpPr txBox="1"/>
              <p:nvPr/>
            </p:nvSpPr>
            <p:spPr>
              <a:xfrm>
                <a:off x="152400" y="238125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02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15"/>
              <p:cNvSpPr txBox="1"/>
              <p:nvPr/>
            </p:nvSpPr>
            <p:spPr>
              <a:xfrm>
                <a:off x="590550" y="95250"/>
                <a:ext cx="33147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When called, execution pauses and waits for the user to type something and press Enter.</a:t>
                </a:r>
                <a:endParaRPr sz="105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9" name="Google Shape;89;p15"/>
            <p:cNvGrpSpPr/>
            <p:nvPr/>
          </p:nvGrpSpPr>
          <p:grpSpPr>
            <a:xfrm>
              <a:off x="0" y="1790700"/>
              <a:ext cx="4048200" cy="781200"/>
              <a:chOff x="0" y="0"/>
              <a:chExt cx="4048200" cy="78120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0" y="0"/>
                <a:ext cx="4048200" cy="781200"/>
              </a:xfrm>
              <a:prstGeom prst="roundRect">
                <a:avLst>
                  <a:gd fmla="val 9756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152400" y="238125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152400" y="238125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03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15"/>
              <p:cNvSpPr txBox="1"/>
              <p:nvPr/>
            </p:nvSpPr>
            <p:spPr>
              <a:xfrm>
                <a:off x="590550" y="95250"/>
                <a:ext cx="33147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An optional prompt string can be provided to inform the user what information is expected.</a:t>
                </a:r>
                <a:endParaRPr sz="105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4" name="Google Shape;94;p15"/>
            <p:cNvGrpSpPr/>
            <p:nvPr/>
          </p:nvGrpSpPr>
          <p:grpSpPr>
            <a:xfrm>
              <a:off x="0" y="2686050"/>
              <a:ext cx="4048200" cy="781200"/>
              <a:chOff x="0" y="0"/>
              <a:chExt cx="4048200" cy="78120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0" y="0"/>
                <a:ext cx="4048200" cy="781200"/>
              </a:xfrm>
              <a:prstGeom prst="roundRect">
                <a:avLst>
                  <a:gd fmla="val 9756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152400" y="238125"/>
                <a:ext cx="304800" cy="304800"/>
              </a:xfrm>
              <a:prstGeom prst="roundRect">
                <a:avLst>
                  <a:gd fmla="val 50000" name="adj"/>
                </a:avLst>
              </a:pr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5"/>
              <p:cNvSpPr txBox="1"/>
              <p:nvPr/>
            </p:nvSpPr>
            <p:spPr>
              <a:xfrm>
                <a:off x="152400" y="238125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04</a:t>
                </a:r>
                <a:endParaRPr b="1" sz="11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15"/>
              <p:cNvSpPr txBox="1"/>
              <p:nvPr/>
            </p:nvSpPr>
            <p:spPr>
              <a:xfrm>
                <a:off x="590550" y="114300"/>
                <a:ext cx="33147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Captured data is stored in an assigned variable for later use in the program.</a:t>
                </a:r>
                <a:endParaRPr sz="105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9" name="Google Shape;99;p15"/>
          <p:cNvGrpSpPr/>
          <p:nvPr/>
        </p:nvGrpSpPr>
        <p:grpSpPr>
          <a:xfrm>
            <a:off x="4667250" y="989916"/>
            <a:ext cx="4095900" cy="1686609"/>
            <a:chOff x="0" y="-10209"/>
            <a:chExt cx="4095900" cy="1686609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4095900" cy="1676400"/>
            </a:xfrm>
            <a:prstGeom prst="roundRect">
              <a:avLst>
                <a:gd fmla="val 454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0" y="-10209"/>
              <a:ext cx="4095900" cy="334200"/>
            </a:xfrm>
            <a:custGeom>
              <a:rect b="b" l="l" r="r" t="t"/>
              <a:pathLst>
                <a:path extrusionOk="0" h="120000" w="120000">
                  <a:moveTo>
                    <a:pt x="0" y="31040"/>
                  </a:moveTo>
                  <a:cubicBezTo>
                    <a:pt x="0" y="23780"/>
                    <a:pt x="235" y="16818"/>
                    <a:pt x="654" y="11685"/>
                  </a:cubicBezTo>
                  <a:cubicBezTo>
                    <a:pt x="1073" y="6551"/>
                    <a:pt x="1640" y="3667"/>
                    <a:pt x="2233" y="3667"/>
                  </a:cubicBezTo>
                  <a:lnTo>
                    <a:pt x="117767" y="3667"/>
                  </a:lnTo>
                  <a:cubicBezTo>
                    <a:pt x="118458" y="-1225"/>
                    <a:pt x="119309" y="-1225"/>
                    <a:pt x="120000" y="366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14300" y="123825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47650" y="123825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81000" y="123825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571500" y="66675"/>
              <a:ext cx="2952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Syntax</a:t>
              </a:r>
              <a:endParaRPr b="0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90500" y="438150"/>
              <a:ext cx="3714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Syntax Structure</a:t>
              </a:r>
              <a:endParaRPr sz="11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variable</a:t>
              </a:r>
              <a:r>
                <a:rPr lang="en" sz="13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= </a:t>
              </a:r>
              <a:r>
                <a:rPr b="1" lang="en" sz="1300">
                  <a:solidFill>
                    <a:srgbClr val="FACC1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input</a:t>
              </a:r>
              <a:r>
                <a:rPr lang="en" sz="13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" sz="1300">
                  <a:solidFill>
                    <a:srgbClr val="4AD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"Prompt message: "</a:t>
              </a:r>
              <a:r>
                <a:rPr lang="en" sz="13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3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4667250" y="2818716"/>
            <a:ext cx="4095900" cy="1686609"/>
            <a:chOff x="0" y="-10209"/>
            <a:chExt cx="4095900" cy="1686609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4095900" cy="1676400"/>
            </a:xfrm>
            <a:prstGeom prst="roundRect">
              <a:avLst>
                <a:gd fmla="val 454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-10209"/>
              <a:ext cx="4095900" cy="334200"/>
            </a:xfrm>
            <a:custGeom>
              <a:rect b="b" l="l" r="r" t="t"/>
              <a:pathLst>
                <a:path extrusionOk="0" h="120000" w="120000">
                  <a:moveTo>
                    <a:pt x="0" y="31040"/>
                  </a:moveTo>
                  <a:cubicBezTo>
                    <a:pt x="0" y="23780"/>
                    <a:pt x="235" y="16818"/>
                    <a:pt x="654" y="11685"/>
                  </a:cubicBezTo>
                  <a:cubicBezTo>
                    <a:pt x="1073" y="6551"/>
                    <a:pt x="1640" y="3667"/>
                    <a:pt x="2233" y="3667"/>
                  </a:cubicBezTo>
                  <a:lnTo>
                    <a:pt x="117767" y="3667"/>
                  </a:lnTo>
                  <a:cubicBezTo>
                    <a:pt x="118458" y="-1225"/>
                    <a:pt x="119309" y="-1225"/>
                    <a:pt x="120000" y="3667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114300" y="123825"/>
              <a:ext cx="76200" cy="762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47650" y="123825"/>
              <a:ext cx="76200" cy="762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81000" y="123825"/>
              <a:ext cx="76200" cy="76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571500" y="66675"/>
              <a:ext cx="2952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Example</a:t>
              </a:r>
              <a:endParaRPr b="0" sz="9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190500" y="438150"/>
              <a:ext cx="37149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Python Code Example</a:t>
              </a:r>
              <a:endParaRPr sz="11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8BDF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name</a:t>
              </a:r>
              <a:r>
                <a:rPr lang="en" sz="13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= </a:t>
              </a:r>
              <a:r>
                <a:rPr b="1" lang="en" sz="1300">
                  <a:solidFill>
                    <a:srgbClr val="FACC1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input</a:t>
              </a:r>
              <a:r>
                <a:rPr lang="en" sz="13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</a:t>
              </a:r>
              <a:r>
                <a:rPr lang="en" sz="1300">
                  <a:solidFill>
                    <a:srgbClr val="4AD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"Enter your name: "</a:t>
              </a:r>
              <a:r>
                <a:rPr lang="en" sz="1300">
                  <a:solidFill>
                    <a:srgbClr val="94A3B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300"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15" name="Google Shape;115;p15"/>
          <p:cNvSpPr txBox="1"/>
          <p:nvPr/>
        </p:nvSpPr>
        <p:spPr>
          <a:xfrm>
            <a:off x="4619625" y="266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lang="en" sz="736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lang="en" sz="736">
                <a:solidFill>
                  <a:srgbClr val="ADB5BD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lang="en" sz="736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sz="736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0" y="752475"/>
            <a:ext cx="9144000" cy="28500"/>
            <a:chOff x="0" y="-9525"/>
            <a:chExt cx="9144000" cy="285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381000" y="-9525"/>
              <a:ext cx="571500" cy="28500"/>
            </a:xfrm>
            <a:prstGeom prst="rect">
              <a:avLst/>
            </a:pr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8553450" y="285750"/>
            <a:ext cx="190500" cy="190500"/>
            <a:chOff x="19050" y="19050"/>
            <a:chExt cx="190500" cy="190500"/>
          </a:xfrm>
        </p:grpSpPr>
        <p:sp>
          <p:nvSpPr>
            <p:cNvPr id="125" name="Google Shape;125;p16"/>
            <p:cNvSpPr/>
            <p:nvPr/>
          </p:nvSpPr>
          <p:spPr>
            <a:xfrm>
              <a:off x="19050" y="19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cubicBezTo>
                    <a:pt x="0" y="93120"/>
                    <a:pt x="26880" y="120000"/>
                    <a:pt x="60000" y="120000"/>
                  </a:cubicBezTo>
                  <a:cubicBezTo>
                    <a:pt x="93120" y="120000"/>
                    <a:pt x="120000" y="93120"/>
                    <a:pt x="120000" y="60000"/>
                  </a:cubicBezTo>
                  <a:cubicBezTo>
                    <a:pt x="120000" y="26880"/>
                    <a:pt x="93120" y="0"/>
                    <a:pt x="60000" y="0"/>
                  </a:cubicBezTo>
                  <a:close/>
                  <a:moveTo>
                    <a:pt x="60000" y="12000"/>
                  </a:moveTo>
                  <a:cubicBezTo>
                    <a:pt x="86460" y="12000"/>
                    <a:pt x="108000" y="33540"/>
                    <a:pt x="108000" y="60000"/>
                  </a:cubicBezTo>
                  <a:cubicBezTo>
                    <a:pt x="108000" y="86460"/>
                    <a:pt x="86460" y="108000"/>
                    <a:pt x="60000" y="108000"/>
                  </a:cubicBezTo>
                  <a:cubicBezTo>
                    <a:pt x="33540" y="108000"/>
                    <a:pt x="12000" y="86460"/>
                    <a:pt x="12000" y="60000"/>
                  </a:cubicBezTo>
                  <a:cubicBezTo>
                    <a:pt x="12000" y="33540"/>
                    <a:pt x="33540" y="12000"/>
                    <a:pt x="60000" y="12000"/>
                  </a:cubicBezTo>
                  <a:close/>
                </a:path>
              </a:pathLst>
            </a:cu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66675" y="66675"/>
              <a:ext cx="38100" cy="381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23825" y="123825"/>
              <a:ext cx="38100" cy="381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16"/>
          <p:cNvSpPr txBox="1"/>
          <p:nvPr/>
        </p:nvSpPr>
        <p:spPr>
          <a:xfrm>
            <a:off x="381000" y="238125"/>
            <a:ext cx="457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40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" sz="2040" u="none" strike="noStrike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b="1" i="0" lang="en" sz="2040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 Function Return Type</a:t>
            </a:r>
            <a:endParaRPr b="1" i="0" sz="204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9" name="Google Shape;129;p16"/>
          <p:cNvGrpSpPr/>
          <p:nvPr/>
        </p:nvGrpSpPr>
        <p:grpSpPr>
          <a:xfrm>
            <a:off x="381000" y="1047750"/>
            <a:ext cx="3905400" cy="3619500"/>
            <a:chOff x="0" y="0"/>
            <a:chExt cx="3905400" cy="36195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3905400" cy="3619500"/>
            </a:xfrm>
            <a:prstGeom prst="roundRect">
              <a:avLst>
                <a:gd fmla="val 2105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228600" y="228600"/>
              <a:ext cx="34482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Core Rule</a:t>
              </a:r>
              <a:endParaRPr b="1" sz="100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52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str</a:t>
              </a:r>
              <a:endParaRPr b="1" sz="5200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ALWAYS Returns a String</a:t>
              </a:r>
              <a:endParaRPr b="1" sz="20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Even if the user enters a numerical value like </a:t>
              </a:r>
              <a:r>
                <a:rPr b="0" lang="en" sz="13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42</a:t>
              </a:r>
              <a:r>
                <a:rPr b="0" lang="en" sz="13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0" lang="en" sz="13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3.14</a:t>
              </a:r>
              <a:r>
                <a:rPr b="0" lang="en" sz="13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, Python reads it strictly as text.</a:t>
              </a:r>
              <a:endParaRPr b="0" sz="1300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95057"/>
                  </a:solidFill>
                  <a:highlight>
                    <a:srgbClr val="FFFFFF"/>
                  </a:highlight>
                  <a:latin typeface="Inter"/>
                  <a:ea typeface="Inter"/>
                  <a:cs typeface="Inter"/>
                  <a:sym typeface="Inter"/>
                </a:rPr>
                <a:t>Python Interpretation</a:t>
              </a:r>
              <a:endParaRPr b="1" sz="1000">
                <a:solidFill>
                  <a:srgbClr val="495057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95057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42</a:t>
              </a:r>
              <a:r>
                <a:rPr b="0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    </a:t>
              </a:r>
              <a:r>
                <a:rPr b="1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"42"</a:t>
              </a:r>
              <a:endParaRPr b="0" sz="1300">
                <a:solidFill>
                  <a:srgbClr val="3776AB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95057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3.14</a:t>
              </a:r>
              <a:r>
                <a:rPr b="0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  </a:t>
              </a:r>
              <a:r>
                <a:rPr b="1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"3.14"</a:t>
              </a:r>
              <a:endParaRPr b="0" sz="1300">
                <a:solidFill>
                  <a:srgbClr val="3776AB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4572000" y="1047750"/>
            <a:ext cx="4191000" cy="2095500"/>
            <a:chOff x="0" y="0"/>
            <a:chExt cx="4191000" cy="20955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4191000" cy="2095500"/>
            </a:xfrm>
            <a:prstGeom prst="roundRect">
              <a:avLst>
                <a:gd fmla="val 3636" name="adj"/>
              </a:avLst>
            </a:prstGeom>
            <a:solidFill>
              <a:srgbClr val="FFF5F5"/>
            </a:solidFill>
            <a:ln cap="flat" cmpd="sng" w="9525">
              <a:solidFill>
                <a:srgbClr val="FFC9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0"/>
              <a:ext cx="57300" cy="2095500"/>
            </a:xfrm>
            <a:prstGeom prst="roundRect">
              <a:avLst>
                <a:gd fmla="val 50000" name="adj"/>
              </a:avLst>
            </a:prstGeom>
            <a:solidFill>
              <a:srgbClr val="E031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228600" y="190500"/>
              <a:ext cx="37338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E03131"/>
                  </a:solidFill>
                  <a:latin typeface="Inter"/>
                  <a:ea typeface="Inter"/>
                  <a:cs typeface="Inter"/>
                  <a:sym typeface="Inter"/>
                </a:rPr>
                <a:t>Unexpected String Concatenation</a:t>
              </a:r>
              <a:endParaRPr b="1" sz="1300">
                <a:solidFill>
                  <a:srgbClr val="E0313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Attempting to perform mathematical operations directly on input returns string concatenation rather than addition.</a:t>
              </a:r>
              <a:endParaRPr b="0" sz="13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"5" + "5"    </a:t>
              </a:r>
              <a:r>
                <a:rPr b="1" lang="en" sz="1300">
                  <a:solidFill>
                    <a:srgbClr val="E03131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"55"</a:t>
              </a:r>
              <a:r>
                <a:rPr b="0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lang="en" sz="1000">
                  <a:solidFill>
                    <a:srgbClr val="E03131"/>
                  </a:solidFill>
                  <a:highlight>
                    <a:srgbClr val="FFFFFF"/>
                  </a:highlight>
                  <a:latin typeface="Inter"/>
                  <a:ea typeface="Inter"/>
                  <a:cs typeface="Inter"/>
                  <a:sym typeface="Inter"/>
                </a:rPr>
                <a:t>(Text Join)</a:t>
              </a:r>
              <a:endParaRPr b="0" sz="1300">
                <a:solidFill>
                  <a:srgbClr val="3776AB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95057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5 + 5</a:t>
              </a:r>
              <a:r>
                <a:rPr b="0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       </a:t>
              </a:r>
              <a:r>
                <a:rPr b="1" lang="en" sz="13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</a:t>
              </a:r>
              <a:r>
                <a:rPr b="0" lang="en" sz="1300">
                  <a:solidFill>
                    <a:srgbClr val="3776AB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b="0" lang="en" sz="1000">
                  <a:solidFill>
                    <a:srgbClr val="2B8A3E"/>
                  </a:solidFill>
                  <a:latin typeface="Inter"/>
                  <a:ea typeface="Inter"/>
                  <a:cs typeface="Inter"/>
                  <a:sym typeface="Inter"/>
                </a:rPr>
                <a:t>(Math Addition)</a:t>
              </a:r>
              <a:endParaRPr b="0" sz="1300">
                <a:solidFill>
                  <a:srgbClr val="3776AB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136" name="Google Shape;136;p16"/>
          <p:cNvGrpSpPr/>
          <p:nvPr/>
        </p:nvGrpSpPr>
        <p:grpSpPr>
          <a:xfrm>
            <a:off x="4572000" y="3333750"/>
            <a:ext cx="4191000" cy="1333500"/>
            <a:chOff x="0" y="0"/>
            <a:chExt cx="4191000" cy="1333500"/>
          </a:xfrm>
        </p:grpSpPr>
        <p:sp>
          <p:nvSpPr>
            <p:cNvPr id="137" name="Google Shape;137;p16"/>
            <p:cNvSpPr/>
            <p:nvPr/>
          </p:nvSpPr>
          <p:spPr>
            <a:xfrm>
              <a:off x="0" y="0"/>
              <a:ext cx="4191000" cy="1333500"/>
            </a:xfrm>
            <a:prstGeom prst="roundRect">
              <a:avLst>
                <a:gd fmla="val 5714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0"/>
              <a:ext cx="57300" cy="1333500"/>
            </a:xfrm>
            <a:prstGeom prst="roundRect">
              <a:avLst>
                <a:gd fmla="val 50000" name="adj"/>
              </a:avLst>
            </a:pr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228600" y="190500"/>
              <a:ext cx="3733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Solution: Explicit Type Conversion</a:t>
              </a:r>
              <a:endParaRPr b="1" sz="1203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203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To perform actual math calculations, the string output from </a:t>
              </a:r>
              <a:r>
                <a:rPr b="0" lang="en" sz="1203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input()</a:t>
              </a:r>
              <a:r>
                <a:rPr b="0" lang="en" sz="1203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must be explicitly converted using functions like </a:t>
              </a:r>
              <a:r>
                <a:rPr b="0" lang="en" sz="1203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int()</a:t>
              </a:r>
              <a:r>
                <a:rPr b="0" lang="en" sz="1203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0" lang="en" sz="1203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float()</a:t>
              </a:r>
              <a:r>
                <a:rPr b="0" lang="en" sz="1203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3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0" name="Google Shape;140;p16"/>
          <p:cNvSpPr txBox="1"/>
          <p:nvPr/>
        </p:nvSpPr>
        <p:spPr>
          <a:xfrm>
            <a:off x="4953000" y="266700"/>
            <a:ext cx="34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lang="en" sz="736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lang="en" sz="736">
                <a:solidFill>
                  <a:srgbClr val="ADB5BD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lang="en" sz="736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sz="736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0" y="752475"/>
            <a:ext cx="9144000" cy="28500"/>
            <a:chOff x="0" y="-9525"/>
            <a:chExt cx="9144000" cy="285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91440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381000" y="-9525"/>
              <a:ext cx="571500" cy="28500"/>
            </a:xfrm>
            <a:prstGeom prst="rect">
              <a:avLst/>
            </a:pr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8553450" y="285750"/>
            <a:ext cx="190500" cy="190500"/>
            <a:chOff x="19050" y="19050"/>
            <a:chExt cx="190500" cy="190500"/>
          </a:xfrm>
        </p:grpSpPr>
        <p:sp>
          <p:nvSpPr>
            <p:cNvPr id="150" name="Google Shape;150;p17"/>
            <p:cNvSpPr/>
            <p:nvPr/>
          </p:nvSpPr>
          <p:spPr>
            <a:xfrm>
              <a:off x="19050" y="190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cubicBezTo>
                    <a:pt x="0" y="93120"/>
                    <a:pt x="26880" y="120000"/>
                    <a:pt x="60000" y="120000"/>
                  </a:cubicBezTo>
                  <a:cubicBezTo>
                    <a:pt x="93120" y="120000"/>
                    <a:pt x="120000" y="93120"/>
                    <a:pt x="120000" y="60000"/>
                  </a:cubicBezTo>
                  <a:cubicBezTo>
                    <a:pt x="120000" y="26880"/>
                    <a:pt x="93120" y="0"/>
                    <a:pt x="60000" y="0"/>
                  </a:cubicBezTo>
                  <a:close/>
                  <a:moveTo>
                    <a:pt x="60000" y="12000"/>
                  </a:moveTo>
                  <a:cubicBezTo>
                    <a:pt x="86460" y="12000"/>
                    <a:pt x="108000" y="33540"/>
                    <a:pt x="108000" y="60000"/>
                  </a:cubicBezTo>
                  <a:cubicBezTo>
                    <a:pt x="108000" y="86460"/>
                    <a:pt x="86460" y="108000"/>
                    <a:pt x="60000" y="108000"/>
                  </a:cubicBezTo>
                  <a:cubicBezTo>
                    <a:pt x="33540" y="108000"/>
                    <a:pt x="12000" y="86460"/>
                    <a:pt x="12000" y="60000"/>
                  </a:cubicBezTo>
                  <a:cubicBezTo>
                    <a:pt x="12000" y="33540"/>
                    <a:pt x="33540" y="12000"/>
                    <a:pt x="60000" y="12000"/>
                  </a:cubicBezTo>
                  <a:close/>
                </a:path>
              </a:pathLst>
            </a:cu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66675" y="66675"/>
              <a:ext cx="38100" cy="381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123825" y="123825"/>
              <a:ext cx="38100" cy="38100"/>
            </a:xfrm>
            <a:prstGeom prst="ellipse">
              <a:avLst/>
            </a:prstGeom>
            <a:solidFill>
              <a:srgbClr val="FFD4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17"/>
          <p:cNvSpPr txBox="1"/>
          <p:nvPr/>
        </p:nvSpPr>
        <p:spPr>
          <a:xfrm>
            <a:off x="381000" y="190500"/>
            <a:ext cx="4572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28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Casting input() Numerical Data Types</a:t>
            </a:r>
            <a:endParaRPr b="1" i="0" sz="1428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774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To perform calculations, you must cast the string returned by input() into a numerical data type using Python's built-in conversion functions.</a:t>
            </a:r>
            <a:endParaRPr b="0" i="0" sz="774" u="none" strike="noStrike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4" name="Google Shape;154;p17"/>
          <p:cNvGrpSpPr/>
          <p:nvPr/>
        </p:nvGrpSpPr>
        <p:grpSpPr>
          <a:xfrm>
            <a:off x="381000" y="952500"/>
            <a:ext cx="4048200" cy="2857500"/>
            <a:chOff x="0" y="0"/>
            <a:chExt cx="4048200" cy="2857500"/>
          </a:xfrm>
        </p:grpSpPr>
        <p:sp>
          <p:nvSpPr>
            <p:cNvPr id="155" name="Google Shape;155;p17"/>
            <p:cNvSpPr/>
            <p:nvPr/>
          </p:nvSpPr>
          <p:spPr>
            <a:xfrm>
              <a:off x="0" y="0"/>
              <a:ext cx="4048200" cy="2857500"/>
            </a:xfrm>
            <a:prstGeom prst="roundRect">
              <a:avLst>
                <a:gd fmla="val 2666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190500" y="190500"/>
              <a:ext cx="3667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int()</a:t>
              </a:r>
              <a:endParaRPr b="1" sz="15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Converts the string into an integer, which is a whole number.</a:t>
              </a:r>
              <a:endParaRPr b="0" sz="13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7" name="Google Shape;157;p17"/>
            <p:cNvGrpSpPr/>
            <p:nvPr/>
          </p:nvGrpSpPr>
          <p:grpSpPr>
            <a:xfrm>
              <a:off x="190500" y="1238250"/>
              <a:ext cx="3667200" cy="1381200"/>
              <a:chOff x="0" y="0"/>
              <a:chExt cx="3667200" cy="1381200"/>
            </a:xfrm>
          </p:grpSpPr>
          <p:sp>
            <p:nvSpPr>
              <p:cNvPr id="158" name="Google Shape;158;p17"/>
              <p:cNvSpPr/>
              <p:nvPr/>
            </p:nvSpPr>
            <p:spPr>
              <a:xfrm>
                <a:off x="0" y="0"/>
                <a:ext cx="3667200" cy="1381200"/>
              </a:xfrm>
              <a:prstGeom prst="roundRect">
                <a:avLst>
                  <a:gd fmla="val 4137" name="adj"/>
                </a:avLst>
              </a:prstGeom>
              <a:solidFill>
                <a:srgbClr val="F1F3F5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266700" y="114300"/>
                <a:ext cx="76200" cy="76200"/>
              </a:xfrm>
              <a:prstGeom prst="ellipse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419100" y="114300"/>
                <a:ext cx="76200" cy="76200"/>
              </a:xfrm>
              <a:prstGeom prst="ellipse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0" y="304800"/>
                <a:ext cx="3667200" cy="96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52400" y="428625"/>
                <a:ext cx="3362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rPr>
                  <a:t>Example</a:t>
                </a:r>
                <a:endParaRPr b="1" sz="10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3776A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age = int(input("Enter age: "))</a:t>
                </a:r>
                <a:endParaRPr b="0" sz="12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164" name="Google Shape;164;p17"/>
          <p:cNvGrpSpPr/>
          <p:nvPr/>
        </p:nvGrpSpPr>
        <p:grpSpPr>
          <a:xfrm>
            <a:off x="4714875" y="952500"/>
            <a:ext cx="4048200" cy="2857500"/>
            <a:chOff x="0" y="0"/>
            <a:chExt cx="4048200" cy="2857500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0"/>
              <a:ext cx="4048200" cy="2857500"/>
            </a:xfrm>
            <a:prstGeom prst="roundRect">
              <a:avLst>
                <a:gd fmla="val 2666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190500" y="190500"/>
              <a:ext cx="3667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float()</a:t>
              </a:r>
              <a:endParaRPr b="1" sz="15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Converts the string into a floating-point number, which allows for decimals.</a:t>
              </a:r>
              <a:endParaRPr b="0" sz="13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7" name="Google Shape;167;p17"/>
            <p:cNvGrpSpPr/>
            <p:nvPr/>
          </p:nvGrpSpPr>
          <p:grpSpPr>
            <a:xfrm>
              <a:off x="190500" y="1238250"/>
              <a:ext cx="3667200" cy="1381200"/>
              <a:chOff x="0" y="0"/>
              <a:chExt cx="3667200" cy="1381200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0" y="0"/>
                <a:ext cx="3667200" cy="1381200"/>
              </a:xfrm>
              <a:prstGeom prst="roundRect">
                <a:avLst>
                  <a:gd fmla="val 4137" name="adj"/>
                </a:avLst>
              </a:prstGeom>
              <a:solidFill>
                <a:srgbClr val="F1F3F5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114300" y="114300"/>
                <a:ext cx="76200" cy="76200"/>
              </a:xfrm>
              <a:prstGeom prst="ellipse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266700" y="114300"/>
                <a:ext cx="76200" cy="76200"/>
              </a:xfrm>
              <a:prstGeom prst="ellipse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7"/>
              <p:cNvSpPr/>
              <p:nvPr/>
            </p:nvSpPr>
            <p:spPr>
              <a:xfrm>
                <a:off x="419100" y="114300"/>
                <a:ext cx="76200" cy="76200"/>
              </a:xfrm>
              <a:prstGeom prst="ellipse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7"/>
              <p:cNvSpPr/>
              <p:nvPr/>
            </p:nvSpPr>
            <p:spPr>
              <a:xfrm>
                <a:off x="0" y="304800"/>
                <a:ext cx="3667200" cy="96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152400" y="428625"/>
                <a:ext cx="3362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rPr>
                  <a:t>Example</a:t>
                </a:r>
                <a:endParaRPr b="1" sz="1000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3776A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price = float(input("Enter price: "))</a:t>
                </a:r>
                <a:endParaRPr b="0" sz="12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</p:grpSp>
      <p:grpSp>
        <p:nvGrpSpPr>
          <p:cNvPr id="174" name="Google Shape;174;p17"/>
          <p:cNvGrpSpPr/>
          <p:nvPr/>
        </p:nvGrpSpPr>
        <p:grpSpPr>
          <a:xfrm>
            <a:off x="381000" y="4000500"/>
            <a:ext cx="8382000" cy="809700"/>
            <a:chOff x="0" y="0"/>
            <a:chExt cx="8382000" cy="809700"/>
          </a:xfrm>
        </p:grpSpPr>
        <p:sp>
          <p:nvSpPr>
            <p:cNvPr id="175" name="Google Shape;175;p17"/>
            <p:cNvSpPr/>
            <p:nvPr/>
          </p:nvSpPr>
          <p:spPr>
            <a:xfrm>
              <a:off x="0" y="0"/>
              <a:ext cx="8382000" cy="809700"/>
            </a:xfrm>
            <a:prstGeom prst="roundRect">
              <a:avLst>
                <a:gd fmla="val 7058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0" y="0"/>
              <a:ext cx="57300" cy="809700"/>
            </a:xfrm>
            <a:prstGeom prst="roundRect">
              <a:avLst>
                <a:gd fmla="val 50000" name="adj"/>
              </a:avLst>
            </a:prstGeom>
            <a:solidFill>
              <a:srgbClr val="FFD4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238125" y="171450"/>
              <a:ext cx="790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Best Practice</a:t>
              </a:r>
              <a:endParaRPr b="1" sz="85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5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Nesting the input() function inside the conversion function is the standard practice for writing clean, efficient code.</a:t>
              </a:r>
              <a:endParaRPr b="0" sz="1105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8" name="Google Shape;178;p17"/>
          <p:cNvSpPr txBox="1"/>
          <p:nvPr/>
        </p:nvSpPr>
        <p:spPr>
          <a:xfrm>
            <a:off x="4953000" y="266700"/>
            <a:ext cx="34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lang="en" sz="736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lang="en" sz="736">
                <a:solidFill>
                  <a:srgbClr val="ADB5BD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lang="en" sz="736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sz="736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4" name="Google Shape;184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5" name="Google Shape;185;p18"/>
            <p:cNvGrpSpPr/>
            <p:nvPr/>
          </p:nvGrpSpPr>
          <p:grpSpPr>
            <a:xfrm>
              <a:off x="0" y="752475"/>
              <a:ext cx="9144000" cy="28500"/>
              <a:chOff x="0" y="-9525"/>
              <a:chExt cx="9144000" cy="28500"/>
            </a:xfrm>
          </p:grpSpPr>
          <p:sp>
            <p:nvSpPr>
              <p:cNvPr id="186" name="Google Shape;186;p18"/>
              <p:cNvSpPr/>
              <p:nvPr/>
            </p:nvSpPr>
            <p:spPr>
              <a:xfrm>
                <a:off x="0" y="0"/>
                <a:ext cx="9144000" cy="96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8"/>
              <p:cNvSpPr/>
              <p:nvPr/>
            </p:nvSpPr>
            <p:spPr>
              <a:xfrm>
                <a:off x="381000" y="-9525"/>
                <a:ext cx="571500" cy="28500"/>
              </a:xfrm>
              <a:prstGeom prst="rect">
                <a:avLst/>
              </a:pr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p18"/>
            <p:cNvGrpSpPr/>
            <p:nvPr/>
          </p:nvGrpSpPr>
          <p:grpSpPr>
            <a:xfrm>
              <a:off x="8553450" y="285750"/>
              <a:ext cx="190500" cy="190500"/>
              <a:chOff x="19050" y="19050"/>
              <a:chExt cx="190500" cy="190500"/>
            </a:xfrm>
          </p:grpSpPr>
          <p:sp>
            <p:nvSpPr>
              <p:cNvPr id="189" name="Google Shape;189;p18"/>
              <p:cNvSpPr/>
              <p:nvPr/>
            </p:nvSpPr>
            <p:spPr>
              <a:xfrm>
                <a:off x="19050" y="19050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6880" y="0"/>
                      <a:pt x="0" y="26880"/>
                      <a:pt x="0" y="60000"/>
                    </a:cubicBezTo>
                    <a:cubicBezTo>
                      <a:pt x="0" y="93120"/>
                      <a:pt x="26880" y="120000"/>
                      <a:pt x="60000" y="120000"/>
                    </a:cubicBezTo>
                    <a:cubicBezTo>
                      <a:pt x="93120" y="120000"/>
                      <a:pt x="120000" y="93120"/>
                      <a:pt x="120000" y="60000"/>
                    </a:cubicBezTo>
                    <a:cubicBezTo>
                      <a:pt x="120000" y="26880"/>
                      <a:pt x="93120" y="0"/>
                      <a:pt x="60000" y="0"/>
                    </a:cubicBezTo>
                    <a:close/>
                    <a:moveTo>
                      <a:pt x="60000" y="12000"/>
                    </a:moveTo>
                    <a:cubicBezTo>
                      <a:pt x="86460" y="12000"/>
                      <a:pt x="108000" y="33540"/>
                      <a:pt x="108000" y="60000"/>
                    </a:cubicBezTo>
                    <a:cubicBezTo>
                      <a:pt x="108000" y="86460"/>
                      <a:pt x="86460" y="108000"/>
                      <a:pt x="60000" y="108000"/>
                    </a:cubicBezTo>
                    <a:cubicBezTo>
                      <a:pt x="33540" y="108000"/>
                      <a:pt x="12000" y="86460"/>
                      <a:pt x="12000" y="60000"/>
                    </a:cubicBezTo>
                    <a:cubicBezTo>
                      <a:pt x="12000" y="33540"/>
                      <a:pt x="33540" y="12000"/>
                      <a:pt x="60000" y="12000"/>
                    </a:cubicBezTo>
                    <a:close/>
                  </a:path>
                </a:pathLst>
              </a:cu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8"/>
              <p:cNvSpPr/>
              <p:nvPr/>
            </p:nvSpPr>
            <p:spPr>
              <a:xfrm>
                <a:off x="66675" y="6667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8"/>
              <p:cNvSpPr/>
              <p:nvPr/>
            </p:nvSpPr>
            <p:spPr>
              <a:xfrm>
                <a:off x="123825" y="12382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2" name="Google Shape;192;p18"/>
          <p:cNvSpPr txBox="1"/>
          <p:nvPr/>
        </p:nvSpPr>
        <p:spPr>
          <a:xfrm>
            <a:off x="381000" y="190500"/>
            <a:ext cx="4572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10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Building a Functional Calculator</a:t>
            </a:r>
            <a:endParaRPr b="1" i="0" sz="221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3" name="Google Shape;193;p18"/>
          <p:cNvGrpSpPr/>
          <p:nvPr/>
        </p:nvGrpSpPr>
        <p:grpSpPr>
          <a:xfrm>
            <a:off x="381000" y="1095375"/>
            <a:ext cx="2476500" cy="1524000"/>
            <a:chOff x="0" y="0"/>
            <a:chExt cx="2476500" cy="1524000"/>
          </a:xfrm>
        </p:grpSpPr>
        <p:sp>
          <p:nvSpPr>
            <p:cNvPr id="194" name="Google Shape;194;p18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42875" y="142875"/>
              <a:ext cx="2190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  <a:endParaRPr b="1" sz="14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Prompt the user for the first number and convert it to a float.</a:t>
              </a:r>
              <a:endParaRPr b="0" sz="14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3333750" y="1095375"/>
            <a:ext cx="2476500" cy="1524000"/>
            <a:chOff x="0" y="0"/>
            <a:chExt cx="2476500" cy="1524000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42875" y="142875"/>
              <a:ext cx="2190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  <a:endParaRPr b="1" sz="14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Prompt the user to select a mathematical operator (</a:t>
              </a:r>
              <a:r>
                <a:rPr b="0" lang="en" sz="12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+, -, *, /</a:t>
              </a: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4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6286500" y="1095375"/>
            <a:ext cx="2476500" cy="1524000"/>
            <a:chOff x="0" y="0"/>
            <a:chExt cx="2476500" cy="1524000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142875" y="142875"/>
              <a:ext cx="2190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  <a:endParaRPr b="1" sz="14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Prompt the user for the second number and convert it to a float.</a:t>
              </a:r>
              <a:endParaRPr b="0" sz="14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381000" y="3048000"/>
            <a:ext cx="3905400" cy="1619100"/>
            <a:chOff x="0" y="0"/>
            <a:chExt cx="3905400" cy="1619100"/>
          </a:xfrm>
        </p:grpSpPr>
        <p:sp>
          <p:nvSpPr>
            <p:cNvPr id="203" name="Google Shape;203;p18"/>
            <p:cNvSpPr/>
            <p:nvPr/>
          </p:nvSpPr>
          <p:spPr>
            <a:xfrm>
              <a:off x="0" y="0"/>
              <a:ext cx="3905400" cy="1619100"/>
            </a:xfrm>
            <a:prstGeom prst="roundRect">
              <a:avLst>
                <a:gd fmla="val 3529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190500" y="171450"/>
              <a:ext cx="35244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  <a:endParaRPr b="1" sz="14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Use </a:t>
              </a:r>
              <a:r>
                <a:rPr b="0" lang="en" sz="12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if/elif</a:t>
              </a: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 statements to evaluate the operator string and perform the corresponding mathematical calculation.</a:t>
              </a:r>
              <a:endParaRPr b="0" sz="14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4857750" y="3048000"/>
            <a:ext cx="3905400" cy="1619100"/>
            <a:chOff x="0" y="0"/>
            <a:chExt cx="3905400" cy="1619100"/>
          </a:xfrm>
        </p:grpSpPr>
        <p:sp>
          <p:nvSpPr>
            <p:cNvPr id="206" name="Google Shape;206;p18"/>
            <p:cNvSpPr/>
            <p:nvPr/>
          </p:nvSpPr>
          <p:spPr>
            <a:xfrm>
              <a:off x="0" y="0"/>
              <a:ext cx="3905400" cy="1619100"/>
            </a:xfrm>
            <a:prstGeom prst="roundRect">
              <a:avLst>
                <a:gd fmla="val 3529" name="adj"/>
              </a:avLst>
            </a:prstGeom>
            <a:solidFill>
              <a:srgbClr val="F8F9FA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190500" y="171450"/>
              <a:ext cx="3524400" cy="12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Step 5</a:t>
              </a:r>
              <a:endParaRPr b="1" sz="14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rPr>
                <a:t>Print the final formatted result to the console.</a:t>
              </a:r>
              <a:endParaRPr b="0" sz="1400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8" name="Google Shape;208;p18"/>
          <p:cNvSpPr txBox="1"/>
          <p:nvPr/>
        </p:nvSpPr>
        <p:spPr>
          <a:xfrm>
            <a:off x="4953000" y="266700"/>
            <a:ext cx="34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lang="en" sz="736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lang="en" sz="736">
                <a:solidFill>
                  <a:srgbClr val="ADB5BD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lang="en" sz="736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sz="736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4" name="Google Shape;214;p19"/>
            <p:cNvSpPr/>
            <p:nvPr/>
          </p:nvSpPr>
          <p:spPr>
            <a:xfrm>
              <a:off x="0" y="0"/>
              <a:ext cx="4572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4572000" y="0"/>
              <a:ext cx="4572000" cy="51435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6" name="Google Shape;216;p19"/>
            <p:cNvGrpSpPr/>
            <p:nvPr/>
          </p:nvGrpSpPr>
          <p:grpSpPr>
            <a:xfrm>
              <a:off x="0" y="657225"/>
              <a:ext cx="9144000" cy="28500"/>
              <a:chOff x="0" y="-9525"/>
              <a:chExt cx="9144000" cy="28500"/>
            </a:xfrm>
          </p:grpSpPr>
          <p:sp>
            <p:nvSpPr>
              <p:cNvPr id="217" name="Google Shape;217;p19"/>
              <p:cNvSpPr/>
              <p:nvPr/>
            </p:nvSpPr>
            <p:spPr>
              <a:xfrm>
                <a:off x="0" y="0"/>
                <a:ext cx="9144000" cy="9600"/>
              </a:xfrm>
              <a:prstGeom prst="rect">
                <a:avLst/>
              </a:prstGeom>
              <a:solidFill>
                <a:srgbClr val="DEE2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9"/>
              <p:cNvSpPr/>
              <p:nvPr/>
            </p:nvSpPr>
            <p:spPr>
              <a:xfrm>
                <a:off x="381000" y="-9525"/>
                <a:ext cx="571500" cy="28500"/>
              </a:xfrm>
              <a:prstGeom prst="rect">
                <a:avLst/>
              </a:pr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9"/>
            <p:cNvGrpSpPr/>
            <p:nvPr/>
          </p:nvGrpSpPr>
          <p:grpSpPr>
            <a:xfrm>
              <a:off x="8553450" y="247650"/>
              <a:ext cx="190500" cy="190500"/>
              <a:chOff x="19050" y="19050"/>
              <a:chExt cx="190500" cy="190500"/>
            </a:xfrm>
          </p:grpSpPr>
          <p:sp>
            <p:nvSpPr>
              <p:cNvPr id="220" name="Google Shape;220;p19"/>
              <p:cNvSpPr/>
              <p:nvPr/>
            </p:nvSpPr>
            <p:spPr>
              <a:xfrm>
                <a:off x="19050" y="19050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6880" y="0"/>
                      <a:pt x="0" y="26880"/>
                      <a:pt x="0" y="60000"/>
                    </a:cubicBezTo>
                    <a:cubicBezTo>
                      <a:pt x="0" y="93120"/>
                      <a:pt x="26880" y="120000"/>
                      <a:pt x="60000" y="120000"/>
                    </a:cubicBezTo>
                    <a:cubicBezTo>
                      <a:pt x="93120" y="120000"/>
                      <a:pt x="120000" y="93120"/>
                      <a:pt x="120000" y="60000"/>
                    </a:cubicBezTo>
                    <a:cubicBezTo>
                      <a:pt x="120000" y="26880"/>
                      <a:pt x="93120" y="0"/>
                      <a:pt x="60000" y="0"/>
                    </a:cubicBezTo>
                    <a:close/>
                    <a:moveTo>
                      <a:pt x="60000" y="12000"/>
                    </a:moveTo>
                    <a:cubicBezTo>
                      <a:pt x="86460" y="12000"/>
                      <a:pt x="108000" y="33540"/>
                      <a:pt x="108000" y="60000"/>
                    </a:cubicBezTo>
                    <a:cubicBezTo>
                      <a:pt x="108000" y="86460"/>
                      <a:pt x="86460" y="108000"/>
                      <a:pt x="60000" y="108000"/>
                    </a:cubicBezTo>
                    <a:cubicBezTo>
                      <a:pt x="33540" y="108000"/>
                      <a:pt x="12000" y="86460"/>
                      <a:pt x="12000" y="60000"/>
                    </a:cubicBezTo>
                    <a:cubicBezTo>
                      <a:pt x="12000" y="33540"/>
                      <a:pt x="33540" y="12000"/>
                      <a:pt x="60000" y="12000"/>
                    </a:cubicBezTo>
                    <a:close/>
                  </a:path>
                </a:pathLst>
              </a:cu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>
                <a:off x="66675" y="6667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123825" y="12382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3" name="Google Shape;223;p19"/>
          <p:cNvSpPr txBox="1"/>
          <p:nvPr/>
        </p:nvSpPr>
        <p:spPr>
          <a:xfrm>
            <a:off x="381000" y="171450"/>
            <a:ext cx="4143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Basic Calculator Logic</a:t>
            </a:r>
            <a:endParaRPr b="1" i="0" sz="2400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4" name="Google Shape;224;p19"/>
          <p:cNvGrpSpPr/>
          <p:nvPr/>
        </p:nvGrpSpPr>
        <p:grpSpPr>
          <a:xfrm>
            <a:off x="381000" y="904875"/>
            <a:ext cx="3905400" cy="3905400"/>
            <a:chOff x="0" y="0"/>
            <a:chExt cx="3905400" cy="3905400"/>
          </a:xfrm>
        </p:grpSpPr>
        <p:sp>
          <p:nvSpPr>
            <p:cNvPr id="225" name="Google Shape;225;p19"/>
            <p:cNvSpPr/>
            <p:nvPr/>
          </p:nvSpPr>
          <p:spPr>
            <a:xfrm>
              <a:off x="0" y="0"/>
              <a:ext cx="3905400" cy="3905400"/>
            </a:xfrm>
            <a:prstGeom prst="roundRect">
              <a:avLst>
                <a:gd fmla="val 1951" name="adj"/>
              </a:avLst>
            </a:prstGeom>
            <a:solidFill>
              <a:srgbClr val="F1F3F5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133350" y="133350"/>
              <a:ext cx="76200" cy="762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266700" y="133350"/>
              <a:ext cx="76200" cy="76200"/>
            </a:xfrm>
            <a:prstGeom prst="ellipse">
              <a:avLst/>
            </a:prstGeom>
            <a:solidFill>
              <a:srgbClr val="FCC4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400050" y="133350"/>
              <a:ext cx="76200" cy="76200"/>
            </a:xfrm>
            <a:prstGeom prst="ellipse">
              <a:avLst/>
            </a:prstGeom>
            <a:solidFill>
              <a:srgbClr val="51CF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0" y="323850"/>
              <a:ext cx="39054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952500" y="76200"/>
              <a:ext cx="2000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68E96"/>
                  </a:solidFill>
                  <a:latin typeface="Inter"/>
                  <a:ea typeface="Inter"/>
                  <a:cs typeface="Inter"/>
                  <a:sym typeface="Inter"/>
                </a:rPr>
                <a:t>calculator.py</a:t>
              </a:r>
              <a:endParaRPr b="1" sz="1000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190500" y="457200"/>
              <a:ext cx="3524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68E9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Dynamic user input parsing</a:t>
              </a:r>
              <a:endParaRPr i="1" sz="1000">
                <a:solidFill>
                  <a:srgbClr val="868E9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num1 = </a:t>
              </a: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float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(input(</a:t>
              </a:r>
              <a:r>
                <a:rPr b="0" lang="en" sz="11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"Enter first number: "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))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op = input(</a:t>
              </a:r>
              <a:r>
                <a:rPr b="0" lang="en" sz="11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"Enter operator (+, -, *, /): "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num2 = </a:t>
              </a: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float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(input(</a:t>
              </a:r>
              <a:r>
                <a:rPr b="0" lang="en" sz="11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"Enter second number: "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))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68E9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Conditional operator evaluation</a:t>
              </a:r>
              <a:endParaRPr i="1" sz="1000">
                <a:solidFill>
                  <a:srgbClr val="868E9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op == </a:t>
              </a:r>
              <a:r>
                <a:rPr b="0" lang="en" sz="11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'+'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print(num1 + num2)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elif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op == </a:t>
              </a:r>
              <a:r>
                <a:rPr b="0" lang="en" sz="11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'-'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print(num1 - num2)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elif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op == </a:t>
              </a:r>
              <a:r>
                <a:rPr b="0" lang="en" sz="1100">
                  <a:solidFill>
                    <a:srgbClr val="2B8A3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'/'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905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868E9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Safeguard against zero division</a:t>
              </a:r>
              <a:endParaRPr i="1" sz="1000">
                <a:solidFill>
                  <a:srgbClr val="868E96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9050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num2 != </a:t>
              </a:r>
              <a:r>
                <a:rPr b="1" lang="en" sz="1100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</a:t>
              </a: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381000" marR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21252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print(num1 / num2)</a:t>
              </a:r>
              <a:endParaRPr b="0" sz="1100">
                <a:solidFill>
                  <a:srgbClr val="21252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4857750" y="904875"/>
            <a:ext cx="3905400" cy="3905250"/>
            <a:chOff x="0" y="0"/>
            <a:chExt cx="3905400" cy="3905250"/>
          </a:xfrm>
        </p:grpSpPr>
        <p:grpSp>
          <p:nvGrpSpPr>
            <p:cNvPr id="233" name="Google Shape;233;p19"/>
            <p:cNvGrpSpPr/>
            <p:nvPr/>
          </p:nvGrpSpPr>
          <p:grpSpPr>
            <a:xfrm>
              <a:off x="0" y="0"/>
              <a:ext cx="3905400" cy="1714500"/>
              <a:chOff x="0" y="0"/>
              <a:chExt cx="3905400" cy="1714500"/>
            </a:xfrm>
          </p:grpSpPr>
          <p:sp>
            <p:nvSpPr>
              <p:cNvPr id="234" name="Google Shape;234;p19"/>
              <p:cNvSpPr/>
              <p:nvPr/>
            </p:nvSpPr>
            <p:spPr>
              <a:xfrm>
                <a:off x="0" y="0"/>
                <a:ext cx="3905400" cy="1714500"/>
              </a:xfrm>
              <a:prstGeom prst="roundRect">
                <a:avLst>
                  <a:gd fmla="val 4444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9"/>
              <p:cNvSpPr txBox="1"/>
              <p:nvPr/>
            </p:nvSpPr>
            <p:spPr>
              <a:xfrm>
                <a:off x="190500" y="152400"/>
                <a:ext cx="3524400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3776AB"/>
                    </a:solidFill>
                    <a:latin typeface="Inter"/>
                    <a:ea typeface="Inter"/>
                    <a:cs typeface="Inter"/>
                    <a:sym typeface="Inter"/>
                  </a:rPr>
                  <a:t>Operator Evaluation</a:t>
                </a:r>
                <a:endParaRPr b="1" sz="14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• Inputs are explicitly cast to </a:t>
                </a:r>
                <a:r>
                  <a:rPr b="0" lang="en" sz="1100">
                    <a:solidFill>
                      <a:srgbClr val="3776A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float</a:t>
                </a: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to enable decimal arithmetic.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• Conditional branching (</a:t>
                </a:r>
                <a:r>
                  <a:rPr b="0" lang="en" sz="1100">
                    <a:solidFill>
                      <a:srgbClr val="3776A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if / elif</a:t>
                </a: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) matches the user's requested operation string against supported operators.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6" name="Google Shape;236;p19"/>
            <p:cNvGrpSpPr/>
            <p:nvPr/>
          </p:nvGrpSpPr>
          <p:grpSpPr>
            <a:xfrm>
              <a:off x="0" y="1866900"/>
              <a:ext cx="3905400" cy="1095300"/>
              <a:chOff x="0" y="0"/>
              <a:chExt cx="3905400" cy="1095300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0" y="0"/>
                <a:ext cx="3905400" cy="1095300"/>
              </a:xfrm>
              <a:prstGeom prst="roundRect">
                <a:avLst>
                  <a:gd fmla="val 5217" name="adj"/>
                </a:avLst>
              </a:prstGeom>
              <a:solidFill>
                <a:srgbClr val="FFF5F5"/>
              </a:solidFill>
              <a:ln cap="flat" cmpd="sng" w="9525">
                <a:solidFill>
                  <a:srgbClr val="FFC9C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0" y="0"/>
                <a:ext cx="57300" cy="1095300"/>
              </a:xfrm>
              <a:prstGeom prst="roundRect">
                <a:avLst>
                  <a:gd fmla="val 50000" name="adj"/>
                </a:avLst>
              </a:prstGeom>
              <a:solidFill>
                <a:srgbClr val="E0313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9"/>
              <p:cNvSpPr txBox="1"/>
              <p:nvPr/>
            </p:nvSpPr>
            <p:spPr>
              <a:xfrm>
                <a:off x="190500" y="133350"/>
                <a:ext cx="3524400" cy="8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E03131"/>
                    </a:solidFill>
                    <a:latin typeface="Inter"/>
                    <a:ea typeface="Inter"/>
                    <a:cs typeface="Inter"/>
                    <a:sym typeface="Inter"/>
                  </a:rPr>
                  <a:t>ZeroDivisionError Safety</a:t>
                </a:r>
                <a:endParaRPr b="1" sz="1300">
                  <a:solidFill>
                    <a:srgbClr val="E0313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When handling division (</a:t>
                </a:r>
                <a:r>
                  <a:rPr b="0" lang="en" sz="1050">
                    <a:solidFill>
                      <a:srgbClr val="E0313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'/'</a:t>
                </a:r>
                <a:r>
                  <a:rPr b="0" lang="en" sz="12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), verify that </a:t>
                </a:r>
                <a:r>
                  <a:rPr b="0" lang="en" sz="1050">
                    <a:solidFill>
                      <a:srgbClr val="E0313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num2</a:t>
                </a:r>
                <a:r>
                  <a:rPr b="0" lang="en" sz="12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 is not zero prior to division to prevent runtime crashes.</a:t>
                </a:r>
                <a:endParaRPr b="0" sz="12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0" name="Google Shape;240;p19"/>
            <p:cNvGrpSpPr/>
            <p:nvPr/>
          </p:nvGrpSpPr>
          <p:grpSpPr>
            <a:xfrm>
              <a:off x="0" y="3105150"/>
              <a:ext cx="3905400" cy="800100"/>
              <a:chOff x="0" y="0"/>
              <a:chExt cx="3905400" cy="800100"/>
            </a:xfrm>
          </p:grpSpPr>
          <p:sp>
            <p:nvSpPr>
              <p:cNvPr id="241" name="Google Shape;241;p19"/>
              <p:cNvSpPr/>
              <p:nvPr/>
            </p:nvSpPr>
            <p:spPr>
              <a:xfrm>
                <a:off x="0" y="0"/>
                <a:ext cx="3905400" cy="800100"/>
              </a:xfrm>
              <a:prstGeom prst="roundRect">
                <a:avLst>
                  <a:gd fmla="val 71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9"/>
              <p:cNvSpPr/>
              <p:nvPr/>
            </p:nvSpPr>
            <p:spPr>
              <a:xfrm>
                <a:off x="0" y="0"/>
                <a:ext cx="38100" cy="800100"/>
              </a:xfrm>
              <a:prstGeom prst="roundRect">
                <a:avLst>
                  <a:gd fmla="val 50000" name="adj"/>
                </a:avLst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9"/>
              <p:cNvSpPr txBox="1"/>
              <p:nvPr/>
            </p:nvSpPr>
            <p:spPr>
              <a:xfrm>
                <a:off x="190500" y="133350"/>
                <a:ext cx="35244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3">
                    <a:solidFill>
                      <a:srgbClr val="49505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This structure securely handles floating-point math based entirely on dynamic user input.</a:t>
                </a:r>
                <a:endParaRPr b="0" sz="1203">
                  <a:solidFill>
                    <a:srgbClr val="49505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sp>
        <p:nvSpPr>
          <p:cNvPr id="244" name="Google Shape;244;p19"/>
          <p:cNvSpPr txBox="1"/>
          <p:nvPr/>
        </p:nvSpPr>
        <p:spPr>
          <a:xfrm>
            <a:off x="4619625" y="266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lang="en" sz="736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lang="en" sz="736">
                <a:solidFill>
                  <a:srgbClr val="ADB5BD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lang="en" sz="736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sz="736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0" name="Google Shape;250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1F3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20"/>
            <p:cNvGrpSpPr/>
            <p:nvPr/>
          </p:nvGrpSpPr>
          <p:grpSpPr>
            <a:xfrm>
              <a:off x="400050" y="400050"/>
              <a:ext cx="190500" cy="190500"/>
              <a:chOff x="19050" y="19050"/>
              <a:chExt cx="190500" cy="190500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19050" y="19050"/>
                <a:ext cx="190500" cy="1905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26880" y="0"/>
                      <a:pt x="0" y="26880"/>
                      <a:pt x="0" y="60000"/>
                    </a:cubicBezTo>
                    <a:cubicBezTo>
                      <a:pt x="0" y="93120"/>
                      <a:pt x="26880" y="120000"/>
                      <a:pt x="60000" y="120000"/>
                    </a:cubicBezTo>
                    <a:cubicBezTo>
                      <a:pt x="93120" y="120000"/>
                      <a:pt x="120000" y="93120"/>
                      <a:pt x="120000" y="60000"/>
                    </a:cubicBezTo>
                    <a:cubicBezTo>
                      <a:pt x="120000" y="26880"/>
                      <a:pt x="93120" y="0"/>
                      <a:pt x="60000" y="0"/>
                    </a:cubicBezTo>
                    <a:close/>
                    <a:moveTo>
                      <a:pt x="60000" y="12000"/>
                    </a:moveTo>
                    <a:cubicBezTo>
                      <a:pt x="86460" y="12000"/>
                      <a:pt x="108000" y="33540"/>
                      <a:pt x="108000" y="60000"/>
                    </a:cubicBezTo>
                    <a:cubicBezTo>
                      <a:pt x="108000" y="86460"/>
                      <a:pt x="86460" y="108000"/>
                      <a:pt x="60000" y="108000"/>
                    </a:cubicBezTo>
                    <a:cubicBezTo>
                      <a:pt x="33540" y="108000"/>
                      <a:pt x="12000" y="86460"/>
                      <a:pt x="12000" y="60000"/>
                    </a:cubicBezTo>
                    <a:cubicBezTo>
                      <a:pt x="12000" y="33540"/>
                      <a:pt x="33540" y="12000"/>
                      <a:pt x="60000" y="12000"/>
                    </a:cubicBezTo>
                    <a:close/>
                  </a:path>
                </a:pathLst>
              </a:custGeom>
              <a:solidFill>
                <a:srgbClr val="3776A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66675" y="6667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0"/>
              <p:cNvSpPr/>
              <p:nvPr/>
            </p:nvSpPr>
            <p:spPr>
              <a:xfrm>
                <a:off x="123825" y="123825"/>
                <a:ext cx="38100" cy="38100"/>
              </a:xfrm>
              <a:prstGeom prst="ellipse">
                <a:avLst/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5" name="Google Shape;255;p20"/>
          <p:cNvSpPr txBox="1"/>
          <p:nvPr/>
        </p:nvSpPr>
        <p:spPr>
          <a:xfrm>
            <a:off x="762000" y="333375"/>
            <a:ext cx="4286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25" u="none" strike="noStrike">
                <a:solidFill>
                  <a:srgbClr val="212529"/>
                </a:solidFill>
                <a:latin typeface="Inter"/>
                <a:ea typeface="Inter"/>
                <a:cs typeface="Inter"/>
                <a:sym typeface="Inter"/>
              </a:rPr>
              <a:t>Continue Your Python Learning Journey</a:t>
            </a:r>
            <a:endParaRPr b="1" i="0" sz="1625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" sz="875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 for complete notes &amp; subscribe on YouTube @learnwithvarshhh for tutorials.</a:t>
            </a:r>
            <a:endParaRPr b="1" i="0" sz="1625" u="none" strike="noStrike">
              <a:solidFill>
                <a:srgbClr val="21252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6" name="Google Shape;256;p20"/>
          <p:cNvGrpSpPr/>
          <p:nvPr/>
        </p:nvGrpSpPr>
        <p:grpSpPr>
          <a:xfrm>
            <a:off x="381000" y="1238250"/>
            <a:ext cx="8382000" cy="857400"/>
            <a:chOff x="0" y="0"/>
            <a:chExt cx="8382000" cy="857400"/>
          </a:xfrm>
        </p:grpSpPr>
        <p:sp>
          <p:nvSpPr>
            <p:cNvPr id="257" name="Google Shape;257;p20"/>
            <p:cNvSpPr/>
            <p:nvPr/>
          </p:nvSpPr>
          <p:spPr>
            <a:xfrm>
              <a:off x="0" y="0"/>
              <a:ext cx="83820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0" y="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3776A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9" name="Google Shape;259;p20"/>
            <p:cNvGrpSpPr/>
            <p:nvPr/>
          </p:nvGrpSpPr>
          <p:grpSpPr>
            <a:xfrm>
              <a:off x="238125" y="238125"/>
              <a:ext cx="381000" cy="381000"/>
              <a:chOff x="0" y="0"/>
              <a:chExt cx="381000" cy="381000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1" name="Google Shape;261;p20"/>
              <p:cNvGrpSpPr/>
              <p:nvPr/>
            </p:nvGrpSpPr>
            <p:grpSpPr>
              <a:xfrm>
                <a:off x="95250" y="95250"/>
                <a:ext cx="190500" cy="190500"/>
                <a:chOff x="19050" y="19050"/>
                <a:chExt cx="190500" cy="190500"/>
              </a:xfrm>
            </p:grpSpPr>
            <p:sp>
              <p:nvSpPr>
                <p:cNvPr id="262" name="Google Shape;262;p20"/>
                <p:cNvSpPr/>
                <p:nvPr/>
              </p:nvSpPr>
              <p:spPr>
                <a:xfrm>
                  <a:off x="19050" y="19050"/>
                  <a:ext cx="190500" cy="1905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cubicBezTo>
                        <a:pt x="26880" y="0"/>
                        <a:pt x="0" y="26880"/>
                        <a:pt x="0" y="60000"/>
                      </a:cubicBezTo>
                      <a:cubicBezTo>
                        <a:pt x="0" y="93120"/>
                        <a:pt x="26880" y="120000"/>
                        <a:pt x="60000" y="120000"/>
                      </a:cubicBezTo>
                      <a:cubicBezTo>
                        <a:pt x="93120" y="120000"/>
                        <a:pt x="120000" y="93120"/>
                        <a:pt x="120000" y="60000"/>
                      </a:cubicBezTo>
                      <a:cubicBezTo>
                        <a:pt x="120000" y="26880"/>
                        <a:pt x="93120" y="0"/>
                        <a:pt x="60000" y="0"/>
                      </a:cubicBezTo>
                      <a:close/>
                      <a:moveTo>
                        <a:pt x="60000" y="12000"/>
                      </a:moveTo>
                      <a:cubicBezTo>
                        <a:pt x="86460" y="12000"/>
                        <a:pt x="108000" y="33540"/>
                        <a:pt x="108000" y="60000"/>
                      </a:cubicBezTo>
                      <a:cubicBezTo>
                        <a:pt x="108000" y="86460"/>
                        <a:pt x="86460" y="108000"/>
                        <a:pt x="60000" y="108000"/>
                      </a:cubicBezTo>
                      <a:cubicBezTo>
                        <a:pt x="33540" y="108000"/>
                        <a:pt x="12000" y="86460"/>
                        <a:pt x="12000" y="60000"/>
                      </a:cubicBezTo>
                      <a:cubicBezTo>
                        <a:pt x="12000" y="33540"/>
                        <a:pt x="33540" y="12000"/>
                        <a:pt x="60000" y="12000"/>
                      </a:cubicBezTo>
                      <a:close/>
                    </a:path>
                  </a:pathLst>
                </a:custGeom>
                <a:solidFill>
                  <a:srgbClr val="3776A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20"/>
                <p:cNvSpPr/>
                <p:nvPr/>
              </p:nvSpPr>
              <p:spPr>
                <a:xfrm>
                  <a:off x="66675" y="66675"/>
                  <a:ext cx="38100" cy="38100"/>
                </a:xfrm>
                <a:prstGeom prst="ellipse">
                  <a:avLst/>
                </a:prstGeom>
                <a:solidFill>
                  <a:srgbClr val="FFD43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20"/>
                <p:cNvSpPr/>
                <p:nvPr/>
              </p:nvSpPr>
              <p:spPr>
                <a:xfrm>
                  <a:off x="123825" y="123825"/>
                  <a:ext cx="38100" cy="38100"/>
                </a:xfrm>
                <a:prstGeom prst="ellipse">
                  <a:avLst/>
                </a:prstGeom>
                <a:solidFill>
                  <a:srgbClr val="FFD43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65" name="Google Shape;265;p20"/>
            <p:cNvSpPr txBox="1"/>
            <p:nvPr/>
          </p:nvSpPr>
          <p:spPr>
            <a:xfrm>
              <a:off x="762000" y="190500"/>
              <a:ext cx="733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050" u="none" strike="noStrike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Follow on GitHub</a:t>
              </a:r>
              <a:r>
                <a:rPr b="0" i="0" lang="en" sz="1050" u="none" strike="noStrike">
                  <a:solidFill>
                    <a:srgbClr val="495057"/>
                  </a:solidFill>
                  <a:latin typeface="Inter"/>
                  <a:ea typeface="Inter"/>
                  <a:cs typeface="Inter"/>
                  <a:sym typeface="Inter"/>
                </a:rPr>
                <a:t> for study notes &amp; subscribe on </a:t>
              </a:r>
              <a:r>
                <a:rPr b="1" i="0" lang="en" sz="1050" u="none" strike="noStrike">
                  <a:solidFill>
                    <a:srgbClr val="E03131"/>
                  </a:solidFill>
                  <a:latin typeface="Inter"/>
                  <a:ea typeface="Inter"/>
                  <a:cs typeface="Inter"/>
                  <a:sym typeface="Inter"/>
                </a:rPr>
                <a:t>YouTube: @learnwithvarshhh</a:t>
              </a:r>
              <a:endParaRPr b="1" i="0" sz="105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" sz="1500" u="none" strike="noStrike">
                  <a:solidFill>
                    <a:srgbClr val="3776A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https://github.com/Varshh-hub/PYTHON-SERIES</a:t>
              </a:r>
              <a:endParaRPr b="1" i="0" sz="1050" u="none" strike="noStrike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6" name="Google Shape;266;p20"/>
          <p:cNvGrpSpPr/>
          <p:nvPr/>
        </p:nvGrpSpPr>
        <p:grpSpPr>
          <a:xfrm>
            <a:off x="381000" y="2286000"/>
            <a:ext cx="5048400" cy="2381400"/>
            <a:chOff x="0" y="0"/>
            <a:chExt cx="5048400" cy="2381400"/>
          </a:xfrm>
        </p:grpSpPr>
        <p:sp>
          <p:nvSpPr>
            <p:cNvPr id="267" name="Google Shape;267;p20"/>
            <p:cNvSpPr/>
            <p:nvPr/>
          </p:nvSpPr>
          <p:spPr>
            <a:xfrm>
              <a:off x="0" y="0"/>
              <a:ext cx="5048400" cy="23814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DEE2E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238125" y="19050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rPr>
                <a:t>Available Study Notes &amp; Scripts</a:t>
              </a:r>
              <a:endParaRPr b="1" sz="1000">
                <a:solidFill>
                  <a:srgbClr val="3776A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238125" y="495300"/>
              <a:ext cx="4572000" cy="9600"/>
            </a:xfrm>
            <a:prstGeom prst="rect">
              <a:avLst/>
            </a:prstGeom>
            <a:solidFill>
              <a:srgbClr val="DEE2E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20"/>
            <p:cNvGrpSpPr/>
            <p:nvPr/>
          </p:nvGrpSpPr>
          <p:grpSpPr>
            <a:xfrm>
              <a:off x="238125" y="619125"/>
              <a:ext cx="4572075" cy="428700"/>
              <a:chOff x="0" y="0"/>
              <a:chExt cx="4572075" cy="428700"/>
            </a:xfrm>
          </p:grpSpPr>
          <p:grpSp>
            <p:nvGrpSpPr>
              <p:cNvPr id="271" name="Google Shape;271;p20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272" name="Google Shape;272;p20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20"/>
                <p:cNvSpPr/>
                <p:nvPr/>
              </p:nvSpPr>
              <p:spPr>
                <a:xfrm>
                  <a:off x="57150" y="76200"/>
                  <a:ext cx="114300" cy="762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40000" y="60000"/>
                      </a:lnTo>
                      <a:lnTo>
                        <a:pt x="0" y="120000"/>
                      </a:lnTo>
                      <a:moveTo>
                        <a:pt x="60000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3776A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74" name="Google Shape;274;p20"/>
              <p:cNvSpPr txBox="1"/>
              <p:nvPr/>
            </p:nvSpPr>
            <p:spPr>
              <a:xfrm>
                <a:off x="333375" y="0"/>
                <a:ext cx="42387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Access the full, error-handled calculator script.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5" name="Google Shape;275;p20"/>
            <p:cNvGrpSpPr/>
            <p:nvPr/>
          </p:nvGrpSpPr>
          <p:grpSpPr>
            <a:xfrm>
              <a:off x="238125" y="1123950"/>
              <a:ext cx="4572075" cy="523800"/>
              <a:chOff x="0" y="0"/>
              <a:chExt cx="4572075" cy="523800"/>
            </a:xfrm>
          </p:grpSpPr>
          <p:grpSp>
            <p:nvGrpSpPr>
              <p:cNvPr id="276" name="Google Shape;276;p20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277" name="Google Shape;277;p20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20"/>
                <p:cNvSpPr/>
                <p:nvPr/>
              </p:nvSpPr>
              <p:spPr>
                <a:xfrm>
                  <a:off x="57150" y="76200"/>
                  <a:ext cx="114300" cy="762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40000" y="60000"/>
                      </a:lnTo>
                      <a:lnTo>
                        <a:pt x="0" y="120000"/>
                      </a:lnTo>
                      <a:moveTo>
                        <a:pt x="60000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3776A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79" name="Google Shape;279;p20"/>
              <p:cNvSpPr txBox="1"/>
              <p:nvPr/>
            </p:nvSpPr>
            <p:spPr>
              <a:xfrm>
                <a:off x="333375" y="0"/>
                <a:ext cx="42387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Review detailed markdown notes on type casting, variables, and basic Python syntax.</a:t>
                </a:r>
                <a:endParaRPr b="0" sz="1300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80" name="Google Shape;280;p20"/>
            <p:cNvGrpSpPr/>
            <p:nvPr/>
          </p:nvGrpSpPr>
          <p:grpSpPr>
            <a:xfrm>
              <a:off x="238125" y="1762125"/>
              <a:ext cx="4572075" cy="428700"/>
              <a:chOff x="0" y="0"/>
              <a:chExt cx="4572075" cy="428700"/>
            </a:xfrm>
          </p:grpSpPr>
          <p:grpSp>
            <p:nvGrpSpPr>
              <p:cNvPr id="281" name="Google Shape;281;p20"/>
              <p:cNvGrpSpPr/>
              <p:nvPr/>
            </p:nvGrpSpPr>
            <p:grpSpPr>
              <a:xfrm>
                <a:off x="0" y="0"/>
                <a:ext cx="228600" cy="228600"/>
                <a:chOff x="0" y="0"/>
                <a:chExt cx="228600" cy="228600"/>
              </a:xfrm>
            </p:grpSpPr>
            <p:sp>
              <p:nvSpPr>
                <p:cNvPr id="282" name="Google Shape;282;p20"/>
                <p:cNvSpPr/>
                <p:nvPr/>
              </p:nvSpPr>
              <p:spPr>
                <a:xfrm>
                  <a:off x="0" y="0"/>
                  <a:ext cx="228600" cy="2286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20"/>
                <p:cNvSpPr/>
                <p:nvPr/>
              </p:nvSpPr>
              <p:spPr>
                <a:xfrm>
                  <a:off x="57150" y="76200"/>
                  <a:ext cx="114300" cy="762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0"/>
                      </a:moveTo>
                      <a:lnTo>
                        <a:pt x="40000" y="60000"/>
                      </a:lnTo>
                      <a:lnTo>
                        <a:pt x="0" y="120000"/>
                      </a:lnTo>
                      <a:moveTo>
                        <a:pt x="60000" y="120000"/>
                      </a:moveTo>
                      <a:lnTo>
                        <a:pt x="120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3776A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4" name="Google Shape;284;p20"/>
              <p:cNvSpPr txBox="1"/>
              <p:nvPr/>
            </p:nvSpPr>
            <p:spPr>
              <a:xfrm>
                <a:off x="333375" y="0"/>
                <a:ext cx="42387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 u="none" strike="noStrike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Follow @Varshh-hub on GitHub &amp; subscribe to @learnwithvarshhh for upcoming lesson code.</a:t>
                </a:r>
                <a:endParaRPr b="0" i="0" sz="1200" u="none" strike="noStrike">
                  <a:solidFill>
                    <a:srgbClr val="21252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5" name="Google Shape;285;p20"/>
          <p:cNvGrpSpPr/>
          <p:nvPr/>
        </p:nvGrpSpPr>
        <p:grpSpPr>
          <a:xfrm>
            <a:off x="5619750" y="2286000"/>
            <a:ext cx="3143400" cy="2381250"/>
            <a:chOff x="0" y="0"/>
            <a:chExt cx="3143400" cy="2381250"/>
          </a:xfrm>
        </p:grpSpPr>
        <p:grpSp>
          <p:nvGrpSpPr>
            <p:cNvPr id="286" name="Google Shape;286;p20"/>
            <p:cNvGrpSpPr/>
            <p:nvPr/>
          </p:nvGrpSpPr>
          <p:grpSpPr>
            <a:xfrm>
              <a:off x="0" y="0"/>
              <a:ext cx="3143400" cy="952500"/>
              <a:chOff x="0" y="0"/>
              <a:chExt cx="3143400" cy="952500"/>
            </a:xfrm>
          </p:grpSpPr>
          <p:sp>
            <p:nvSpPr>
              <p:cNvPr id="287" name="Google Shape;287;p20"/>
              <p:cNvSpPr/>
              <p:nvPr/>
            </p:nvSpPr>
            <p:spPr>
              <a:xfrm>
                <a:off x="0" y="0"/>
                <a:ext cx="31434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0"/>
              <p:cNvSpPr/>
              <p:nvPr/>
            </p:nvSpPr>
            <p:spPr>
              <a:xfrm>
                <a:off x="133350" y="133350"/>
                <a:ext cx="685800" cy="685800"/>
              </a:xfrm>
              <a:prstGeom prst="ellipse">
                <a:avLst/>
              </a:prstGeom>
              <a:solidFill>
                <a:srgbClr val="F8F9FA"/>
              </a:solidFill>
              <a:ln cap="flat" cmpd="sng" w="19050">
                <a:solidFill>
                  <a:srgbClr val="3776A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0"/>
              <p:cNvSpPr/>
              <p:nvPr/>
            </p:nvSpPr>
            <p:spPr>
              <a:xfrm>
                <a:off x="361950" y="285750"/>
                <a:ext cx="228600" cy="228600"/>
              </a:xfrm>
              <a:prstGeom prst="ellipse">
                <a:avLst/>
              </a:prstGeom>
              <a:solidFill>
                <a:srgbClr val="2125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0"/>
              <p:cNvSpPr/>
              <p:nvPr/>
            </p:nvSpPr>
            <p:spPr>
              <a:xfrm>
                <a:off x="304800" y="552450"/>
                <a:ext cx="342900" cy="1335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0" y="0"/>
                      <a:pt x="120000" y="0"/>
                      <a:pt x="120000" y="120000"/>
                    </a:cubicBezTo>
                    <a:close/>
                  </a:path>
                </a:pathLst>
              </a:custGeom>
              <a:solidFill>
                <a:srgbClr val="21252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0"/>
              <p:cNvSpPr txBox="1"/>
              <p:nvPr/>
            </p:nvSpPr>
            <p:spPr>
              <a:xfrm>
                <a:off x="952500" y="238125"/>
                <a:ext cx="20001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90" u="none" strike="noStrike">
                    <a:solidFill>
                      <a:srgbClr val="3776AB"/>
                    </a:solidFill>
                    <a:latin typeface="Inter"/>
                    <a:ea typeface="Inter"/>
                    <a:cs typeface="Inter"/>
                    <a:sym typeface="Inter"/>
                  </a:rPr>
                  <a:t>Varsha A</a:t>
                </a:r>
                <a:endParaRPr b="1" i="0" sz="1190" u="none" strike="noStrike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1" i="0" lang="en" sz="765" u="none" strike="noStrike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rPr>
                  <a:t>YouTube: </a:t>
                </a:r>
                <a:r>
                  <a:rPr b="0" i="0" lang="en" sz="765" u="none" strike="noStrike">
                    <a:solidFill>
                      <a:srgbClr val="E0313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@learnwithvarshhh</a:t>
                </a:r>
                <a:endParaRPr b="1" i="0" sz="1190" u="none" strike="noStrike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None/>
                </a:pPr>
                <a:r>
                  <a:rPr b="1" i="0" lang="en" sz="765" u="none" strike="noStrike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rPr>
                  <a:t>GitHub: </a:t>
                </a:r>
                <a:r>
                  <a:rPr b="0" i="0" lang="en" sz="765" u="none" strike="noStrike">
                    <a:solidFill>
                      <a:srgbClr val="3776A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Varshh-hub</a:t>
                </a:r>
                <a:endParaRPr b="1" i="0" sz="1190" u="none" strike="noStrike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2" name="Google Shape;292;p20"/>
            <p:cNvGrpSpPr/>
            <p:nvPr/>
          </p:nvGrpSpPr>
          <p:grpSpPr>
            <a:xfrm>
              <a:off x="0" y="1123950"/>
              <a:ext cx="3143400" cy="1257300"/>
              <a:chOff x="0" y="0"/>
              <a:chExt cx="3143400" cy="1257300"/>
            </a:xfrm>
          </p:grpSpPr>
          <p:sp>
            <p:nvSpPr>
              <p:cNvPr id="293" name="Google Shape;293;p20"/>
              <p:cNvSpPr/>
              <p:nvPr/>
            </p:nvSpPr>
            <p:spPr>
              <a:xfrm>
                <a:off x="0" y="0"/>
                <a:ext cx="3143400" cy="1257300"/>
              </a:xfrm>
              <a:prstGeom prst="roundRect">
                <a:avLst>
                  <a:gd fmla="val 606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DEE2E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0"/>
              <p:cNvSpPr/>
              <p:nvPr/>
            </p:nvSpPr>
            <p:spPr>
              <a:xfrm>
                <a:off x="0" y="0"/>
                <a:ext cx="31434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FFD4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0"/>
              <p:cNvSpPr txBox="1"/>
              <p:nvPr/>
            </p:nvSpPr>
            <p:spPr>
              <a:xfrm>
                <a:off x="190500" y="171450"/>
                <a:ext cx="27624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786" u="none" strike="noStrike">
                    <a:solidFill>
                      <a:srgbClr val="3776AB"/>
                    </a:solidFill>
                    <a:latin typeface="Inter"/>
                    <a:ea typeface="Inter"/>
                    <a:cs typeface="Inter"/>
                    <a:sym typeface="Inter"/>
                  </a:rPr>
                  <a:t>WHAT WE'RE LEARNING IN NEXT CLASS</a:t>
                </a:r>
                <a:endParaRPr b="1" i="0" sz="786" u="none" strike="noStrike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i="0" lang="en" sz="1203" u="none" strike="noStrike">
                    <a:solidFill>
                      <a:srgbClr val="212529"/>
                    </a:solidFill>
                    <a:latin typeface="Inter"/>
                    <a:ea typeface="Inter"/>
                    <a:cs typeface="Inter"/>
                    <a:sym typeface="Inter"/>
                  </a:rPr>
                  <a:t>Type Casting in Python</a:t>
                </a:r>
                <a:endParaRPr b="1" i="0" sz="786" u="none" strike="noStrike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400"/>
                  </a:spcBef>
                  <a:spcAft>
                    <a:spcPts val="300"/>
                  </a:spcAft>
                  <a:buNone/>
                </a:pPr>
                <a:r>
                  <a:rPr b="0" i="0" lang="en" sz="925" u="none" strike="noStrike">
                    <a:solidFill>
                      <a:srgbClr val="495057"/>
                    </a:solidFill>
                    <a:latin typeface="Inter"/>
                    <a:ea typeface="Inter"/>
                    <a:cs typeface="Inter"/>
                    <a:sym typeface="Inter"/>
                  </a:rPr>
                  <a:t>Converting between int, float, and str. Deep dive into explicit type conversion rules, syntax, and practical exercises.</a:t>
                </a:r>
                <a:endParaRPr b="1" i="0" sz="786" u="none" strike="noStrike">
                  <a:solidFill>
                    <a:srgbClr val="3776A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96" name="Google Shape;296;p20"/>
          <p:cNvSpPr txBox="1"/>
          <p:nvPr/>
        </p:nvSpPr>
        <p:spPr>
          <a:xfrm>
            <a:off x="4953000" y="266700"/>
            <a:ext cx="347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YouTube: </a:t>
            </a:r>
            <a:r>
              <a:rPr b="0" lang="en" sz="736">
                <a:solidFill>
                  <a:srgbClr val="E03131"/>
                </a:solidFill>
                <a:latin typeface="Roboto Mono"/>
                <a:ea typeface="Roboto Mono"/>
                <a:cs typeface="Roboto Mono"/>
                <a:sym typeface="Roboto Mono"/>
              </a:rPr>
              <a:t>learnwithvarshhh</a:t>
            </a:r>
            <a:r>
              <a:rPr b="0" lang="en" sz="736">
                <a:solidFill>
                  <a:srgbClr val="ADB5BD"/>
                </a:solidFill>
                <a:latin typeface="Inter"/>
                <a:ea typeface="Inter"/>
                <a:cs typeface="Inter"/>
                <a:sym typeface="Inter"/>
              </a:rPr>
              <a:t>   •   </a:t>
            </a:r>
            <a:r>
              <a:rPr b="1" lang="en" sz="736">
                <a:solidFill>
                  <a:srgbClr val="495057"/>
                </a:solidFill>
                <a:latin typeface="Inter"/>
                <a:ea typeface="Inter"/>
                <a:cs typeface="Inter"/>
                <a:sym typeface="Inter"/>
              </a:rPr>
              <a:t>Follow on GitHub: </a:t>
            </a:r>
            <a:r>
              <a:rPr b="0" lang="en" sz="736">
                <a:solidFill>
                  <a:srgbClr val="3776AB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github.com/Varshh-hub</a:t>
            </a:r>
            <a:endParaRPr b="1" sz="736">
              <a:solidFill>
                <a:srgbClr val="49505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