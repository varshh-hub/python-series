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"/>
      <p:bold r:id="rId18"/>
      <p:boldItalic r:id="rId19"/>
    </p:embeddedFont>
    <p:embeddedFont>
      <p:font typeface="Fira Code SemiBold"/>
      <p:regular r:id="rId20"/>
      <p:bold r:id="rId21"/>
    </p:embeddedFont>
    <p:embeddedFont>
      <p:font typeface="Fira Code"/>
      <p:bold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CodeSemiBold-regular.fntdata"/><Relationship Id="rId22" Type="http://schemas.openxmlformats.org/officeDocument/2006/relationships/font" Target="fonts/FiraCode-bold.fntdata"/><Relationship Id="rId21" Type="http://schemas.openxmlformats.org/officeDocument/2006/relationships/font" Target="fonts/FiraCodeSemiBold-bold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3137b560601a019d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3137b560601a019d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3137b560601a019d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3137b560601a019d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137b560601a019d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3137b560601a019d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3137b560601a019d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3137b560601a019d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3137b560601a019d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3137b560601a019d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3137b560601a019d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3137b560601a019d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3137b560601a019d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h3137b560601a019d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3137b560601a019d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h3137b560601a019d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3137b560601a019d_13_0)">
  <p:cSld name="Generated (h3137b560601a019d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" name="Google Shape;58;p14"/>
          <p:cNvSpPr txBox="1"/>
          <p:nvPr/>
        </p:nvSpPr>
        <p:spPr>
          <a:xfrm>
            <a:off x="381000" y="285750"/>
            <a:ext cx="6667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Variables Act as Labeled Storage Boxes</a:t>
            </a:r>
            <a:endParaRPr b="1" sz="22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78105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14"/>
          <p:cNvGrpSpPr/>
          <p:nvPr/>
        </p:nvGrpSpPr>
        <p:grpSpPr>
          <a:xfrm>
            <a:off x="6953250" y="333375"/>
            <a:ext cx="1828800" cy="228600"/>
            <a:chOff x="0" y="0"/>
            <a:chExt cx="1828800" cy="2286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58A6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57150" y="66675"/>
              <a:ext cx="573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3" name="Google Shape;63;p14"/>
            <p:cNvCxnSpPr/>
            <p:nvPr/>
          </p:nvCxnSpPr>
          <p:spPr>
            <a:xfrm>
              <a:off x="133350" y="161925"/>
              <a:ext cx="381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" name="Google Shape;64;p14"/>
            <p:cNvSpPr txBox="1"/>
            <p:nvPr/>
          </p:nvSpPr>
          <p:spPr>
            <a:xfrm>
              <a:off x="304800" y="0"/>
              <a:ext cx="1524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Learnwithvarshhh</a:t>
              </a:r>
              <a:endParaRPr b="1" sz="11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381000" y="1047750"/>
            <a:ext cx="3810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95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A variable is a named location used to store data in memory.</a:t>
            </a:r>
            <a:endParaRPr b="0" sz="1295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295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Think of it as a </a:t>
            </a:r>
            <a:r>
              <a:rPr b="0" lang="en" sz="1295">
                <a:solidFill>
                  <a:srgbClr val="58A6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labeled box</a:t>
            </a:r>
            <a:r>
              <a:rPr b="0" lang="en" sz="1295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where you keep specific information.</a:t>
            </a:r>
            <a:endParaRPr b="0" sz="1295">
              <a:solidFill>
                <a:srgbClr val="8B949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295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We use the </a:t>
            </a:r>
            <a:r>
              <a:rPr b="1" lang="en" sz="1295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b="0" lang="en" sz="1295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sign to assign a value to a variable.</a:t>
            </a:r>
            <a:endParaRPr b="0" sz="1295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4572000" y="1047750"/>
            <a:ext cx="4191000" cy="2190900"/>
            <a:chOff x="0" y="0"/>
            <a:chExt cx="4191000" cy="2190900"/>
          </a:xfrm>
        </p:grpSpPr>
        <p:sp>
          <p:nvSpPr>
            <p:cNvPr id="67" name="Google Shape;67;p14"/>
            <p:cNvSpPr/>
            <p:nvPr/>
          </p:nvSpPr>
          <p:spPr>
            <a:xfrm>
              <a:off x="0" y="0"/>
              <a:ext cx="4191000" cy="2190900"/>
            </a:xfrm>
            <a:prstGeom prst="roundRect">
              <a:avLst>
                <a:gd fmla="val 3478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" name="Google Shape;68;p14"/>
            <p:cNvGrpSpPr/>
            <p:nvPr/>
          </p:nvGrpSpPr>
          <p:grpSpPr>
            <a:xfrm>
              <a:off x="161925" y="104775"/>
              <a:ext cx="400200" cy="95400"/>
              <a:chOff x="66675" y="66675"/>
              <a:chExt cx="400200" cy="95400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66675" y="66675"/>
                <a:ext cx="95400" cy="954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219075" y="66675"/>
                <a:ext cx="95400" cy="954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371475" y="66675"/>
                <a:ext cx="95400" cy="954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2" name="Google Shape;72;p14"/>
            <p:cNvSpPr/>
            <p:nvPr/>
          </p:nvSpPr>
          <p:spPr>
            <a:xfrm>
              <a:off x="0" y="304800"/>
              <a:ext cx="4191000" cy="9600"/>
            </a:xfrm>
            <a:prstGeom prst="rect">
              <a:avLst/>
            </a:prstGeom>
            <a:solidFill>
              <a:srgbClr val="2126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190500" y="428625"/>
              <a:ext cx="3810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name </a:t>
              </a:r>
              <a:r>
                <a:rPr b="0" lang="en" sz="14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400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"Varsha"</a:t>
              </a:r>
              <a:endParaRPr b="0" sz="14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age </a:t>
              </a:r>
              <a:r>
                <a:rPr b="0" lang="en" sz="14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4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20</a:t>
              </a:r>
              <a:endParaRPr b="0" sz="14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(name)</a:t>
              </a:r>
              <a:endParaRPr b="0" sz="14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(age)</a:t>
              </a:r>
              <a:endParaRPr b="0" sz="14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4567238" y="3424238"/>
            <a:ext cx="4200600" cy="1247700"/>
            <a:chOff x="-4762" y="-4762"/>
            <a:chExt cx="4200600" cy="1247700"/>
          </a:xfrm>
        </p:grpSpPr>
        <p:pic>
          <p:nvPicPr>
            <p:cNvPr id="75" name="Google Shape;7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-4762"/>
              <a:ext cx="4200600" cy="12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4"/>
            <p:cNvSpPr txBox="1"/>
            <p:nvPr/>
          </p:nvSpPr>
          <p:spPr>
            <a:xfrm>
              <a:off x="190500" y="142875"/>
              <a:ext cx="381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EXPECTED OUTPUT</a:t>
              </a:r>
              <a:endParaRPr b="1" sz="10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Varsha</a:t>
              </a:r>
              <a:endParaRPr b="0" sz="14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20</a:t>
              </a:r>
              <a:endParaRPr b="0" sz="14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381000" y="38100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5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Best Practices for Naming Variables</a:t>
            </a:r>
            <a:endParaRPr b="1" sz="2405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3352800" y="857250"/>
            <a:ext cx="8382000" cy="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15"/>
          <p:cNvGrpSpPr/>
          <p:nvPr/>
        </p:nvGrpSpPr>
        <p:grpSpPr>
          <a:xfrm>
            <a:off x="7429500" y="381000"/>
            <a:ext cx="2209800" cy="285900"/>
            <a:chOff x="0" y="0"/>
            <a:chExt cx="2209800" cy="2859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58A6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57150" y="66675"/>
              <a:ext cx="573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8" name="Google Shape;88;p15"/>
            <p:cNvCxnSpPr/>
            <p:nvPr/>
          </p:nvCxnSpPr>
          <p:spPr>
            <a:xfrm>
              <a:off x="133350" y="161925"/>
              <a:ext cx="381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9" name="Google Shape;89;p15"/>
            <p:cNvSpPr txBox="1"/>
            <p:nvPr/>
          </p:nvSpPr>
          <p:spPr>
            <a:xfrm>
              <a:off x="304800" y="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Learnwithvarshhh</a:t>
              </a:r>
              <a:endParaRPr b="1" sz="12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0" name="Google Shape;90;p15"/>
          <p:cNvSpPr txBox="1"/>
          <p:nvPr/>
        </p:nvSpPr>
        <p:spPr>
          <a:xfrm>
            <a:off x="381000" y="1143000"/>
            <a:ext cx="40005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00"/>
              <a:buChar char="●"/>
            </a:pPr>
            <a:r>
              <a:rPr b="1" lang="en" sz="16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Best Practices vs Rules:</a:t>
            </a:r>
            <a:r>
              <a:rPr b="0" lang="en" sz="16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Naming conventions make your code readable and clean, distinct from mandatory rules.</a:t>
            </a:r>
            <a:endParaRPr b="0" sz="16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58A6FF"/>
              </a:buClr>
              <a:buSzPts val="1400"/>
              <a:buChar char="●"/>
            </a:pPr>
            <a:r>
              <a:rPr b="1" lang="en" sz="1600">
                <a:solidFill>
                  <a:srgbClr val="3FB950"/>
                </a:solidFill>
                <a:latin typeface="Inter"/>
                <a:ea typeface="Inter"/>
                <a:cs typeface="Inter"/>
                <a:sym typeface="Inter"/>
              </a:rPr>
              <a:t>snake_case:</a:t>
            </a:r>
            <a:r>
              <a:rPr b="0" lang="en" sz="16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Python programmers prefer words separated by underscores.</a:t>
            </a:r>
            <a:endParaRPr b="0" sz="16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1500"/>
              </a:spcAft>
              <a:buClr>
                <a:srgbClr val="58A6FF"/>
              </a:buClr>
              <a:buSzPts val="1400"/>
              <a:buChar char="●"/>
            </a:pPr>
            <a:r>
              <a:rPr b="1" lang="en" sz="1600">
                <a:solidFill>
                  <a:srgbClr val="FF7B72"/>
                </a:solidFill>
                <a:latin typeface="Inter"/>
                <a:ea typeface="Inter"/>
                <a:cs typeface="Inter"/>
                <a:sym typeface="Inter"/>
              </a:rPr>
              <a:t>Case-Sensitive:</a:t>
            </a:r>
            <a:r>
              <a:rPr b="0" lang="en" sz="16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Uppercase and lowercase letters are treated differently by Python.</a:t>
            </a:r>
            <a:endParaRPr b="0" sz="16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1" name="Google Shape;91;p15"/>
          <p:cNvGrpSpPr/>
          <p:nvPr/>
        </p:nvGrpSpPr>
        <p:grpSpPr>
          <a:xfrm>
            <a:off x="4572000" y="1143000"/>
            <a:ext cx="4191000" cy="3429000"/>
            <a:chOff x="0" y="0"/>
            <a:chExt cx="4191000" cy="3429000"/>
          </a:xfrm>
        </p:grpSpPr>
        <p:sp>
          <p:nvSpPr>
            <p:cNvPr id="92" name="Google Shape;92;p15"/>
            <p:cNvSpPr/>
            <p:nvPr/>
          </p:nvSpPr>
          <p:spPr>
            <a:xfrm>
              <a:off x="0" y="0"/>
              <a:ext cx="4191000" cy="3429000"/>
            </a:xfrm>
            <a:prstGeom prst="roundRect">
              <a:avLst>
                <a:gd fmla="val 2222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" name="Google Shape;93;p15"/>
            <p:cNvGrpSpPr/>
            <p:nvPr/>
          </p:nvGrpSpPr>
          <p:grpSpPr>
            <a:xfrm>
              <a:off x="57150" y="57150"/>
              <a:ext cx="495300" cy="114300"/>
              <a:chOff x="57150" y="57150"/>
              <a:chExt cx="495300" cy="114300"/>
            </a:xfrm>
          </p:grpSpPr>
          <p:sp>
            <p:nvSpPr>
              <p:cNvPr id="94" name="Google Shape;94;p15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47650" y="57150"/>
                <a:ext cx="114300" cy="1143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438150" y="57150"/>
                <a:ext cx="114300" cy="1143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7" name="Google Shape;97;p15"/>
            <p:cNvSpPr/>
            <p:nvPr/>
          </p:nvSpPr>
          <p:spPr>
            <a:xfrm>
              <a:off x="0" y="228600"/>
              <a:ext cx="4191000" cy="9600"/>
            </a:xfrm>
            <a:prstGeom prst="rect">
              <a:avLst/>
            </a:prstGeom>
            <a:solidFill>
              <a:srgbClr val="2126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190500" y="381000"/>
              <a:ext cx="3810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400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# Meaningful snake_case examples</a:t>
              </a:r>
              <a:endParaRPr b="0" i="1" sz="1400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student_name </a:t>
              </a:r>
              <a:r>
                <a:rPr b="0" lang="en" sz="14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400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"Alex"</a:t>
              </a:r>
              <a:endParaRPr b="0" sz="14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total_marks </a:t>
              </a:r>
              <a:r>
                <a:rPr b="0" lang="en" sz="14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4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95.5</a:t>
              </a:r>
              <a:endParaRPr b="0" sz="14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student_age </a:t>
              </a:r>
              <a:r>
                <a:rPr b="0" lang="en" sz="14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4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20</a:t>
              </a:r>
              <a:endParaRPr b="0" sz="14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i="1" lang="en" sz="1400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# Variables are case-sensitive</a:t>
              </a:r>
              <a:endParaRPr b="0" i="1" sz="1400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age </a:t>
              </a:r>
              <a:r>
                <a:rPr b="0" lang="en" sz="14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4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20</a:t>
              </a:r>
              <a:endParaRPr b="0" sz="14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AGE </a:t>
              </a:r>
              <a:r>
                <a:rPr b="0" lang="en" sz="14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4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25</a:t>
              </a:r>
              <a:r>
                <a:rPr b="0" lang="en" sz="14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1" lang="en" sz="1400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# Different variable!</a:t>
              </a:r>
              <a:endParaRPr b="0" sz="14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81000" y="30480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Valid Variable Names in Python</a:t>
            </a:r>
            <a:endParaRPr b="1" sz="24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352800" y="742950"/>
            <a:ext cx="8382000" cy="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16"/>
          <p:cNvGrpSpPr/>
          <p:nvPr/>
        </p:nvGrpSpPr>
        <p:grpSpPr>
          <a:xfrm>
            <a:off x="7429500" y="342900"/>
            <a:ext cx="1543200" cy="228600"/>
            <a:chOff x="0" y="0"/>
            <a:chExt cx="1543200" cy="228600"/>
          </a:xfrm>
        </p:grpSpPr>
        <p:sp>
          <p:nvSpPr>
            <p:cNvPr id="108" name="Google Shape;108;p16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58A6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57150" y="66675"/>
              <a:ext cx="573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0" name="Google Shape;110;p16"/>
            <p:cNvCxnSpPr/>
            <p:nvPr/>
          </p:nvCxnSpPr>
          <p:spPr>
            <a:xfrm>
              <a:off x="133350" y="161925"/>
              <a:ext cx="381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" name="Google Shape;111;p16"/>
            <p:cNvSpPr txBox="1"/>
            <p:nvPr/>
          </p:nvSpPr>
          <p:spPr>
            <a:xfrm>
              <a:off x="304800" y="0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Learnwithvarshhh</a:t>
              </a:r>
              <a:endParaRPr b="1" sz="10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2" name="Google Shape;112;p16"/>
          <p:cNvSpPr txBox="1"/>
          <p:nvPr/>
        </p:nvSpPr>
        <p:spPr>
          <a:xfrm>
            <a:off x="381000" y="857250"/>
            <a:ext cx="838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B949E"/>
                </a:solidFill>
                <a:latin typeface="Inter Medium"/>
                <a:ea typeface="Inter Medium"/>
                <a:cs typeface="Inter Medium"/>
                <a:sym typeface="Inter Medium"/>
              </a:rPr>
              <a:t>Unlike conventions, breaking naming rules causes immediate errors in your code.</a:t>
            </a:r>
            <a:endParaRPr b="0" sz="1200">
              <a:solidFill>
                <a:srgbClr val="8B94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381000" y="1190625"/>
            <a:ext cx="43815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300"/>
              <a:buFont typeface="Inter"/>
              <a:buAutoNum type="arabicPeriod"/>
            </a:pP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Names must begin with a </a:t>
            </a:r>
            <a:r>
              <a:rPr b="1" lang="en" sz="1200">
                <a:solidFill>
                  <a:srgbClr val="3FB950"/>
                </a:solidFill>
                <a:latin typeface="Inter"/>
                <a:ea typeface="Inter"/>
                <a:cs typeface="Inter"/>
                <a:sym typeface="Inter"/>
              </a:rPr>
              <a:t>letter</a:t>
            </a: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1" lang="en" sz="1200">
                <a:solidFill>
                  <a:srgbClr val="3FB950"/>
                </a:solidFill>
                <a:latin typeface="Inter"/>
                <a:ea typeface="Inter"/>
                <a:cs typeface="Inter"/>
                <a:sym typeface="Inter"/>
              </a:rPr>
              <a:t>underscore</a:t>
            </a: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2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FF7B72"/>
              </a:buClr>
              <a:buSzPts val="1300"/>
              <a:buFont typeface="Inter"/>
              <a:buAutoNum type="arabicPeriod"/>
            </a:pP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They </a:t>
            </a:r>
            <a:r>
              <a:rPr b="1" lang="en" sz="1200">
                <a:solidFill>
                  <a:srgbClr val="FF7B72"/>
                </a:solidFill>
                <a:latin typeface="Inter"/>
                <a:ea typeface="Inter"/>
                <a:cs typeface="Inter"/>
                <a:sym typeface="Inter"/>
              </a:rPr>
              <a:t>cannot</a:t>
            </a: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begin with a number.</a:t>
            </a:r>
            <a:endParaRPr b="0" sz="12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FF7B72"/>
              </a:buClr>
              <a:buSzPts val="1300"/>
              <a:buFont typeface="Inter"/>
              <a:buAutoNum type="arabicPeriod"/>
            </a:pP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Only </a:t>
            </a:r>
            <a:r>
              <a:rPr b="0" lang="en" sz="120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letters</a:t>
            </a: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lang="en" sz="120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digits</a:t>
            </a: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0" lang="en" sz="120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underscores</a:t>
            </a: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are allowed.</a:t>
            </a:r>
            <a:endParaRPr b="0" sz="12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FF7B72"/>
              </a:buClr>
              <a:buSzPts val="1300"/>
              <a:buFont typeface="Inter"/>
              <a:buAutoNum type="arabicPeriod"/>
            </a:pPr>
            <a:r>
              <a:rPr b="1" lang="en" sz="1200">
                <a:solidFill>
                  <a:srgbClr val="FF7B72"/>
                </a:solidFill>
                <a:latin typeface="Inter"/>
                <a:ea typeface="Inter"/>
                <a:cs typeface="Inter"/>
                <a:sym typeface="Inter"/>
              </a:rPr>
              <a:t>Spaces</a:t>
            </a: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lang="en" sz="1200">
                <a:solidFill>
                  <a:srgbClr val="FF7B72"/>
                </a:solidFill>
                <a:latin typeface="Inter"/>
                <a:ea typeface="Inter"/>
                <a:cs typeface="Inter"/>
                <a:sym typeface="Inter"/>
              </a:rPr>
              <a:t>special characters</a:t>
            </a: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(@, -, etc.) are strictly forbidden.</a:t>
            </a:r>
            <a:endParaRPr b="0" sz="12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1200"/>
              </a:spcAft>
              <a:buClr>
                <a:srgbClr val="FF7B72"/>
              </a:buClr>
              <a:buSzPts val="1300"/>
              <a:buFont typeface="Inter"/>
              <a:buAutoNum type="arabicPeriod"/>
            </a:pP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Python </a:t>
            </a:r>
            <a:r>
              <a:rPr b="1" lang="en" sz="1200">
                <a:solidFill>
                  <a:srgbClr val="D2A8FF"/>
                </a:solidFill>
                <a:latin typeface="Inter"/>
                <a:ea typeface="Inter"/>
                <a:cs typeface="Inter"/>
                <a:sym typeface="Inter"/>
              </a:rPr>
              <a:t>keywords</a:t>
            </a:r>
            <a:r>
              <a:rPr b="0" lang="en" sz="1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cannot be used as variable names.</a:t>
            </a:r>
            <a:endParaRPr b="0" sz="12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4" name="Google Shape;114;p16"/>
          <p:cNvGrpSpPr/>
          <p:nvPr/>
        </p:nvGrpSpPr>
        <p:grpSpPr>
          <a:xfrm>
            <a:off x="4953000" y="1190625"/>
            <a:ext cx="3810000" cy="3381300"/>
            <a:chOff x="4953000" y="1190625"/>
            <a:chExt cx="3810000" cy="3381300"/>
          </a:xfrm>
        </p:grpSpPr>
        <p:sp>
          <p:nvSpPr>
            <p:cNvPr id="115" name="Google Shape;115;p16"/>
            <p:cNvSpPr/>
            <p:nvPr/>
          </p:nvSpPr>
          <p:spPr>
            <a:xfrm>
              <a:off x="4953000" y="1190625"/>
              <a:ext cx="3810000" cy="3381300"/>
            </a:xfrm>
            <a:prstGeom prst="roundRect">
              <a:avLst>
                <a:gd fmla="val 2253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" name="Google Shape;116;p16"/>
            <p:cNvGrpSpPr/>
            <p:nvPr/>
          </p:nvGrpSpPr>
          <p:grpSpPr>
            <a:xfrm>
              <a:off x="5095875" y="1333500"/>
              <a:ext cx="400200" cy="95400"/>
              <a:chOff x="66675" y="66675"/>
              <a:chExt cx="400200" cy="95400"/>
            </a:xfrm>
          </p:grpSpPr>
          <p:sp>
            <p:nvSpPr>
              <p:cNvPr id="117" name="Google Shape;117;p16"/>
              <p:cNvSpPr/>
              <p:nvPr/>
            </p:nvSpPr>
            <p:spPr>
              <a:xfrm>
                <a:off x="66675" y="66675"/>
                <a:ext cx="95400" cy="954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6"/>
              <p:cNvSpPr/>
              <p:nvPr/>
            </p:nvSpPr>
            <p:spPr>
              <a:xfrm>
                <a:off x="219075" y="66675"/>
                <a:ext cx="95400" cy="954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6"/>
              <p:cNvSpPr/>
              <p:nvPr/>
            </p:nvSpPr>
            <p:spPr>
              <a:xfrm>
                <a:off x="371475" y="66675"/>
                <a:ext cx="95400" cy="954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0" name="Google Shape;120;p16"/>
            <p:cNvSpPr txBox="1"/>
            <p:nvPr/>
          </p:nvSpPr>
          <p:spPr>
            <a:xfrm>
              <a:off x="5715000" y="1238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invalid_example.py</a:t>
              </a:r>
              <a:endParaRPr b="0" sz="900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4953000" y="1428750"/>
              <a:ext cx="3810000" cy="9600"/>
            </a:xfrm>
            <a:prstGeom prst="rect">
              <a:avLst/>
            </a:prstGeom>
            <a:solidFill>
              <a:srgbClr val="2126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5143500" y="1571625"/>
              <a:ext cx="34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8B949E"/>
                  </a:solidFill>
                </a:rPr>
                <a:t># Invalid Syntax Example</a:t>
              </a:r>
              <a:endParaRPr i="1" sz="1100">
                <a:solidFill>
                  <a:srgbClr val="8B949E"/>
                </a:solidFill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 u="sng">
                  <a:solidFill>
                    <a:srgbClr val="FF7B72"/>
                  </a:solidFill>
                  <a:latin typeface="Fira Code"/>
                  <a:ea typeface="Fira Code"/>
                  <a:cs typeface="Fira Code"/>
                  <a:sym typeface="Fira Code"/>
                </a:rPr>
                <a:t>my-name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3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300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"Varsha"</a:t>
              </a:r>
              <a:endParaRPr b="0" sz="13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5105400" y="2667000"/>
              <a:ext cx="3505200" cy="1714500"/>
            </a:xfrm>
            <a:prstGeom prst="roundRect">
              <a:avLst>
                <a:gd fmla="val 3333" name="adj"/>
              </a:avLst>
            </a:prstGeom>
            <a:solidFill>
              <a:srgbClr val="0D1117"/>
            </a:solidFill>
            <a:ln cap="flat" cmpd="sng" w="9525">
              <a:solidFill>
                <a:srgbClr val="FF7B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5105400" y="2667000"/>
              <a:ext cx="57300" cy="1714500"/>
            </a:xfrm>
            <a:prstGeom prst="roundRect">
              <a:avLst>
                <a:gd fmla="val 33333" name="adj"/>
              </a:avLst>
            </a:prstGeom>
            <a:solidFill>
              <a:srgbClr val="FF7B7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5276850" y="2781300"/>
              <a:ext cx="32004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7B72"/>
                  </a:solidFill>
                  <a:latin typeface="Inter"/>
                  <a:ea typeface="Inter"/>
                  <a:cs typeface="Inter"/>
                  <a:sym typeface="Inter"/>
                </a:rPr>
                <a:t>SyntaxError: cannot assign to expression</a:t>
              </a:r>
              <a:endParaRPr b="1" sz="1100">
                <a:solidFill>
                  <a:srgbClr val="FF7B7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This causes an error because hyphens (-) are not allowed in variable names.</a:t>
              </a:r>
              <a:endParaRPr b="0" sz="10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Python interprets my-name as subtraction (my - name) rather than a single identifier.</a:t>
              </a:r>
              <a:endParaRPr b="0" sz="10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381000" y="333375"/>
            <a:ext cx="6762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35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Data Types Define the Kind of Value a Variable Holds</a:t>
            </a:r>
            <a:endParaRPr b="1" sz="2035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352800" y="838200"/>
            <a:ext cx="8382000" cy="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7429500" y="400050"/>
            <a:ext cx="1543200" cy="228600"/>
            <a:chOff x="0" y="0"/>
            <a:chExt cx="1543200" cy="228600"/>
          </a:xfrm>
        </p:grpSpPr>
        <p:sp>
          <p:nvSpPr>
            <p:cNvPr id="134" name="Google Shape;134;p17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58A6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57150" y="66675"/>
              <a:ext cx="573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6" name="Google Shape;136;p17"/>
            <p:cNvCxnSpPr/>
            <p:nvPr/>
          </p:nvCxnSpPr>
          <p:spPr>
            <a:xfrm>
              <a:off x="133350" y="161925"/>
              <a:ext cx="381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7" name="Google Shape;137;p17"/>
            <p:cNvSpPr txBox="1"/>
            <p:nvPr/>
          </p:nvSpPr>
          <p:spPr>
            <a:xfrm>
              <a:off x="304800" y="0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Learnwithvarshhh</a:t>
              </a:r>
              <a:endParaRPr b="1" sz="1018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38" name="Google Shape;138;p17"/>
          <p:cNvSpPr txBox="1"/>
          <p:nvPr/>
        </p:nvSpPr>
        <p:spPr>
          <a:xfrm>
            <a:off x="381000" y="971550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75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Data types describe the specific kind of information a variable refers to. The core types in Python include:</a:t>
            </a:r>
            <a:endParaRPr b="0" sz="1275">
              <a:solidFill>
                <a:srgbClr val="8B949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9" name="Google Shape;139;p17"/>
          <p:cNvGrpSpPr/>
          <p:nvPr/>
        </p:nvGrpSpPr>
        <p:grpSpPr>
          <a:xfrm>
            <a:off x="381000" y="1381125"/>
            <a:ext cx="4000500" cy="1190700"/>
            <a:chOff x="0" y="0"/>
            <a:chExt cx="4000500" cy="1190700"/>
          </a:xfrm>
        </p:grpSpPr>
        <p:sp>
          <p:nvSpPr>
            <p:cNvPr id="140" name="Google Shape;140;p17"/>
            <p:cNvSpPr/>
            <p:nvPr/>
          </p:nvSpPr>
          <p:spPr>
            <a:xfrm>
              <a:off x="0" y="0"/>
              <a:ext cx="4000500" cy="1190700"/>
            </a:xfrm>
            <a:prstGeom prst="roundRect">
              <a:avLst>
                <a:gd fmla="val 6400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0" y="0"/>
              <a:ext cx="38100" cy="1190700"/>
            </a:xfrm>
            <a:prstGeom prst="roundRect">
              <a:avLst>
                <a:gd fmla="val 50000" name="adj"/>
              </a:avLst>
            </a:prstGeom>
            <a:solidFill>
              <a:srgbClr val="58A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228600" y="0"/>
              <a:ext cx="3581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58A6FF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int</a:t>
              </a:r>
              <a:endParaRPr b="0" sz="1500">
                <a:solidFill>
                  <a:srgbClr val="58A6FF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whole numbers</a:t>
              </a:r>
              <a:endParaRPr b="0" sz="15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3" name="Google Shape;143;p17"/>
          <p:cNvGrpSpPr/>
          <p:nvPr/>
        </p:nvGrpSpPr>
        <p:grpSpPr>
          <a:xfrm>
            <a:off x="4762500" y="1381125"/>
            <a:ext cx="4000500" cy="1190700"/>
            <a:chOff x="0" y="0"/>
            <a:chExt cx="4000500" cy="1190700"/>
          </a:xfrm>
        </p:grpSpPr>
        <p:sp>
          <p:nvSpPr>
            <p:cNvPr id="144" name="Google Shape;144;p17"/>
            <p:cNvSpPr/>
            <p:nvPr/>
          </p:nvSpPr>
          <p:spPr>
            <a:xfrm>
              <a:off x="0" y="0"/>
              <a:ext cx="4000500" cy="1190700"/>
            </a:xfrm>
            <a:prstGeom prst="roundRect">
              <a:avLst>
                <a:gd fmla="val 6400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0" y="0"/>
              <a:ext cx="38100" cy="1190700"/>
            </a:xfrm>
            <a:prstGeom prst="roundRect">
              <a:avLst>
                <a:gd fmla="val 50000" name="adj"/>
              </a:avLst>
            </a:prstGeom>
            <a:solidFill>
              <a:srgbClr val="3FB95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228600" y="0"/>
              <a:ext cx="3581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FB950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float</a:t>
              </a:r>
              <a:endParaRPr b="0" sz="1500">
                <a:solidFill>
                  <a:srgbClr val="3FB950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decimal numbers</a:t>
              </a:r>
              <a:endParaRPr b="0" sz="15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381000" y="2714625"/>
            <a:ext cx="4000500" cy="1190700"/>
            <a:chOff x="0" y="0"/>
            <a:chExt cx="4000500" cy="119070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4000500" cy="1190700"/>
            </a:xfrm>
            <a:prstGeom prst="roundRect">
              <a:avLst>
                <a:gd fmla="val 6400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0" y="0"/>
              <a:ext cx="38100" cy="1190700"/>
            </a:xfrm>
            <a:prstGeom prst="roundRect">
              <a:avLst>
                <a:gd fmla="val 50000" name="adj"/>
              </a:avLst>
            </a:prstGeom>
            <a:solidFill>
              <a:srgbClr val="F2CC6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228600" y="0"/>
              <a:ext cx="3581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2CC60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str</a:t>
              </a:r>
              <a:endParaRPr b="0" sz="1500">
                <a:solidFill>
                  <a:srgbClr val="F2CC60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text</a:t>
              </a:r>
              <a:endParaRPr b="0" sz="15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1" name="Google Shape;151;p17"/>
          <p:cNvGrpSpPr/>
          <p:nvPr/>
        </p:nvGrpSpPr>
        <p:grpSpPr>
          <a:xfrm>
            <a:off x="4762500" y="2714625"/>
            <a:ext cx="4000500" cy="1190700"/>
            <a:chOff x="0" y="0"/>
            <a:chExt cx="4000500" cy="1190700"/>
          </a:xfrm>
        </p:grpSpPr>
        <p:sp>
          <p:nvSpPr>
            <p:cNvPr id="152" name="Google Shape;152;p17"/>
            <p:cNvSpPr/>
            <p:nvPr/>
          </p:nvSpPr>
          <p:spPr>
            <a:xfrm>
              <a:off x="0" y="0"/>
              <a:ext cx="4000500" cy="1190700"/>
            </a:xfrm>
            <a:prstGeom prst="roundRect">
              <a:avLst>
                <a:gd fmla="val 6400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0" y="0"/>
              <a:ext cx="38100" cy="1190700"/>
            </a:xfrm>
            <a:prstGeom prst="roundRect">
              <a:avLst>
                <a:gd fmla="val 50000" name="adj"/>
              </a:avLst>
            </a:prstGeom>
            <a:solidFill>
              <a:srgbClr val="D2A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228600" y="0"/>
              <a:ext cx="3581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D2A8FF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bool</a:t>
              </a:r>
              <a:endParaRPr b="0" sz="1500">
                <a:solidFill>
                  <a:srgbClr val="D2A8FF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True or False</a:t>
              </a:r>
              <a:endParaRPr b="0" sz="15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55" name="Google Shape;155;p17"/>
          <p:cNvSpPr txBox="1"/>
          <p:nvPr/>
        </p:nvSpPr>
        <p:spPr>
          <a:xfrm>
            <a:off x="381000" y="409575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5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These categories determine what operations you can perform on the stored data.</a:t>
            </a:r>
            <a:endParaRPr b="0" i="1" sz="1500">
              <a:solidFill>
                <a:srgbClr val="8B949E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381000" y="333375"/>
            <a:ext cx="6667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b="1" lang="en" sz="2400">
                <a:solidFill>
                  <a:srgbClr val="D2A8FF"/>
                </a:solidFill>
                <a:latin typeface="Inter"/>
                <a:ea typeface="Inter"/>
                <a:cs typeface="Inter"/>
                <a:sym typeface="Inter"/>
              </a:rPr>
              <a:t>type()</a:t>
            </a:r>
            <a:r>
              <a:rPr b="1" lang="en" sz="24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to Identify Data Categories</a:t>
            </a:r>
            <a:endParaRPr b="1" sz="24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09625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18"/>
          <p:cNvGrpSpPr/>
          <p:nvPr/>
        </p:nvGrpSpPr>
        <p:grpSpPr>
          <a:xfrm>
            <a:off x="7239000" y="361950"/>
            <a:ext cx="1447800" cy="228600"/>
            <a:chOff x="0" y="0"/>
            <a:chExt cx="1447800" cy="228600"/>
          </a:xfrm>
        </p:grpSpPr>
        <p:sp>
          <p:nvSpPr>
            <p:cNvPr id="164" name="Google Shape;164;p18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58A6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57150" y="66675"/>
              <a:ext cx="573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6" name="Google Shape;166;p18"/>
            <p:cNvCxnSpPr/>
            <p:nvPr/>
          </p:nvCxnSpPr>
          <p:spPr>
            <a:xfrm>
              <a:off x="133350" y="161925"/>
              <a:ext cx="381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" name="Google Shape;167;p18"/>
            <p:cNvSpPr txBox="1"/>
            <p:nvPr/>
          </p:nvSpPr>
          <p:spPr>
            <a:xfrm>
              <a:off x="304800" y="0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Learnwithvarshhh</a:t>
              </a:r>
              <a:endParaRPr b="1" sz="935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" name="Google Shape;168;p18"/>
          <p:cNvGrpSpPr/>
          <p:nvPr/>
        </p:nvGrpSpPr>
        <p:grpSpPr>
          <a:xfrm>
            <a:off x="381000" y="1047750"/>
            <a:ext cx="4000500" cy="3619500"/>
            <a:chOff x="381000" y="1047750"/>
            <a:chExt cx="4000500" cy="3619500"/>
          </a:xfrm>
        </p:grpSpPr>
        <p:sp>
          <p:nvSpPr>
            <p:cNvPr id="169" name="Google Shape;169;p18"/>
            <p:cNvSpPr/>
            <p:nvPr/>
          </p:nvSpPr>
          <p:spPr>
            <a:xfrm>
              <a:off x="381000" y="1047750"/>
              <a:ext cx="4000500" cy="3619500"/>
            </a:xfrm>
            <a:prstGeom prst="roundRect">
              <a:avLst>
                <a:gd fmla="val 2105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p18"/>
            <p:cNvGrpSpPr/>
            <p:nvPr/>
          </p:nvGrpSpPr>
          <p:grpSpPr>
            <a:xfrm>
              <a:off x="542925" y="1190625"/>
              <a:ext cx="400200" cy="95400"/>
              <a:chOff x="66675" y="66675"/>
              <a:chExt cx="400200" cy="95400"/>
            </a:xfrm>
          </p:grpSpPr>
          <p:sp>
            <p:nvSpPr>
              <p:cNvPr id="171" name="Google Shape;171;p18"/>
              <p:cNvSpPr/>
              <p:nvPr/>
            </p:nvSpPr>
            <p:spPr>
              <a:xfrm>
                <a:off x="66675" y="66675"/>
                <a:ext cx="95400" cy="954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219075" y="66675"/>
                <a:ext cx="95400" cy="954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8"/>
              <p:cNvSpPr/>
              <p:nvPr/>
            </p:nvSpPr>
            <p:spPr>
              <a:xfrm>
                <a:off x="371475" y="66675"/>
                <a:ext cx="95400" cy="954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4" name="Google Shape;174;p18"/>
            <p:cNvSpPr/>
            <p:nvPr/>
          </p:nvSpPr>
          <p:spPr>
            <a:xfrm>
              <a:off x="381000" y="1314450"/>
              <a:ext cx="4000500" cy="9600"/>
            </a:xfrm>
            <a:prstGeom prst="rect">
              <a:avLst/>
            </a:prstGeom>
            <a:solidFill>
              <a:srgbClr val="2126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571500" y="14478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age </a:t>
              </a:r>
              <a:r>
                <a:rPr b="0" lang="en" sz="13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3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20</a:t>
              </a:r>
              <a:endParaRPr b="0" sz="13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price </a:t>
              </a:r>
              <a:r>
                <a:rPr b="0" lang="en" sz="13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3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99.5</a:t>
              </a:r>
              <a:endParaRPr b="0" sz="13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name </a:t>
              </a:r>
              <a:r>
                <a:rPr b="0" lang="en" sz="13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300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"Python"</a:t>
              </a:r>
              <a:endParaRPr b="0" sz="13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is_ready </a:t>
              </a:r>
              <a:r>
                <a:rPr b="0" lang="en" sz="13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300">
                  <a:solidFill>
                    <a:srgbClr val="FF7B72"/>
                  </a:solidFill>
                  <a:latin typeface="Fira Code"/>
                  <a:ea typeface="Fira Code"/>
                  <a:cs typeface="Fira Code"/>
                  <a:sym typeface="Fira Code"/>
                </a:rPr>
                <a:t>True</a:t>
              </a:r>
              <a:endParaRPr b="0" sz="13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3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type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(age))</a:t>
              </a:r>
              <a:endParaRPr b="0" sz="13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3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type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(price))</a:t>
              </a:r>
              <a:endParaRPr b="0" sz="13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3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type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(name))</a:t>
              </a:r>
              <a:endParaRPr b="0" sz="13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3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type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(is_ready))</a:t>
              </a:r>
              <a:endParaRPr b="0" sz="13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176" name="Google Shape;176;p18"/>
          <p:cNvSpPr txBox="1"/>
          <p:nvPr/>
        </p:nvSpPr>
        <p:spPr>
          <a:xfrm>
            <a:off x="4667250" y="1047750"/>
            <a:ext cx="4095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0" lang="en" sz="1300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type()</a:t>
            </a:r>
            <a:r>
              <a:rPr b="0" lang="en" sz="14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function checks and reveals a value's data type.</a:t>
            </a:r>
            <a:endParaRPr b="0" sz="14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7" name="Google Shape;177;p18"/>
          <p:cNvGrpSpPr/>
          <p:nvPr/>
        </p:nvGrpSpPr>
        <p:grpSpPr>
          <a:xfrm>
            <a:off x="4662488" y="1709738"/>
            <a:ext cx="4105200" cy="1914600"/>
            <a:chOff x="4662488" y="1709738"/>
            <a:chExt cx="4105200" cy="1914600"/>
          </a:xfrm>
        </p:grpSpPr>
        <p:pic>
          <p:nvPicPr>
            <p:cNvPr id="178" name="Google Shape;178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62488" y="1709738"/>
              <a:ext cx="4105200" cy="19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8"/>
            <p:cNvSpPr/>
            <p:nvPr/>
          </p:nvSpPr>
          <p:spPr>
            <a:xfrm>
              <a:off x="4667250" y="1714500"/>
              <a:ext cx="4095900" cy="228600"/>
            </a:xfrm>
            <a:prstGeom prst="roundRect">
              <a:avLst>
                <a:gd fmla="val 25000" name="adj"/>
              </a:avLst>
            </a:prstGeom>
            <a:solidFill>
              <a:srgbClr val="161B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0" name="Google Shape;180;p18"/>
            <p:cNvGrpSpPr/>
            <p:nvPr/>
          </p:nvGrpSpPr>
          <p:grpSpPr>
            <a:xfrm>
              <a:off x="4829175" y="1838325"/>
              <a:ext cx="400200" cy="95400"/>
              <a:chOff x="66675" y="66675"/>
              <a:chExt cx="400200" cy="95400"/>
            </a:xfrm>
          </p:grpSpPr>
          <p:sp>
            <p:nvSpPr>
              <p:cNvPr id="181" name="Google Shape;181;p18"/>
              <p:cNvSpPr/>
              <p:nvPr/>
            </p:nvSpPr>
            <p:spPr>
              <a:xfrm>
                <a:off x="66675" y="66675"/>
                <a:ext cx="95400" cy="954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8"/>
              <p:cNvSpPr/>
              <p:nvPr/>
            </p:nvSpPr>
            <p:spPr>
              <a:xfrm>
                <a:off x="219075" y="66675"/>
                <a:ext cx="95400" cy="954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8"/>
              <p:cNvSpPr/>
              <p:nvPr/>
            </p:nvSpPr>
            <p:spPr>
              <a:xfrm>
                <a:off x="371475" y="66675"/>
                <a:ext cx="95400" cy="954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4" name="Google Shape;184;p18"/>
            <p:cNvSpPr txBox="1"/>
            <p:nvPr/>
          </p:nvSpPr>
          <p:spPr>
            <a:xfrm>
              <a:off x="5334000" y="17335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Terminal Output</a:t>
              </a:r>
              <a:endParaRPr sz="900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4667250" y="1943100"/>
              <a:ext cx="4095900" cy="9600"/>
            </a:xfrm>
            <a:prstGeom prst="rect">
              <a:avLst/>
            </a:prstGeom>
            <a:solidFill>
              <a:srgbClr val="2126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4857750" y="2076450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&lt;class '</a:t>
              </a:r>
              <a:r>
                <a:rPr b="0" lang="en" sz="1300">
                  <a:solidFill>
                    <a:srgbClr val="F2CC60"/>
                  </a:solidFill>
                  <a:latin typeface="Fira Code"/>
                  <a:ea typeface="Fira Code"/>
                  <a:cs typeface="Fira Code"/>
                  <a:sym typeface="Fira Code"/>
                </a:rPr>
                <a:t>int</a:t>
              </a:r>
              <a:r>
                <a:rPr b="0" lang="en" sz="13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'&gt;</a:t>
              </a:r>
              <a:endParaRPr b="0" sz="13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&lt;class '</a:t>
              </a:r>
              <a:r>
                <a:rPr b="0" lang="en" sz="1300">
                  <a:solidFill>
                    <a:srgbClr val="F2CC60"/>
                  </a:solidFill>
                  <a:latin typeface="Fira Code"/>
                  <a:ea typeface="Fira Code"/>
                  <a:cs typeface="Fira Code"/>
                  <a:sym typeface="Fira Code"/>
                </a:rPr>
                <a:t>float</a:t>
              </a:r>
              <a:r>
                <a:rPr b="0" lang="en" sz="13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'&gt;</a:t>
              </a:r>
              <a:endParaRPr b="0" sz="13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&lt;class '</a:t>
              </a:r>
              <a:r>
                <a:rPr b="0" lang="en" sz="1300">
                  <a:solidFill>
                    <a:srgbClr val="F2CC60"/>
                  </a:solidFill>
                  <a:latin typeface="Fira Code"/>
                  <a:ea typeface="Fira Code"/>
                  <a:cs typeface="Fira Code"/>
                  <a:sym typeface="Fira Code"/>
                </a:rPr>
                <a:t>str</a:t>
              </a:r>
              <a:r>
                <a:rPr b="0" lang="en" sz="13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'&gt;</a:t>
              </a:r>
              <a:endParaRPr b="0" sz="13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&lt;class '</a:t>
              </a:r>
              <a:r>
                <a:rPr b="0" lang="en" sz="1300">
                  <a:solidFill>
                    <a:srgbClr val="F2CC60"/>
                  </a:solidFill>
                  <a:latin typeface="Fira Code"/>
                  <a:ea typeface="Fira Code"/>
                  <a:cs typeface="Fira Code"/>
                  <a:sym typeface="Fira Code"/>
                </a:rPr>
                <a:t>bool</a:t>
              </a:r>
              <a:r>
                <a:rPr b="0" lang="en" sz="13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'&gt;</a:t>
              </a:r>
              <a:endParaRPr b="0" sz="13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187" name="Google Shape;187;p18"/>
          <p:cNvGrpSpPr/>
          <p:nvPr/>
        </p:nvGrpSpPr>
        <p:grpSpPr>
          <a:xfrm>
            <a:off x="4667250" y="3762375"/>
            <a:ext cx="4095900" cy="904800"/>
            <a:chOff x="4667250" y="3762375"/>
            <a:chExt cx="4095900" cy="904800"/>
          </a:xfrm>
        </p:grpSpPr>
        <p:sp>
          <p:nvSpPr>
            <p:cNvPr id="188" name="Google Shape;188;p18"/>
            <p:cNvSpPr/>
            <p:nvPr/>
          </p:nvSpPr>
          <p:spPr>
            <a:xfrm>
              <a:off x="4667250" y="3762375"/>
              <a:ext cx="4095900" cy="904800"/>
            </a:xfrm>
            <a:prstGeom prst="roundRect">
              <a:avLst>
                <a:gd fmla="val 6315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4667250" y="3762375"/>
              <a:ext cx="47700" cy="904800"/>
            </a:xfrm>
            <a:prstGeom prst="rect">
              <a:avLst/>
            </a:prstGeom>
            <a:solidFill>
              <a:srgbClr val="F2CC6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4857750" y="3857625"/>
              <a:ext cx="3762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0" lang="en" sz="1300">
                  <a:solidFill>
                    <a:srgbClr val="F2CC60"/>
                  </a:solidFill>
                  <a:latin typeface="Fira Code"/>
                  <a:ea typeface="Fira Code"/>
                  <a:cs typeface="Fira Code"/>
                  <a:sym typeface="Fira Code"/>
                </a:rPr>
                <a:t>&lt;class&gt;</a:t>
              </a:r>
              <a:r>
                <a:rPr b="0" lang="en" sz="13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 output indicates the specific category Python assigns to the value.</a:t>
              </a:r>
              <a:endParaRPr b="0" sz="13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381000" y="333375"/>
            <a:ext cx="6667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Convert String Inputs to Numbers</a:t>
            </a:r>
            <a:endParaRPr b="1" sz="24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09625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19"/>
          <p:cNvGrpSpPr/>
          <p:nvPr/>
        </p:nvGrpSpPr>
        <p:grpSpPr>
          <a:xfrm>
            <a:off x="7010400" y="361950"/>
            <a:ext cx="1828800" cy="228600"/>
            <a:chOff x="0" y="0"/>
            <a:chExt cx="1828800" cy="228600"/>
          </a:xfrm>
        </p:grpSpPr>
        <p:sp>
          <p:nvSpPr>
            <p:cNvPr id="200" name="Google Shape;200;p19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58A6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57150" y="66675"/>
              <a:ext cx="573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2" name="Google Shape;202;p19"/>
            <p:cNvCxnSpPr/>
            <p:nvPr/>
          </p:nvCxnSpPr>
          <p:spPr>
            <a:xfrm>
              <a:off x="133350" y="161925"/>
              <a:ext cx="381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3" name="Google Shape;203;p19"/>
            <p:cNvSpPr txBox="1"/>
            <p:nvPr/>
          </p:nvSpPr>
          <p:spPr>
            <a:xfrm>
              <a:off x="304800" y="0"/>
              <a:ext cx="1524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Learnwithvarshhh</a:t>
              </a:r>
              <a:endParaRPr b="1" sz="11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4" name="Google Shape;204;p19"/>
          <p:cNvSpPr txBox="1"/>
          <p:nvPr/>
        </p:nvSpPr>
        <p:spPr>
          <a:xfrm>
            <a:off x="381000" y="1047750"/>
            <a:ext cx="39054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58A6FF"/>
                </a:solidFill>
                <a:highlight>
                  <a:srgbClr val="161B22"/>
                </a:highlight>
                <a:latin typeface="Inter"/>
                <a:ea typeface="Inter"/>
                <a:cs typeface="Inter"/>
                <a:sym typeface="Inter"/>
              </a:rPr>
              <a:t>Default Behavior</a:t>
            </a:r>
            <a:endParaRPr b="1" sz="1400">
              <a:solidFill>
                <a:srgbClr val="58A6FF"/>
              </a:solidFill>
              <a:highlight>
                <a:srgbClr val="161B22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E6EDF3"/>
                </a:solidFill>
                <a:highlight>
                  <a:srgbClr val="161B22"/>
                </a:highlight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0" lang="en" sz="1200">
                <a:solidFill>
                  <a:srgbClr val="D2A8FF"/>
                </a:solidFill>
                <a:highlight>
                  <a:srgbClr val="161B22"/>
                </a:highlight>
                <a:latin typeface="Fira Code"/>
                <a:ea typeface="Fira Code"/>
                <a:cs typeface="Fira Code"/>
                <a:sym typeface="Fira Code"/>
              </a:rPr>
              <a:t>input()</a:t>
            </a:r>
            <a:r>
              <a:rPr b="0" lang="en" sz="1300">
                <a:solidFill>
                  <a:srgbClr val="E6EDF3"/>
                </a:solidFill>
                <a:highlight>
                  <a:srgbClr val="161B22"/>
                </a:highlight>
                <a:latin typeface="Inter"/>
                <a:ea typeface="Inter"/>
                <a:cs typeface="Inter"/>
                <a:sym typeface="Inter"/>
              </a:rPr>
              <a:t> function </a:t>
            </a:r>
            <a:r>
              <a:rPr b="0" lang="en" sz="1300">
                <a:solidFill>
                  <a:srgbClr val="FF7B72"/>
                </a:solidFill>
                <a:highlight>
                  <a:srgbClr val="161B22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always</a:t>
            </a:r>
            <a:r>
              <a:rPr b="0" lang="en" sz="1300">
                <a:solidFill>
                  <a:srgbClr val="E6EDF3"/>
                </a:solidFill>
                <a:highlight>
                  <a:srgbClr val="161B22"/>
                </a:highlight>
                <a:latin typeface="Inter"/>
                <a:ea typeface="Inter"/>
                <a:cs typeface="Inter"/>
                <a:sym typeface="Inter"/>
              </a:rPr>
              <a:t> returns a string, even when the user enters digits.</a:t>
            </a:r>
            <a:endParaRPr b="0" sz="1300">
              <a:solidFill>
                <a:srgbClr val="E6EDF3"/>
              </a:solidFill>
              <a:highlight>
                <a:srgbClr val="161B22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FB950"/>
                </a:solidFill>
                <a:highlight>
                  <a:srgbClr val="161B22"/>
                </a:highlight>
                <a:latin typeface="Inter"/>
                <a:ea typeface="Inter"/>
                <a:cs typeface="Inter"/>
                <a:sym typeface="Inter"/>
              </a:rPr>
              <a:t>Performing Arithmetic</a:t>
            </a:r>
            <a:endParaRPr b="1" sz="1400">
              <a:solidFill>
                <a:srgbClr val="3FB950"/>
              </a:solidFill>
              <a:highlight>
                <a:srgbClr val="161B22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E6EDF3"/>
                </a:solidFill>
                <a:highlight>
                  <a:srgbClr val="161B22"/>
                </a:highlight>
                <a:latin typeface="Inter"/>
                <a:ea typeface="Inter"/>
                <a:cs typeface="Inter"/>
                <a:sym typeface="Inter"/>
              </a:rPr>
              <a:t>To perform math operations, convert the input explicitly using </a:t>
            </a:r>
            <a:r>
              <a:rPr b="0" lang="en" sz="1200">
                <a:solidFill>
                  <a:srgbClr val="F2CC60"/>
                </a:solidFill>
                <a:highlight>
                  <a:srgbClr val="161B22"/>
                </a:highlight>
                <a:latin typeface="Fira Code"/>
                <a:ea typeface="Fira Code"/>
                <a:cs typeface="Fira Code"/>
                <a:sym typeface="Fira Code"/>
              </a:rPr>
              <a:t>int()</a:t>
            </a:r>
            <a:r>
              <a:rPr b="0" lang="en" sz="1300">
                <a:solidFill>
                  <a:srgbClr val="E6EDF3"/>
                </a:solidFill>
                <a:highlight>
                  <a:srgbClr val="161B22"/>
                </a:highlight>
                <a:latin typeface="Inter"/>
                <a:ea typeface="Inter"/>
                <a:cs typeface="Inter"/>
                <a:sym typeface="Inter"/>
              </a:rPr>
              <a:t> for integers or </a:t>
            </a:r>
            <a:r>
              <a:rPr b="0" lang="en" sz="1200">
                <a:solidFill>
                  <a:srgbClr val="F2CC60"/>
                </a:solidFill>
                <a:highlight>
                  <a:srgbClr val="161B22"/>
                </a:highlight>
                <a:latin typeface="Fira Code"/>
                <a:ea typeface="Fira Code"/>
                <a:cs typeface="Fira Code"/>
                <a:sym typeface="Fira Code"/>
              </a:rPr>
              <a:t>float()</a:t>
            </a:r>
            <a:r>
              <a:rPr b="0" lang="en" sz="1300">
                <a:solidFill>
                  <a:srgbClr val="E6EDF3"/>
                </a:solidFill>
                <a:highlight>
                  <a:srgbClr val="161B22"/>
                </a:highlight>
                <a:latin typeface="Inter"/>
                <a:ea typeface="Inter"/>
                <a:cs typeface="Inter"/>
                <a:sym typeface="Inter"/>
              </a:rPr>
              <a:t> for decimals.</a:t>
            </a:r>
            <a:endParaRPr b="0" sz="1300">
              <a:solidFill>
                <a:srgbClr val="E6EDF3"/>
              </a:solidFill>
              <a:highlight>
                <a:srgbClr val="161B22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5" name="Google Shape;205;p19"/>
          <p:cNvGrpSpPr/>
          <p:nvPr/>
        </p:nvGrpSpPr>
        <p:grpSpPr>
          <a:xfrm>
            <a:off x="4572000" y="1047750"/>
            <a:ext cx="4191000" cy="3714900"/>
            <a:chOff x="0" y="0"/>
            <a:chExt cx="4191000" cy="3714900"/>
          </a:xfrm>
        </p:grpSpPr>
        <p:sp>
          <p:nvSpPr>
            <p:cNvPr id="206" name="Google Shape;206;p19"/>
            <p:cNvSpPr/>
            <p:nvPr/>
          </p:nvSpPr>
          <p:spPr>
            <a:xfrm>
              <a:off x="0" y="0"/>
              <a:ext cx="4191000" cy="3714900"/>
            </a:xfrm>
            <a:prstGeom prst="roundRect">
              <a:avLst>
                <a:gd fmla="val 2051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7" name="Google Shape;207;p19"/>
            <p:cNvGrpSpPr/>
            <p:nvPr/>
          </p:nvGrpSpPr>
          <p:grpSpPr>
            <a:xfrm>
              <a:off x="104775" y="85725"/>
              <a:ext cx="400200" cy="95400"/>
              <a:chOff x="66675" y="66675"/>
              <a:chExt cx="400200" cy="95400"/>
            </a:xfrm>
          </p:grpSpPr>
          <p:sp>
            <p:nvSpPr>
              <p:cNvPr id="208" name="Google Shape;208;p19"/>
              <p:cNvSpPr/>
              <p:nvPr/>
            </p:nvSpPr>
            <p:spPr>
              <a:xfrm>
                <a:off x="66675" y="66675"/>
                <a:ext cx="95400" cy="954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9"/>
              <p:cNvSpPr/>
              <p:nvPr/>
            </p:nvSpPr>
            <p:spPr>
              <a:xfrm>
                <a:off x="219075" y="66675"/>
                <a:ext cx="95400" cy="954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9"/>
              <p:cNvSpPr/>
              <p:nvPr/>
            </p:nvSpPr>
            <p:spPr>
              <a:xfrm>
                <a:off x="371475" y="66675"/>
                <a:ext cx="95400" cy="954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1" name="Google Shape;211;p19"/>
            <p:cNvSpPr txBox="1"/>
            <p:nvPr/>
          </p:nvSpPr>
          <p:spPr>
            <a:xfrm>
              <a:off x="571500" y="3810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main.py</a:t>
              </a:r>
              <a:endParaRPr b="0" sz="900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0" y="247650"/>
              <a:ext cx="4191000" cy="9600"/>
            </a:xfrm>
            <a:prstGeom prst="rect">
              <a:avLst/>
            </a:prstGeom>
            <a:solidFill>
              <a:srgbClr val="2126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152400" y="342900"/>
              <a:ext cx="38862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age 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203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input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203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"Enter your age: "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)</a:t>
              </a:r>
              <a:endParaRPr b="0" sz="1203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203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type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age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))</a:t>
              </a: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1" lang="en" sz="1203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# &lt;class 'str'&gt;</a:t>
              </a:r>
              <a:endParaRPr b="0" sz="1203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en" sz="1203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# Convert to int for math</a:t>
              </a:r>
              <a:endParaRPr b="0" sz="1203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num1 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203">
                  <a:solidFill>
                    <a:srgbClr val="F2CC60"/>
                  </a:solidFill>
                  <a:latin typeface="Fira Code"/>
                  <a:ea typeface="Fira Code"/>
                  <a:cs typeface="Fira Code"/>
                  <a:sym typeface="Fira Code"/>
                </a:rPr>
                <a:t>int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203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input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203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"Enter first number: "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))</a:t>
              </a:r>
              <a:endParaRPr b="0" sz="1203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num2 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203">
                  <a:solidFill>
                    <a:srgbClr val="F2CC60"/>
                  </a:solidFill>
                  <a:latin typeface="Fira Code"/>
                  <a:ea typeface="Fira Code"/>
                  <a:cs typeface="Fira Code"/>
                  <a:sym typeface="Fira Code"/>
                </a:rPr>
                <a:t>int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203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input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203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"Enter second number: "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))</a:t>
              </a:r>
              <a:endParaRPr b="0" sz="1203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result 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num1 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+</a:t>
              </a: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num2</a:t>
              </a:r>
              <a:endParaRPr b="0" sz="1203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203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"Result:"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,</a:t>
              </a: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result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)</a:t>
              </a:r>
              <a:endParaRPr b="0" sz="1203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203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type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203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result</a:t>
              </a:r>
              <a:r>
                <a:rPr b="0" lang="en" sz="1203">
                  <a:solidFill>
                    <a:srgbClr val="79C0FF"/>
                  </a:solidFill>
                  <a:latin typeface="Fira Code"/>
                  <a:ea typeface="Fira Code"/>
                  <a:cs typeface="Fira Code"/>
                  <a:sym typeface="Fira Code"/>
                </a:rPr>
                <a:t>))</a:t>
              </a:r>
              <a:endParaRPr b="0" sz="1203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pic>
          <p:nvPicPr>
            <p:cNvPr id="214" name="Google Shape;21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9538" y="2490788"/>
              <a:ext cx="3972000" cy="10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19"/>
            <p:cNvSpPr txBox="1"/>
            <p:nvPr/>
          </p:nvSpPr>
          <p:spPr>
            <a:xfrm>
              <a:off x="209550" y="2552700"/>
              <a:ext cx="37719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Terminal Output</a:t>
              </a:r>
              <a:endParaRPr b="0" sz="900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Enter your age: 25</a:t>
              </a:r>
              <a:endParaRPr b="0" sz="12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&lt;class 'str'&gt;</a:t>
              </a:r>
              <a:endParaRPr b="0" sz="1200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Result: 15</a:t>
              </a:r>
              <a:endParaRPr b="0" sz="12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&lt;class 'int'&gt;</a:t>
              </a:r>
              <a:endParaRPr b="0" sz="1200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381000" y="2857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Coding Challenge: </a:t>
            </a:r>
            <a:r>
              <a:rPr b="1" lang="en" sz="22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Build an Addition Program</a:t>
            </a:r>
            <a:endParaRPr b="1" sz="2200">
              <a:solidFill>
                <a:srgbClr val="58A6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3" name="Google Shape;223;p20"/>
          <p:cNvGrpSpPr/>
          <p:nvPr/>
        </p:nvGrpSpPr>
        <p:grpSpPr>
          <a:xfrm>
            <a:off x="381000" y="809625"/>
            <a:ext cx="4286400" cy="3095700"/>
            <a:chOff x="381000" y="809625"/>
            <a:chExt cx="4286400" cy="3095700"/>
          </a:xfrm>
        </p:grpSpPr>
        <p:sp>
          <p:nvSpPr>
            <p:cNvPr id="224" name="Google Shape;224;p20"/>
            <p:cNvSpPr/>
            <p:nvPr/>
          </p:nvSpPr>
          <p:spPr>
            <a:xfrm>
              <a:off x="381000" y="809625"/>
              <a:ext cx="4286400" cy="3095700"/>
            </a:xfrm>
            <a:prstGeom prst="roundRect">
              <a:avLst>
                <a:gd fmla="val 2461" name="adj"/>
              </a:avLst>
            </a:prstGeom>
            <a:solidFill>
              <a:srgbClr val="161B22"/>
            </a:solidFill>
            <a:ln cap="flat" cmpd="sng" w="14300">
              <a:solidFill>
                <a:srgbClr val="D2A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381000" y="809625"/>
              <a:ext cx="4286400" cy="400200"/>
            </a:xfrm>
            <a:prstGeom prst="roundRect">
              <a:avLst>
                <a:gd fmla="val 19047" name="adj"/>
              </a:avLst>
            </a:prstGeom>
            <a:solidFill>
              <a:srgbClr val="D2A8FF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571500" y="895350"/>
              <a:ext cx="3905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D2A8FF"/>
                  </a:solidFill>
                  <a:latin typeface="Inter"/>
                  <a:ea typeface="Inter"/>
                  <a:cs typeface="Inter"/>
                  <a:sym typeface="Inter"/>
                </a:rPr>
                <a:t>Challenge Requirements</a:t>
              </a:r>
              <a:endParaRPr b="1" sz="1400">
                <a:solidFill>
                  <a:srgbClr val="D2A8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7" name="Google Shape;227;p20"/>
            <p:cNvSpPr txBox="1"/>
            <p:nvPr/>
          </p:nvSpPr>
          <p:spPr>
            <a:xfrm>
              <a:off x="571500" y="1352550"/>
              <a:ext cx="39054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47625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58A6FF"/>
                </a:buClr>
                <a:buSzPts val="1400"/>
                <a:buAutoNum type="arabicPeriod"/>
              </a:pPr>
              <a:r>
                <a:rPr b="0" lang="en" sz="13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Take two numbers as input.</a:t>
              </a:r>
              <a:endParaRPr b="0" sz="13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58A6FF"/>
                </a:buClr>
                <a:buSzPts val="1400"/>
                <a:buAutoNum type="arabicPeriod"/>
              </a:pPr>
              <a:r>
                <a:rPr b="0" lang="en" sz="13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Convert them to integers.</a:t>
              </a:r>
              <a:endParaRPr b="0" sz="13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58A6FF"/>
                </a:buClr>
                <a:buSzPts val="1400"/>
                <a:buAutoNum type="arabicPeriod"/>
              </a:pPr>
              <a:r>
                <a:rPr b="0" lang="en" sz="13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Add them and store in a variable.</a:t>
              </a:r>
              <a:endParaRPr b="0" sz="13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58A6FF"/>
                </a:buClr>
                <a:buSzPts val="1400"/>
                <a:buAutoNum type="arabicPeriod"/>
              </a:pPr>
              <a:r>
                <a:rPr b="0" lang="en" sz="13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Print result.</a:t>
              </a:r>
              <a:endParaRPr b="0" sz="13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58A6FF"/>
                </a:buClr>
                <a:buSzPts val="1400"/>
                <a:buAutoNum type="arabicPeriod"/>
              </a:pPr>
              <a:r>
                <a:rPr b="0" lang="en" sz="13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Use </a:t>
              </a:r>
              <a:r>
                <a:rPr b="0" lang="en" sz="12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type()</a:t>
              </a:r>
              <a:r>
                <a:rPr b="0" lang="en" sz="13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 to identify final result's data type.</a:t>
              </a:r>
              <a:endParaRPr b="0" sz="13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8" name="Google Shape;228;p20"/>
          <p:cNvGrpSpPr/>
          <p:nvPr/>
        </p:nvGrpSpPr>
        <p:grpSpPr>
          <a:xfrm>
            <a:off x="4857750" y="809625"/>
            <a:ext cx="3905400" cy="3095700"/>
            <a:chOff x="4857750" y="809625"/>
            <a:chExt cx="3905400" cy="3095700"/>
          </a:xfrm>
        </p:grpSpPr>
        <p:sp>
          <p:nvSpPr>
            <p:cNvPr id="229" name="Google Shape;229;p20"/>
            <p:cNvSpPr/>
            <p:nvPr/>
          </p:nvSpPr>
          <p:spPr>
            <a:xfrm>
              <a:off x="4857750" y="809625"/>
              <a:ext cx="3905400" cy="3095700"/>
            </a:xfrm>
            <a:prstGeom prst="roundRect">
              <a:avLst>
                <a:gd fmla="val 2461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0" name="Google Shape;230;p20"/>
            <p:cNvGrpSpPr/>
            <p:nvPr/>
          </p:nvGrpSpPr>
          <p:grpSpPr>
            <a:xfrm>
              <a:off x="5019675" y="952500"/>
              <a:ext cx="400200" cy="95400"/>
              <a:chOff x="66675" y="66675"/>
              <a:chExt cx="400200" cy="95400"/>
            </a:xfrm>
          </p:grpSpPr>
          <p:sp>
            <p:nvSpPr>
              <p:cNvPr id="231" name="Google Shape;231;p20"/>
              <p:cNvSpPr/>
              <p:nvPr/>
            </p:nvSpPr>
            <p:spPr>
              <a:xfrm>
                <a:off x="66675" y="66675"/>
                <a:ext cx="95400" cy="954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0"/>
              <p:cNvSpPr/>
              <p:nvPr/>
            </p:nvSpPr>
            <p:spPr>
              <a:xfrm>
                <a:off x="219075" y="66675"/>
                <a:ext cx="95400" cy="954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0"/>
              <p:cNvSpPr/>
              <p:nvPr/>
            </p:nvSpPr>
            <p:spPr>
              <a:xfrm>
                <a:off x="371475" y="66675"/>
                <a:ext cx="95400" cy="954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4" name="Google Shape;234;p20"/>
            <p:cNvSpPr txBox="1"/>
            <p:nvPr/>
          </p:nvSpPr>
          <p:spPr>
            <a:xfrm>
              <a:off x="5524500" y="857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Sample Terminal Output</a:t>
              </a:r>
              <a:endParaRPr b="0" sz="1000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4857750" y="1095375"/>
              <a:ext cx="3905400" cy="9600"/>
            </a:xfrm>
            <a:prstGeom prst="rect">
              <a:avLst/>
            </a:prstGeom>
            <a:solidFill>
              <a:srgbClr val="2126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5000625" y="1238250"/>
              <a:ext cx="3619500" cy="2476500"/>
            </a:xfrm>
            <a:prstGeom prst="roundRect">
              <a:avLst>
                <a:gd fmla="val 1538" name="adj"/>
              </a:avLst>
            </a:prstGeom>
            <a:solidFill>
              <a:srgbClr val="000000">
                <a:alpha val="7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5143500" y="1381125"/>
              <a:ext cx="3333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Enter first number: 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15</a:t>
              </a:r>
              <a:endParaRPr b="0" sz="1300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8B949E"/>
                  </a:solidFill>
                  <a:latin typeface="Fira Code"/>
                  <a:ea typeface="Fira Code"/>
                  <a:cs typeface="Fira Code"/>
                  <a:sym typeface="Fira Code"/>
                </a:rPr>
                <a:t>Enter second number: </a:t>
              </a:r>
              <a:r>
                <a:rPr b="0" lang="en" sz="13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25</a:t>
              </a:r>
              <a:endParaRPr b="0" sz="1300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Result: 40</a:t>
              </a:r>
              <a:endParaRPr b="0" sz="13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" sz="13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&lt;class 'int'&gt;</a:t>
              </a:r>
              <a:endParaRPr b="0" sz="13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238" name="Google Shape;238;p20"/>
          <p:cNvGrpSpPr/>
          <p:nvPr/>
        </p:nvGrpSpPr>
        <p:grpSpPr>
          <a:xfrm>
            <a:off x="381000" y="4048125"/>
            <a:ext cx="8382000" cy="523800"/>
            <a:chOff x="381000" y="4048125"/>
            <a:chExt cx="8382000" cy="523800"/>
          </a:xfrm>
        </p:grpSpPr>
        <p:sp>
          <p:nvSpPr>
            <p:cNvPr id="239" name="Google Shape;239;p20"/>
            <p:cNvSpPr/>
            <p:nvPr/>
          </p:nvSpPr>
          <p:spPr>
            <a:xfrm>
              <a:off x="381000" y="4048125"/>
              <a:ext cx="8382000" cy="523800"/>
            </a:xfrm>
            <a:prstGeom prst="roundRect">
              <a:avLst>
                <a:gd fmla="val 10909" name="adj"/>
              </a:avLst>
            </a:prstGeom>
            <a:solidFill>
              <a:srgbClr val="161B22"/>
            </a:solidFill>
            <a:ln cap="flat" cmpd="sng" w="9525">
              <a:solidFill>
                <a:srgbClr val="F2CC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381000" y="4048125"/>
              <a:ext cx="57300" cy="523800"/>
            </a:xfrm>
            <a:prstGeom prst="roundRect">
              <a:avLst>
                <a:gd fmla="val 33333" name="adj"/>
              </a:avLst>
            </a:prstGeom>
            <a:solidFill>
              <a:srgbClr val="F2CC6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571500" y="411480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2CC60"/>
                  </a:solidFill>
                  <a:latin typeface="Inter"/>
                  <a:ea typeface="Inter"/>
                  <a:cs typeface="Inter"/>
                  <a:sym typeface="Inter"/>
                </a:rPr>
                <a:t>💡 Hint:</a:t>
              </a:r>
              <a:r>
                <a:rPr b="0" lang="en" sz="13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 Wrap your </a:t>
              </a:r>
              <a:r>
                <a:rPr b="0" lang="en" sz="12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input()</a:t>
              </a:r>
              <a:r>
                <a:rPr b="0" lang="en" sz="13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 function inside an </a:t>
              </a:r>
              <a:r>
                <a:rPr b="0" lang="en" sz="12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int()</a:t>
              </a:r>
              <a:r>
                <a:rPr b="0" lang="en" sz="13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 function. Pause the video and try it yourself!</a:t>
              </a:r>
              <a:endParaRPr b="0" sz="13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2" name="Google Shape;242;p20"/>
          <p:cNvGrpSpPr/>
          <p:nvPr/>
        </p:nvGrpSpPr>
        <p:grpSpPr>
          <a:xfrm>
            <a:off x="7239000" y="4714875"/>
            <a:ext cx="1828800" cy="228600"/>
            <a:chOff x="0" y="0"/>
            <a:chExt cx="1828800" cy="228600"/>
          </a:xfrm>
        </p:grpSpPr>
        <p:sp>
          <p:nvSpPr>
            <p:cNvPr id="243" name="Google Shape;243;p20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58A6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57150" y="66675"/>
              <a:ext cx="573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5" name="Google Shape;245;p20"/>
            <p:cNvCxnSpPr/>
            <p:nvPr/>
          </p:nvCxnSpPr>
          <p:spPr>
            <a:xfrm>
              <a:off x="133350" y="161925"/>
              <a:ext cx="381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6" name="Google Shape;246;p20"/>
            <p:cNvSpPr txBox="1"/>
            <p:nvPr/>
          </p:nvSpPr>
          <p:spPr>
            <a:xfrm>
              <a:off x="304800" y="0"/>
              <a:ext cx="1524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Learnwithvarshhh</a:t>
              </a:r>
              <a:endParaRPr b="1" sz="11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381000" y="238125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Final Challenge, GitHub Resources and Next Video</a:t>
            </a:r>
            <a:endParaRPr b="1" sz="2000">
              <a:solidFill>
                <a:srgbClr val="E6ED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3" name="Google Shape;253;p21"/>
          <p:cNvGrpSpPr/>
          <p:nvPr/>
        </p:nvGrpSpPr>
        <p:grpSpPr>
          <a:xfrm>
            <a:off x="381000" y="666750"/>
            <a:ext cx="4572000" cy="2667000"/>
            <a:chOff x="0" y="0"/>
            <a:chExt cx="4572000" cy="2667000"/>
          </a:xfrm>
        </p:grpSpPr>
        <p:sp>
          <p:nvSpPr>
            <p:cNvPr id="254" name="Google Shape;254;p21"/>
            <p:cNvSpPr/>
            <p:nvPr/>
          </p:nvSpPr>
          <p:spPr>
            <a:xfrm>
              <a:off x="0" y="0"/>
              <a:ext cx="4572000" cy="2667000"/>
            </a:xfrm>
            <a:prstGeom prst="roundRect">
              <a:avLst>
                <a:gd fmla="val 2857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5" name="Google Shape;255;p21"/>
            <p:cNvGrpSpPr/>
            <p:nvPr/>
          </p:nvGrpSpPr>
          <p:grpSpPr>
            <a:xfrm>
              <a:off x="142875" y="104775"/>
              <a:ext cx="400200" cy="95400"/>
              <a:chOff x="66675" y="66675"/>
              <a:chExt cx="400200" cy="95400"/>
            </a:xfrm>
          </p:grpSpPr>
          <p:sp>
            <p:nvSpPr>
              <p:cNvPr id="256" name="Google Shape;256;p21"/>
              <p:cNvSpPr/>
              <p:nvPr/>
            </p:nvSpPr>
            <p:spPr>
              <a:xfrm>
                <a:off x="66675" y="66675"/>
                <a:ext cx="95400" cy="954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1"/>
              <p:cNvSpPr/>
              <p:nvPr/>
            </p:nvSpPr>
            <p:spPr>
              <a:xfrm>
                <a:off x="219075" y="66675"/>
                <a:ext cx="95400" cy="954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371475" y="66675"/>
                <a:ext cx="95400" cy="954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59" name="Google Shape;259;p21"/>
            <p:cNvCxnSpPr/>
            <p:nvPr/>
          </p:nvCxnSpPr>
          <p:spPr>
            <a:xfrm>
              <a:off x="0" y="266700"/>
              <a:ext cx="457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0" name="Google Shape;260;p21"/>
            <p:cNvSpPr txBox="1"/>
            <p:nvPr/>
          </p:nvSpPr>
          <p:spPr>
            <a:xfrm>
              <a:off x="152400" y="342900"/>
              <a:ext cx="42672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mark1 </a:t>
              </a:r>
              <a:r>
                <a:rPr b="0" lang="en" sz="11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1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int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1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input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100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"Enter marks for Subject 1: "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))</a:t>
              </a:r>
              <a:endParaRPr b="0" sz="11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mark2 </a:t>
              </a:r>
              <a:r>
                <a:rPr b="0" lang="en" sz="11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1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int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1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input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100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"Enter marks for Subject 2: "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))</a:t>
              </a:r>
              <a:endParaRPr b="0" sz="11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total </a:t>
              </a:r>
              <a:r>
                <a:rPr b="0" lang="en" sz="11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mark1 </a:t>
              </a:r>
              <a:r>
                <a:rPr b="0" lang="en" sz="11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+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mark2</a:t>
              </a:r>
              <a:endParaRPr b="0" sz="11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average </a:t>
              </a:r>
              <a:r>
                <a:rPr b="0" lang="en" sz="11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total </a:t>
              </a:r>
              <a:r>
                <a:rPr b="0" lang="en" sz="11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/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lang="en" sz="110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2</a:t>
              </a:r>
              <a:endParaRPr b="0" sz="11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100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"Total:"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, total)</a:t>
              </a:r>
              <a:endParaRPr b="0" sz="11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100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"Average:"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, average)</a:t>
              </a:r>
              <a:endParaRPr b="0" sz="11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100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"Total data type:"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, </a:t>
              </a:r>
              <a:r>
                <a:rPr b="0" lang="en" sz="11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type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(total))</a:t>
              </a:r>
              <a:endParaRPr b="0" sz="11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1100">
                  <a:solidFill>
                    <a:srgbClr val="A5D6FF"/>
                  </a:solidFill>
                  <a:latin typeface="Fira Code"/>
                  <a:ea typeface="Fira Code"/>
                  <a:cs typeface="Fira Code"/>
                  <a:sym typeface="Fira Code"/>
                </a:rPr>
                <a:t>"Average data type:"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, </a:t>
              </a:r>
              <a:r>
                <a:rPr b="0" lang="en" sz="1100">
                  <a:solidFill>
                    <a:srgbClr val="D2A8FF"/>
                  </a:solidFill>
                  <a:latin typeface="Fira Code"/>
                  <a:ea typeface="Fira Code"/>
                  <a:cs typeface="Fira Code"/>
                  <a:sym typeface="Fira Code"/>
                </a:rPr>
                <a:t>type</a:t>
              </a:r>
              <a:r>
                <a:rPr b="0" lang="en" sz="1100">
                  <a:solidFill>
                    <a:srgbClr val="E6EDF3"/>
                  </a:solidFill>
                  <a:latin typeface="Fira Code"/>
                  <a:ea typeface="Fira Code"/>
                  <a:cs typeface="Fira Code"/>
                  <a:sym typeface="Fira Code"/>
                </a:rPr>
                <a:t>(average))</a:t>
              </a:r>
              <a:endParaRPr b="0" sz="1100">
                <a:solidFill>
                  <a:srgbClr val="E6EDF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261" name="Google Shape;261;p21"/>
          <p:cNvGrpSpPr/>
          <p:nvPr/>
        </p:nvGrpSpPr>
        <p:grpSpPr>
          <a:xfrm>
            <a:off x="5143500" y="666750"/>
            <a:ext cx="3619500" cy="2667150"/>
            <a:chOff x="0" y="0"/>
            <a:chExt cx="3619500" cy="2667150"/>
          </a:xfrm>
        </p:grpSpPr>
        <p:sp>
          <p:nvSpPr>
            <p:cNvPr id="262" name="Google Shape;262;p21"/>
            <p:cNvSpPr/>
            <p:nvPr/>
          </p:nvSpPr>
          <p:spPr>
            <a:xfrm>
              <a:off x="0" y="0"/>
              <a:ext cx="3619500" cy="1857300"/>
            </a:xfrm>
            <a:prstGeom prst="roundRect">
              <a:avLst>
                <a:gd fmla="val 3076" name="adj"/>
              </a:avLst>
            </a:prstGeom>
            <a:solidFill>
              <a:srgbClr val="000000"/>
            </a:solidFill>
            <a:ln cap="flat" cmpd="sng" w="9525">
              <a:solidFill>
                <a:srgbClr val="3FB9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1"/>
            <p:cNvSpPr txBox="1"/>
            <p:nvPr/>
          </p:nvSpPr>
          <p:spPr>
            <a:xfrm>
              <a:off x="152400" y="133350"/>
              <a:ext cx="33147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Expected output (inputs 80 and 91):</a:t>
              </a:r>
              <a:endParaRPr b="1" sz="10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Total: 171</a:t>
              </a:r>
              <a:endParaRPr b="0" sz="11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Average: 85.5</a:t>
              </a:r>
              <a:endParaRPr b="0" sz="11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Total data type: &lt;class 'int'&gt;</a:t>
              </a:r>
              <a:endParaRPr b="0" sz="11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FB950"/>
                  </a:solidFill>
                  <a:latin typeface="Fira Code"/>
                  <a:ea typeface="Fira Code"/>
                  <a:cs typeface="Fira Code"/>
                  <a:sym typeface="Fira Code"/>
                </a:rPr>
                <a:t>Average data type: &lt;class 'float'&gt;</a:t>
              </a:r>
              <a:endParaRPr b="0" sz="1100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0" y="2000250"/>
              <a:ext cx="3619500" cy="666900"/>
            </a:xfrm>
            <a:prstGeom prst="roundRect">
              <a:avLst>
                <a:gd fmla="val 5714" name="adj"/>
              </a:avLst>
            </a:prstGeom>
            <a:solidFill>
              <a:srgbClr val="161B22"/>
            </a:solidFill>
            <a:ln cap="flat" cmpd="sng" w="9525">
              <a:solidFill>
                <a:srgbClr val="F2CC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0" y="2000250"/>
              <a:ext cx="47700" cy="666900"/>
            </a:xfrm>
            <a:prstGeom prst="rect">
              <a:avLst/>
            </a:prstGeom>
            <a:solidFill>
              <a:srgbClr val="F2CC6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1"/>
            <p:cNvSpPr txBox="1"/>
            <p:nvPr/>
          </p:nvSpPr>
          <p:spPr>
            <a:xfrm>
              <a:off x="152400" y="2076450"/>
              <a:ext cx="33528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2CC60"/>
                  </a:solidFill>
                  <a:latin typeface="Inter"/>
                  <a:ea typeface="Inter"/>
                  <a:cs typeface="Inter"/>
                  <a:sym typeface="Inter"/>
                </a:rPr>
                <a:t>Note:</a:t>
              </a:r>
              <a:endParaRPr b="1" sz="1100">
                <a:solidFill>
                  <a:srgbClr val="F2CC6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0" lang="en" sz="105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/</a:t>
              </a:r>
              <a:r>
                <a:rPr b="0" lang="en" sz="105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 operator always produces a float in Python.</a:t>
              </a:r>
              <a:endParaRPr b="0" sz="10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7" name="Google Shape;267;p21"/>
          <p:cNvGrpSpPr/>
          <p:nvPr/>
        </p:nvGrpSpPr>
        <p:grpSpPr>
          <a:xfrm>
            <a:off x="381000" y="3476625"/>
            <a:ext cx="4000500" cy="1095300"/>
            <a:chOff x="0" y="0"/>
            <a:chExt cx="4000500" cy="1095300"/>
          </a:xfrm>
        </p:grpSpPr>
        <p:sp>
          <p:nvSpPr>
            <p:cNvPr id="268" name="Google Shape;268;p21"/>
            <p:cNvSpPr/>
            <p:nvPr/>
          </p:nvSpPr>
          <p:spPr>
            <a:xfrm>
              <a:off x="0" y="0"/>
              <a:ext cx="4000500" cy="1095300"/>
            </a:xfrm>
            <a:prstGeom prst="roundRect">
              <a:avLst>
                <a:gd fmla="val 6956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58A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 txBox="1"/>
            <p:nvPr/>
          </p:nvSpPr>
          <p:spPr>
            <a:xfrm>
              <a:off x="190500" y="133350"/>
              <a:ext cx="36195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58A6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What's Next?</a:t>
              </a:r>
              <a:endParaRPr b="0" sz="1300">
                <a:solidFill>
                  <a:srgbClr val="58A6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Topic: Python Operators</a:t>
              </a:r>
              <a:endParaRPr b="1" sz="11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Get ready to write more powerful Python programs!</a:t>
              </a:r>
              <a:endParaRPr b="0" sz="105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1" name="Google Shape;271;p21"/>
          <p:cNvGrpSpPr/>
          <p:nvPr/>
        </p:nvGrpSpPr>
        <p:grpSpPr>
          <a:xfrm>
            <a:off x="4572000" y="3476625"/>
            <a:ext cx="4191000" cy="1095300"/>
            <a:chOff x="0" y="0"/>
            <a:chExt cx="4191000" cy="1095300"/>
          </a:xfrm>
        </p:grpSpPr>
        <p:sp>
          <p:nvSpPr>
            <p:cNvPr id="272" name="Google Shape;272;p21"/>
            <p:cNvSpPr/>
            <p:nvPr/>
          </p:nvSpPr>
          <p:spPr>
            <a:xfrm>
              <a:off x="0" y="0"/>
              <a:ext cx="4191000" cy="1095300"/>
            </a:xfrm>
            <a:prstGeom prst="roundRect">
              <a:avLst>
                <a:gd fmla="val 6956" name="adj"/>
              </a:avLst>
            </a:prstGeom>
            <a:solidFill>
              <a:srgbClr val="161B22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0" y="0"/>
              <a:ext cx="4191000" cy="38100"/>
            </a:xfrm>
            <a:prstGeom prst="roundRect">
              <a:avLst>
                <a:gd fmla="val 50000" name="adj"/>
              </a:avLst>
            </a:prstGeom>
            <a:solidFill>
              <a:srgbClr val="D2A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 txBox="1"/>
            <p:nvPr/>
          </p:nvSpPr>
          <p:spPr>
            <a:xfrm>
              <a:off x="190500" y="133350"/>
              <a:ext cx="38100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D2A8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Get Your Learning Materials on GitHub</a:t>
              </a:r>
              <a:endParaRPr b="0" sz="1300">
                <a:solidFill>
                  <a:srgbClr val="D2A8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All materials are on my GitHub! Search for </a:t>
              </a:r>
              <a:r>
                <a:rPr b="0" lang="en" sz="1050">
                  <a:solidFill>
                    <a:srgbClr val="F2CC6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Python Series</a:t>
              </a:r>
              <a:r>
                <a:rPr b="0" lang="en" sz="1050">
                  <a:solidFill>
                    <a:srgbClr val="E6EDF3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GitHub: </a:t>
              </a:r>
              <a:r>
                <a:rPr lang="en" sz="1050">
                  <a:solidFill>
                    <a:srgbClr val="58A6FF"/>
                  </a:solidFill>
                  <a:latin typeface="Fira Code"/>
                  <a:ea typeface="Fira Code"/>
                  <a:cs typeface="Fira Code"/>
                  <a:sym typeface="Fira Code"/>
                </a:rPr>
                <a:t>https://github.com/Varshh-hub/PYTHON-SERIES</a:t>
              </a:r>
              <a:endParaRPr b="0" sz="1050">
                <a:solidFill>
                  <a:srgbClr val="58A6FF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275" name="Google Shape;275;p21"/>
          <p:cNvGrpSpPr/>
          <p:nvPr/>
        </p:nvGrpSpPr>
        <p:grpSpPr>
          <a:xfrm>
            <a:off x="7239000" y="4695825"/>
            <a:ext cx="1771650" cy="228600"/>
            <a:chOff x="0" y="-19050"/>
            <a:chExt cx="1771650" cy="228600"/>
          </a:xfrm>
        </p:grpSpPr>
        <p:sp>
          <p:nvSpPr>
            <p:cNvPr id="276" name="Google Shape;276;p21"/>
            <p:cNvSpPr/>
            <p:nvPr/>
          </p:nvSpPr>
          <p:spPr>
            <a:xfrm>
              <a:off x="0" y="0"/>
              <a:ext cx="190500" cy="190500"/>
            </a:xfrm>
            <a:prstGeom prst="roundRect">
              <a:avLst>
                <a:gd fmla="val 20000" name="adj"/>
              </a:avLst>
            </a:prstGeom>
            <a:solidFill>
              <a:srgbClr val="58A6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47625" y="57150"/>
              <a:ext cx="477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430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8" name="Google Shape;278;p21"/>
            <p:cNvCxnSpPr/>
            <p:nvPr/>
          </p:nvCxnSpPr>
          <p:spPr>
            <a:xfrm>
              <a:off x="114300" y="133350"/>
              <a:ext cx="28500" cy="0"/>
            </a:xfrm>
            <a:prstGeom prst="straightConnector1">
              <a:avLst/>
            </a:prstGeom>
            <a:solidFill>
              <a:srgbClr val="FFFFFF"/>
            </a:solidFill>
            <a:ln cap="rnd" cmpd="sng" w="14300">
              <a:solidFill>
                <a:srgbClr val="58A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9" name="Google Shape;279;p21"/>
            <p:cNvSpPr txBox="1"/>
            <p:nvPr/>
          </p:nvSpPr>
          <p:spPr>
            <a:xfrm>
              <a:off x="247650" y="-19050"/>
              <a:ext cx="1524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Learnwithvarshhh</a:t>
              </a:r>
              <a:endParaRPr b="1" sz="10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