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 Mono Medium"/>
      <p:regular r:id="rId14"/>
      <p:bold r:id="rId15"/>
      <p:italic r:id="rId16"/>
      <p:boldItalic r:id="rId17"/>
    </p:embeddedFont>
    <p:embeddedFont>
      <p:font typeface="Roboto Mono SemiBold"/>
      <p:regular r:id="rId18"/>
      <p:bold r:id="rId19"/>
      <p:italic r:id="rId20"/>
      <p:boldItalic r:id="rId21"/>
    </p:embeddedFont>
    <p:embeddedFont>
      <p:font typeface="Inter SemiBold"/>
      <p:regular r:id="rId22"/>
      <p:bold r:id="rId23"/>
      <p:italic r:id="rId24"/>
      <p:boldItalic r:id="rId25"/>
    </p:embeddedFont>
    <p:embeddedFont>
      <p:font typeface="Inter"/>
      <p:bold r:id="rId26"/>
      <p:boldItalic r:id="rId27"/>
    </p:embeddedFont>
    <p:embeddedFont>
      <p:font typeface="Space Grotesk SemiBold"/>
      <p:regular r:id="rId28"/>
      <p:bold r:id="rId29"/>
    </p:embeddedFont>
    <p:embeddedFont>
      <p:font typeface="Roboto Mono"/>
      <p:bold r:id="rId30"/>
      <p:boldItalic r:id="rId31"/>
    </p:embeddedFont>
    <p:embeddedFont>
      <p:font typeface="Space Grotesk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SemiBold-italic.fntdata"/><Relationship Id="rId22" Type="http://schemas.openxmlformats.org/officeDocument/2006/relationships/font" Target="fonts/InterSemiBold-regular.fntdata"/><Relationship Id="rId21" Type="http://schemas.openxmlformats.org/officeDocument/2006/relationships/font" Target="fonts/RobotoMonoSemiBold-boldItalic.fntdata"/><Relationship Id="rId24" Type="http://schemas.openxmlformats.org/officeDocument/2006/relationships/font" Target="fonts/InterSemiBold-italic.fntdata"/><Relationship Id="rId23" Type="http://schemas.openxmlformats.org/officeDocument/2006/relationships/font" Target="fonts/Inter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.fntdata"/><Relationship Id="rId25" Type="http://schemas.openxmlformats.org/officeDocument/2006/relationships/font" Target="fonts/InterSemiBold-boldItalic.fntdata"/><Relationship Id="rId28" Type="http://schemas.openxmlformats.org/officeDocument/2006/relationships/font" Target="fonts/SpaceGroteskSemiBold-regular.fntdata"/><Relationship Id="rId27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paceGrotesk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SpaceGrotesk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obotoMonoMedium-bold.fntdata"/><Relationship Id="rId14" Type="http://schemas.openxmlformats.org/officeDocument/2006/relationships/font" Target="fonts/RobotoMonoMedium-regular.fntdata"/><Relationship Id="rId17" Type="http://schemas.openxmlformats.org/officeDocument/2006/relationships/font" Target="fonts/RobotoMonoMedium-boldItalic.fntdata"/><Relationship Id="rId16" Type="http://schemas.openxmlformats.org/officeDocument/2006/relationships/font" Target="fonts/RobotoMonoMedium-italic.fntdata"/><Relationship Id="rId19" Type="http://schemas.openxmlformats.org/officeDocument/2006/relationships/font" Target="fonts/RobotoMonoSemiBold-bold.fntdata"/><Relationship Id="rId18" Type="http://schemas.openxmlformats.org/officeDocument/2006/relationships/font" Target="fonts/RobotoMono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4d95681809af9042_2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4d95681809af9042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4d95681809af9042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h4d95681809af9042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4d95681809af9042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h4d95681809af9042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h4d95681809af9042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h4d95681809af9042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h4d95681809af9042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h4d95681809af9042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h4d95681809af9042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h4d95681809af9042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h4d95681809af9042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h4d95681809af9042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h4d95681809af9042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h4d95681809af9042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4d95681809af9042_14_0)">
  <p:cSld name="Generated (h4d95681809af9042_14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8382000" y="381000"/>
            <a:ext cx="228600" cy="228600"/>
            <a:chOff x="0" y="0"/>
            <a:chExt cx="228600" cy="228600"/>
          </a:xfrm>
        </p:grpSpPr>
        <p:sp>
          <p:nvSpPr>
            <p:cNvPr id="56" name="Google Shape;56;p14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0055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4"/>
            <p:cNvSpPr/>
            <p:nvPr/>
          </p:nvSpPr>
          <p:spPr>
            <a:xfrm>
              <a:off x="76200" y="76200"/>
              <a:ext cx="152400" cy="1524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" name="Google Shape;58;p14"/>
          <p:cNvGrpSpPr/>
          <p:nvPr/>
        </p:nvGrpSpPr>
        <p:grpSpPr>
          <a:xfrm>
            <a:off x="571500" y="619125"/>
            <a:ext cx="4191000" cy="3400575"/>
            <a:chOff x="0" y="0"/>
            <a:chExt cx="4191000" cy="3400575"/>
          </a:xfrm>
        </p:grpSpPr>
        <p:sp>
          <p:nvSpPr>
            <p:cNvPr id="59" name="Google Shape;59;p14"/>
            <p:cNvSpPr txBox="1"/>
            <p:nvPr/>
          </p:nvSpPr>
          <p:spPr>
            <a:xfrm>
              <a:off x="0" y="0"/>
              <a:ext cx="4191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55FF"/>
                  </a:solidFill>
                  <a:latin typeface="Inter"/>
                  <a:ea typeface="Inter"/>
                  <a:cs typeface="Inter"/>
                  <a:sym typeface="Inter"/>
                </a:rPr>
                <a:t>PYTHON DATA TYPES</a:t>
              </a:r>
              <a:endParaRPr b="1" sz="1000">
                <a:solidFill>
                  <a:srgbClr val="0055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0" name="Google Shape;60;p14"/>
            <p:cNvSpPr txBox="1"/>
            <p:nvPr/>
          </p:nvSpPr>
          <p:spPr>
            <a:xfrm>
              <a:off x="0" y="285750"/>
              <a:ext cx="4191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945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Python Type Conversion</a:t>
              </a:r>
              <a:endParaRPr b="1" sz="2945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grpSp>
          <p:nvGrpSpPr>
            <p:cNvPr id="61" name="Google Shape;61;p14"/>
            <p:cNvGrpSpPr/>
            <p:nvPr/>
          </p:nvGrpSpPr>
          <p:grpSpPr>
            <a:xfrm>
              <a:off x="0" y="1333500"/>
              <a:ext cx="2609850" cy="304800"/>
              <a:chOff x="0" y="0"/>
              <a:chExt cx="2609850" cy="304800"/>
            </a:xfrm>
          </p:grpSpPr>
          <p:grpSp>
            <p:nvGrpSpPr>
              <p:cNvPr id="62" name="Google Shape;62;p14"/>
              <p:cNvGrpSpPr/>
              <p:nvPr/>
            </p:nvGrpSpPr>
            <p:grpSpPr>
              <a:xfrm>
                <a:off x="0" y="0"/>
                <a:ext cx="762000" cy="304800"/>
                <a:chOff x="0" y="0"/>
                <a:chExt cx="762000" cy="304800"/>
              </a:xfrm>
            </p:grpSpPr>
            <p:sp>
              <p:nvSpPr>
                <p:cNvPr id="63" name="Google Shape;63;p14"/>
                <p:cNvSpPr/>
                <p:nvPr/>
              </p:nvSpPr>
              <p:spPr>
                <a:xfrm>
                  <a:off x="0" y="0"/>
                  <a:ext cx="762000" cy="304800"/>
                </a:xfrm>
                <a:prstGeom prst="roundRect">
                  <a:avLst>
                    <a:gd fmla="val 18750" name="adj"/>
                  </a:avLst>
                </a:prstGeom>
                <a:solidFill>
                  <a:srgbClr val="EFF6FF"/>
                </a:solidFill>
                <a:ln cap="flat" cmpd="sng" w="9525">
                  <a:solidFill>
                    <a:srgbClr val="BFDBFE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" name="Google Shape;64;p14"/>
                <p:cNvSpPr txBox="1"/>
                <p:nvPr/>
              </p:nvSpPr>
              <p:spPr>
                <a:xfrm>
                  <a:off x="0" y="0"/>
                  <a:ext cx="7620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200">
                      <a:solidFill>
                        <a:srgbClr val="0055FF"/>
                      </a:solidFill>
                      <a:latin typeface="Roboto Mono"/>
                      <a:ea typeface="Roboto Mono"/>
                      <a:cs typeface="Roboto Mono"/>
                      <a:sym typeface="Roboto Mono"/>
                    </a:rPr>
                    <a:t>int()</a:t>
                  </a:r>
                  <a:endParaRPr b="1" sz="1200">
                    <a:solidFill>
                      <a:srgbClr val="0055FF"/>
                    </a:solidFill>
                    <a:latin typeface="Roboto Mono"/>
                    <a:ea typeface="Roboto Mono"/>
                    <a:cs typeface="Roboto Mono"/>
                    <a:sym typeface="Roboto Mono"/>
                  </a:endParaRPr>
                </a:p>
              </p:txBody>
            </p:sp>
          </p:grpSp>
          <p:grpSp>
            <p:nvGrpSpPr>
              <p:cNvPr id="65" name="Google Shape;65;p14"/>
              <p:cNvGrpSpPr/>
              <p:nvPr/>
            </p:nvGrpSpPr>
            <p:grpSpPr>
              <a:xfrm>
                <a:off x="876300" y="0"/>
                <a:ext cx="857400" cy="304800"/>
                <a:chOff x="0" y="0"/>
                <a:chExt cx="857400" cy="304800"/>
              </a:xfrm>
            </p:grpSpPr>
            <p:sp>
              <p:nvSpPr>
                <p:cNvPr id="66" name="Google Shape;66;p14"/>
                <p:cNvSpPr/>
                <p:nvPr/>
              </p:nvSpPr>
              <p:spPr>
                <a:xfrm>
                  <a:off x="0" y="0"/>
                  <a:ext cx="857400" cy="304800"/>
                </a:xfrm>
                <a:prstGeom prst="roundRect">
                  <a:avLst>
                    <a:gd fmla="val 18750" name="adj"/>
                  </a:avLst>
                </a:prstGeom>
                <a:solidFill>
                  <a:srgbClr val="FEF2F2"/>
                </a:solidFill>
                <a:ln cap="flat" cmpd="sng" w="9525">
                  <a:solidFill>
                    <a:srgbClr val="FECAC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" name="Google Shape;67;p14"/>
                <p:cNvSpPr txBox="1"/>
                <p:nvPr/>
              </p:nvSpPr>
              <p:spPr>
                <a:xfrm>
                  <a:off x="0" y="0"/>
                  <a:ext cx="8574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200">
                      <a:solidFill>
                        <a:srgbClr val="FF3300"/>
                      </a:solidFill>
                      <a:latin typeface="Roboto Mono"/>
                      <a:ea typeface="Roboto Mono"/>
                      <a:cs typeface="Roboto Mono"/>
                      <a:sym typeface="Roboto Mono"/>
                    </a:rPr>
                    <a:t>float()</a:t>
                  </a:r>
                  <a:endParaRPr b="1" sz="1200">
                    <a:solidFill>
                      <a:srgbClr val="FF3300"/>
                    </a:solidFill>
                    <a:latin typeface="Roboto Mono"/>
                    <a:ea typeface="Roboto Mono"/>
                    <a:cs typeface="Roboto Mono"/>
                    <a:sym typeface="Roboto Mono"/>
                  </a:endParaRPr>
                </a:p>
              </p:txBody>
            </p:sp>
          </p:grpSp>
          <p:grpSp>
            <p:nvGrpSpPr>
              <p:cNvPr id="68" name="Google Shape;68;p14"/>
              <p:cNvGrpSpPr/>
              <p:nvPr/>
            </p:nvGrpSpPr>
            <p:grpSpPr>
              <a:xfrm>
                <a:off x="1847850" y="0"/>
                <a:ext cx="762000" cy="304800"/>
                <a:chOff x="0" y="0"/>
                <a:chExt cx="762000" cy="304800"/>
              </a:xfrm>
            </p:grpSpPr>
            <p:sp>
              <p:nvSpPr>
                <p:cNvPr id="69" name="Google Shape;69;p14"/>
                <p:cNvSpPr/>
                <p:nvPr/>
              </p:nvSpPr>
              <p:spPr>
                <a:xfrm>
                  <a:off x="0" y="0"/>
                  <a:ext cx="762000" cy="304800"/>
                </a:xfrm>
                <a:prstGeom prst="roundRect">
                  <a:avLst>
                    <a:gd fmla="val 18750" name="adj"/>
                  </a:avLst>
                </a:prstGeom>
                <a:solidFill>
                  <a:srgbClr val="FFF7ED"/>
                </a:solidFill>
                <a:ln cap="flat" cmpd="sng" w="9525">
                  <a:solidFill>
                    <a:srgbClr val="FED7A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" name="Google Shape;70;p14"/>
                <p:cNvSpPr txBox="1"/>
                <p:nvPr/>
              </p:nvSpPr>
              <p:spPr>
                <a:xfrm>
                  <a:off x="0" y="0"/>
                  <a:ext cx="7620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200">
                      <a:solidFill>
                        <a:srgbClr val="E65C00"/>
                      </a:solidFill>
                      <a:latin typeface="Roboto Mono"/>
                      <a:ea typeface="Roboto Mono"/>
                      <a:cs typeface="Roboto Mono"/>
                      <a:sym typeface="Roboto Mono"/>
                    </a:rPr>
                    <a:t>str()</a:t>
                  </a:r>
                  <a:endParaRPr b="1" sz="1200">
                    <a:solidFill>
                      <a:srgbClr val="E65C00"/>
                    </a:solidFill>
                    <a:latin typeface="Roboto Mono"/>
                    <a:ea typeface="Roboto Mono"/>
                    <a:cs typeface="Roboto Mono"/>
                    <a:sym typeface="Roboto Mono"/>
                  </a:endParaRPr>
                </a:p>
              </p:txBody>
            </p:sp>
          </p:grpSp>
        </p:grpSp>
        <p:sp>
          <p:nvSpPr>
            <p:cNvPr id="71" name="Google Shape;71;p14"/>
            <p:cNvSpPr txBox="1"/>
            <p:nvPr/>
          </p:nvSpPr>
          <p:spPr>
            <a:xfrm>
              <a:off x="0" y="1857375"/>
              <a:ext cx="4095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Mastering Data Transformation for Beginner Programmers</a:t>
              </a:r>
              <a:endParaRPr b="0" sz="15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2" name="Google Shape;72;p14"/>
            <p:cNvGrpSpPr/>
            <p:nvPr/>
          </p:nvGrpSpPr>
          <p:grpSpPr>
            <a:xfrm>
              <a:off x="0" y="3000375"/>
              <a:ext cx="3962400" cy="400200"/>
              <a:chOff x="0" y="0"/>
              <a:chExt cx="3962400" cy="400200"/>
            </a:xfrm>
          </p:grpSpPr>
          <p:sp>
            <p:nvSpPr>
              <p:cNvPr id="73" name="Google Shape;73;p14"/>
              <p:cNvSpPr/>
              <p:nvPr/>
            </p:nvSpPr>
            <p:spPr>
              <a:xfrm>
                <a:off x="0" y="0"/>
                <a:ext cx="38100" cy="400200"/>
              </a:xfrm>
              <a:prstGeom prst="roundRect">
                <a:avLst>
                  <a:gd fmla="val 50000" name="adj"/>
                </a:avLst>
              </a:prstGeom>
              <a:solidFill>
                <a:srgbClr val="0055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14"/>
              <p:cNvSpPr txBox="1"/>
              <p:nvPr/>
            </p:nvSpPr>
            <p:spPr>
              <a:xfrm>
                <a:off x="152400" y="0"/>
                <a:ext cx="38100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6B7280"/>
                    </a:solidFill>
                    <a:latin typeface="Inter"/>
                    <a:ea typeface="Inter"/>
                    <a:cs typeface="Inter"/>
                    <a:sym typeface="Inter"/>
                  </a:rPr>
                  <a:t>PRESENTED BY</a:t>
                </a:r>
                <a:endParaRPr b="1" sz="9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Varsha A</a:t>
                </a:r>
                <a:endParaRPr b="1" sz="14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</p:grpSp>
      <p:grpSp>
        <p:nvGrpSpPr>
          <p:cNvPr id="75" name="Google Shape;75;p14"/>
          <p:cNvGrpSpPr/>
          <p:nvPr/>
        </p:nvGrpSpPr>
        <p:grpSpPr>
          <a:xfrm>
            <a:off x="5048250" y="619125"/>
            <a:ext cx="3524400" cy="3905400"/>
            <a:chOff x="0" y="0"/>
            <a:chExt cx="3524400" cy="3905400"/>
          </a:xfrm>
        </p:grpSpPr>
        <p:sp>
          <p:nvSpPr>
            <p:cNvPr id="76" name="Google Shape;76;p14"/>
            <p:cNvSpPr/>
            <p:nvPr/>
          </p:nvSpPr>
          <p:spPr>
            <a:xfrm>
              <a:off x="0" y="0"/>
              <a:ext cx="3524400" cy="3905400"/>
            </a:xfrm>
            <a:prstGeom prst="roundRect">
              <a:avLst>
                <a:gd fmla="val 3243" name="adj"/>
              </a:avLst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0" y="0"/>
              <a:ext cx="3524400" cy="38100"/>
            </a:xfrm>
            <a:prstGeom prst="roundRect">
              <a:avLst>
                <a:gd fmla="val 50000" name="adj"/>
              </a:avLst>
            </a:prstGeom>
            <a:solidFill>
              <a:srgbClr val="0055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8" name="Google Shape;78;p14"/>
            <p:cNvGrpSpPr/>
            <p:nvPr/>
          </p:nvGrpSpPr>
          <p:grpSpPr>
            <a:xfrm>
              <a:off x="238125" y="238125"/>
              <a:ext cx="2971800" cy="228600"/>
              <a:chOff x="0" y="0"/>
              <a:chExt cx="2971800" cy="228600"/>
            </a:xfrm>
          </p:grpSpPr>
          <p:sp>
            <p:nvSpPr>
              <p:cNvPr id="79" name="Google Shape;79;p14"/>
              <p:cNvSpPr/>
              <p:nvPr/>
            </p:nvSpPr>
            <p:spPr>
              <a:xfrm>
                <a:off x="0" y="0"/>
                <a:ext cx="76200" cy="152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8575">
                <a:solidFill>
                  <a:srgbClr val="0055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80" name="Google Shape;80;p14"/>
              <p:cNvCxnSpPr/>
              <p:nvPr/>
            </p:nvCxnSpPr>
            <p:spPr>
              <a:xfrm>
                <a:off x="114300" y="152400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cap="rnd" cmpd="sng" w="28575">
                <a:solidFill>
                  <a:srgbClr val="0055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1" name="Google Shape;81;p14"/>
              <p:cNvSpPr txBox="1"/>
              <p:nvPr/>
            </p:nvSpPr>
            <p:spPr>
              <a:xfrm>
                <a:off x="304800" y="0"/>
                <a:ext cx="2667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9CA3AF"/>
                    </a:solidFill>
                    <a:latin typeface="Inter"/>
                    <a:ea typeface="Inter"/>
                    <a:cs typeface="Inter"/>
                    <a:sym typeface="Inter"/>
                  </a:rPr>
                  <a:t>TYPE CONVERSION PREVIEW</a:t>
                </a:r>
                <a:endParaRPr b="1" sz="100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cxnSp>
          <p:nvCxnSpPr>
            <p:cNvPr id="82" name="Google Shape;82;p14"/>
            <p:cNvCxnSpPr/>
            <p:nvPr/>
          </p:nvCxnSpPr>
          <p:spPr>
            <a:xfrm>
              <a:off x="238125" y="571500"/>
              <a:ext cx="3048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262626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3" name="Google Shape;83;p14"/>
            <p:cNvGrpSpPr/>
            <p:nvPr/>
          </p:nvGrpSpPr>
          <p:grpSpPr>
            <a:xfrm>
              <a:off x="238125" y="762000"/>
              <a:ext cx="3048000" cy="762000"/>
              <a:chOff x="0" y="0"/>
              <a:chExt cx="3048000" cy="762000"/>
            </a:xfrm>
          </p:grpSpPr>
          <p:sp>
            <p:nvSpPr>
              <p:cNvPr id="84" name="Google Shape;84;p14"/>
              <p:cNvSpPr/>
              <p:nvPr/>
            </p:nvSpPr>
            <p:spPr>
              <a:xfrm>
                <a:off x="0" y="0"/>
                <a:ext cx="3048000" cy="762000"/>
              </a:xfrm>
              <a:prstGeom prst="roundRect">
                <a:avLst>
                  <a:gd fmla="val 10000" name="adj"/>
                </a:avLst>
              </a:prstGeom>
              <a:solidFill>
                <a:srgbClr val="1E1E1E"/>
              </a:solidFill>
              <a:ln cap="flat" cmpd="sng" w="952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14"/>
              <p:cNvSpPr txBox="1"/>
              <p:nvPr/>
            </p:nvSpPr>
            <p:spPr>
              <a:xfrm>
                <a:off x="152400" y="114300"/>
                <a:ext cx="27432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9CA3A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String to Integer</a:t>
                </a:r>
                <a:endParaRPr b="0" sz="1000">
                  <a:solidFill>
                    <a:srgbClr val="9CA3AF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60A5F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int</a:t>
                </a:r>
                <a:r>
                  <a:rPr b="0" lang="en" sz="1300">
                    <a:solidFill>
                      <a:srgbClr val="FFFFFF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(</a:t>
                </a:r>
                <a:r>
                  <a:rPr b="0" lang="en" sz="1300">
                    <a:solidFill>
                      <a:srgbClr val="F9731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"42"</a:t>
                </a:r>
                <a:r>
                  <a:rPr b="0" lang="en" sz="1300">
                    <a:solidFill>
                      <a:srgbClr val="FFFFFF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) </a:t>
                </a:r>
                <a:r>
                  <a:rPr b="0" lang="en" sz="1300">
                    <a:solidFill>
                      <a:srgbClr val="6B728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➞</a:t>
                </a:r>
                <a:r>
                  <a:rPr b="0" lang="en" sz="1300">
                    <a:solidFill>
                      <a:srgbClr val="FFFFFF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 </a:t>
                </a:r>
                <a:r>
                  <a:rPr b="0" lang="en" sz="1300">
                    <a:solidFill>
                      <a:srgbClr val="4ADE8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42</a:t>
                </a:r>
                <a:endParaRPr b="0" sz="13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  <p:grpSp>
          <p:nvGrpSpPr>
            <p:cNvPr id="86" name="Google Shape;86;p14"/>
            <p:cNvGrpSpPr/>
            <p:nvPr/>
          </p:nvGrpSpPr>
          <p:grpSpPr>
            <a:xfrm>
              <a:off x="238125" y="1666875"/>
              <a:ext cx="3048000" cy="762000"/>
              <a:chOff x="0" y="0"/>
              <a:chExt cx="3048000" cy="762000"/>
            </a:xfrm>
          </p:grpSpPr>
          <p:sp>
            <p:nvSpPr>
              <p:cNvPr id="87" name="Google Shape;87;p14"/>
              <p:cNvSpPr/>
              <p:nvPr/>
            </p:nvSpPr>
            <p:spPr>
              <a:xfrm>
                <a:off x="0" y="0"/>
                <a:ext cx="3048000" cy="762000"/>
              </a:xfrm>
              <a:prstGeom prst="roundRect">
                <a:avLst>
                  <a:gd fmla="val 10000" name="adj"/>
                </a:avLst>
              </a:prstGeom>
              <a:solidFill>
                <a:srgbClr val="1E1E1E"/>
              </a:solidFill>
              <a:ln cap="flat" cmpd="sng" w="952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14"/>
              <p:cNvSpPr txBox="1"/>
              <p:nvPr/>
            </p:nvSpPr>
            <p:spPr>
              <a:xfrm>
                <a:off x="152400" y="114300"/>
                <a:ext cx="27432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9CA3A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String to Float</a:t>
                </a:r>
                <a:endParaRPr b="0" sz="1000">
                  <a:solidFill>
                    <a:srgbClr val="9CA3AF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F87171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float</a:t>
                </a:r>
                <a:r>
                  <a:rPr b="0" lang="en" sz="1300">
                    <a:solidFill>
                      <a:srgbClr val="FFFFFF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(</a:t>
                </a:r>
                <a:r>
                  <a:rPr b="0" lang="en" sz="1300">
                    <a:solidFill>
                      <a:srgbClr val="F9731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"3.14"</a:t>
                </a:r>
                <a:r>
                  <a:rPr b="0" lang="en" sz="1300">
                    <a:solidFill>
                      <a:srgbClr val="FFFFFF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) </a:t>
                </a:r>
                <a:r>
                  <a:rPr b="0" lang="en" sz="1300">
                    <a:solidFill>
                      <a:srgbClr val="6B728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➞</a:t>
                </a:r>
                <a:r>
                  <a:rPr b="0" lang="en" sz="1300">
                    <a:solidFill>
                      <a:srgbClr val="FFFFFF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 </a:t>
                </a:r>
                <a:r>
                  <a:rPr b="0" lang="en" sz="1300">
                    <a:solidFill>
                      <a:srgbClr val="4ADE8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3.14</a:t>
                </a:r>
                <a:endParaRPr b="0" sz="13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  <p:grpSp>
          <p:nvGrpSpPr>
            <p:cNvPr id="89" name="Google Shape;89;p14"/>
            <p:cNvGrpSpPr/>
            <p:nvPr/>
          </p:nvGrpSpPr>
          <p:grpSpPr>
            <a:xfrm>
              <a:off x="238125" y="2571750"/>
              <a:ext cx="3048000" cy="762000"/>
              <a:chOff x="0" y="0"/>
              <a:chExt cx="3048000" cy="762000"/>
            </a:xfrm>
          </p:grpSpPr>
          <p:sp>
            <p:nvSpPr>
              <p:cNvPr id="90" name="Google Shape;90;p14"/>
              <p:cNvSpPr/>
              <p:nvPr/>
            </p:nvSpPr>
            <p:spPr>
              <a:xfrm>
                <a:off x="0" y="0"/>
                <a:ext cx="3048000" cy="762000"/>
              </a:xfrm>
              <a:prstGeom prst="roundRect">
                <a:avLst>
                  <a:gd fmla="val 10000" name="adj"/>
                </a:avLst>
              </a:prstGeom>
              <a:solidFill>
                <a:srgbClr val="1E1E1E"/>
              </a:solidFill>
              <a:ln cap="flat" cmpd="sng" w="952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14"/>
              <p:cNvSpPr txBox="1"/>
              <p:nvPr/>
            </p:nvSpPr>
            <p:spPr>
              <a:xfrm>
                <a:off x="152400" y="114300"/>
                <a:ext cx="27432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9CA3A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Number to String</a:t>
                </a:r>
                <a:endParaRPr b="0" sz="1000">
                  <a:solidFill>
                    <a:srgbClr val="9CA3AF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FB923C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str</a:t>
                </a:r>
                <a:r>
                  <a:rPr b="0" lang="en" sz="1300">
                    <a:solidFill>
                      <a:srgbClr val="FFFFFF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(</a:t>
                </a:r>
                <a:r>
                  <a:rPr b="0" lang="en" sz="1300">
                    <a:solidFill>
                      <a:srgbClr val="60A5F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100</a:t>
                </a:r>
                <a:r>
                  <a:rPr b="0" lang="en" sz="1300">
                    <a:solidFill>
                      <a:srgbClr val="FFFFFF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) </a:t>
                </a:r>
                <a:r>
                  <a:rPr b="0" lang="en" sz="1300">
                    <a:solidFill>
                      <a:srgbClr val="6B728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➞</a:t>
                </a:r>
                <a:r>
                  <a:rPr b="0" lang="en" sz="1300">
                    <a:solidFill>
                      <a:srgbClr val="FFFFFF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 </a:t>
                </a:r>
                <a:r>
                  <a:rPr b="0" lang="en" sz="1300">
                    <a:solidFill>
                      <a:srgbClr val="F9731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"100"</a:t>
                </a:r>
                <a:endParaRPr b="0" sz="13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1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97" name="Google Shape;97;p1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8" name="Google Shape;98;p15"/>
            <p:cNvGrpSpPr/>
            <p:nvPr/>
          </p:nvGrpSpPr>
          <p:grpSpPr>
            <a:xfrm>
              <a:off x="8515350" y="381000"/>
              <a:ext cx="228600" cy="228600"/>
              <a:chOff x="0" y="0"/>
              <a:chExt cx="228600" cy="228600"/>
            </a:xfrm>
          </p:grpSpPr>
          <p:sp>
            <p:nvSpPr>
              <p:cNvPr id="99" name="Google Shape;99;p15"/>
              <p:cNvSpPr/>
              <p:nvPr/>
            </p:nvSpPr>
            <p:spPr>
              <a:xfrm>
                <a:off x="0" y="0"/>
                <a:ext cx="152400" cy="152400"/>
              </a:xfrm>
              <a:prstGeom prst="rect">
                <a:avLst/>
              </a:prstGeom>
              <a:solidFill>
                <a:srgbClr val="0055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15"/>
              <p:cNvSpPr/>
              <p:nvPr/>
            </p:nvSpPr>
            <p:spPr>
              <a:xfrm>
                <a:off x="76200" y="76200"/>
                <a:ext cx="152400" cy="152400"/>
              </a:xfrm>
              <a:prstGeom prst="rect">
                <a:avLst/>
              </a:prstGeom>
              <a:solidFill>
                <a:srgbClr val="FF33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1" name="Google Shape;101;p15"/>
          <p:cNvSpPr txBox="1"/>
          <p:nvPr/>
        </p:nvSpPr>
        <p:spPr>
          <a:xfrm>
            <a:off x="476250" y="381000"/>
            <a:ext cx="7810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PYTHON DATA TYPES</a:t>
            </a:r>
            <a:endParaRPr b="1" sz="850">
              <a:solidFill>
                <a:srgbClr val="5555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600"/>
              </a:spcAft>
              <a:buNone/>
            </a:pPr>
            <a:r>
              <a:rPr b="1" lang="en" sz="221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Explicit Type Conversion Transforms Data Types Using Built-in Functions</a:t>
            </a:r>
            <a:endParaRPr b="1" sz="2210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02" name="Google Shape;102;p15"/>
          <p:cNvGrpSpPr/>
          <p:nvPr/>
        </p:nvGrpSpPr>
        <p:grpSpPr>
          <a:xfrm>
            <a:off x="476250" y="1285875"/>
            <a:ext cx="8191500" cy="1047900"/>
            <a:chOff x="0" y="0"/>
            <a:chExt cx="8191500" cy="1047900"/>
          </a:xfrm>
        </p:grpSpPr>
        <p:sp>
          <p:nvSpPr>
            <p:cNvPr id="103" name="Google Shape;103;p15"/>
            <p:cNvSpPr txBox="1"/>
            <p:nvPr/>
          </p:nvSpPr>
          <p:spPr>
            <a:xfrm>
              <a:off x="0" y="0"/>
              <a:ext cx="3333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111111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Manual Type Casting</a:t>
              </a:r>
              <a:endParaRPr b="0" sz="1800">
                <a:solidFill>
                  <a:srgbClr val="11111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" sz="12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In Python, data types dictate what operations you can perform.</a:t>
              </a:r>
              <a:endParaRPr b="0" sz="12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4" name="Google Shape;104;p15"/>
            <p:cNvSpPr txBox="1"/>
            <p:nvPr/>
          </p:nvSpPr>
          <p:spPr>
            <a:xfrm>
              <a:off x="3619500" y="0"/>
              <a:ext cx="4572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13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Explicit type conversion, also known as type casting, is the process where a programmer manually changes a variable's data type using built-in functions.</a:t>
              </a:r>
              <a:endParaRPr b="0" sz="13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105" name="Google Shape;105;p15"/>
          <p:cNvCxnSpPr/>
          <p:nvPr/>
        </p:nvCxnSpPr>
        <p:spPr>
          <a:xfrm>
            <a:off x="476250" y="2333625"/>
            <a:ext cx="81915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1D1D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6" name="Google Shape;106;p15"/>
          <p:cNvGrpSpPr/>
          <p:nvPr/>
        </p:nvGrpSpPr>
        <p:grpSpPr>
          <a:xfrm>
            <a:off x="476250" y="2476500"/>
            <a:ext cx="8191500" cy="1352550"/>
            <a:chOff x="0" y="0"/>
            <a:chExt cx="8191500" cy="1352550"/>
          </a:xfrm>
        </p:grpSpPr>
        <p:sp>
          <p:nvSpPr>
            <p:cNvPr id="107" name="Google Shape;107;p15"/>
            <p:cNvSpPr txBox="1"/>
            <p:nvPr/>
          </p:nvSpPr>
          <p:spPr>
            <a:xfrm>
              <a:off x="0" y="0"/>
              <a:ext cx="8191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KEY FUNCTIONS</a:t>
              </a:r>
              <a:endParaRPr/>
            </a:p>
          </p:txBody>
        </p:sp>
        <p:grpSp>
          <p:nvGrpSpPr>
            <p:cNvPr id="108" name="Google Shape;108;p15"/>
            <p:cNvGrpSpPr/>
            <p:nvPr/>
          </p:nvGrpSpPr>
          <p:grpSpPr>
            <a:xfrm>
              <a:off x="0" y="285750"/>
              <a:ext cx="2476500" cy="1066800"/>
              <a:chOff x="0" y="0"/>
              <a:chExt cx="2476500" cy="1066800"/>
            </a:xfrm>
          </p:grpSpPr>
          <p:sp>
            <p:nvSpPr>
              <p:cNvPr id="109" name="Google Shape;109;p15"/>
              <p:cNvSpPr/>
              <p:nvPr/>
            </p:nvSpPr>
            <p:spPr>
              <a:xfrm>
                <a:off x="0" y="0"/>
                <a:ext cx="381000" cy="38100"/>
              </a:xfrm>
              <a:prstGeom prst="rect">
                <a:avLst/>
              </a:prstGeom>
              <a:solidFill>
                <a:srgbClr val="0055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15"/>
              <p:cNvSpPr/>
              <p:nvPr/>
            </p:nvSpPr>
            <p:spPr>
              <a:xfrm>
                <a:off x="0" y="114300"/>
                <a:ext cx="2476500" cy="952500"/>
              </a:xfrm>
              <a:prstGeom prst="rect">
                <a:avLst/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5"/>
              <p:cNvSpPr txBox="1"/>
              <p:nvPr/>
            </p:nvSpPr>
            <p:spPr>
              <a:xfrm>
                <a:off x="142875" y="209550"/>
                <a:ext cx="21909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0055FF"/>
                    </a:solidFill>
                    <a:latin typeface="Roboto Mono Medium"/>
                    <a:ea typeface="Roboto Mono Medium"/>
                    <a:cs typeface="Roboto Mono Medium"/>
                    <a:sym typeface="Roboto Mono Medium"/>
                  </a:rPr>
                  <a:t>int()</a:t>
                </a:r>
                <a:endParaRPr b="0" sz="1300">
                  <a:solidFill>
                    <a:srgbClr val="0055F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600"/>
                  </a:spcAft>
                  <a:buNone/>
                </a:pPr>
                <a:r>
                  <a:rPr b="0" lang="en" sz="12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Casts to an integer.</a:t>
                </a:r>
                <a:endParaRPr b="0" sz="12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12" name="Google Shape;112;p15"/>
            <p:cNvGrpSpPr/>
            <p:nvPr/>
          </p:nvGrpSpPr>
          <p:grpSpPr>
            <a:xfrm>
              <a:off x="2857500" y="285750"/>
              <a:ext cx="2476500" cy="1066800"/>
              <a:chOff x="0" y="0"/>
              <a:chExt cx="2476500" cy="1066800"/>
            </a:xfrm>
          </p:grpSpPr>
          <p:sp>
            <p:nvSpPr>
              <p:cNvPr id="113" name="Google Shape;113;p15"/>
              <p:cNvSpPr/>
              <p:nvPr/>
            </p:nvSpPr>
            <p:spPr>
              <a:xfrm>
                <a:off x="0" y="0"/>
                <a:ext cx="381000" cy="38100"/>
              </a:xfrm>
              <a:prstGeom prst="rect">
                <a:avLst/>
              </a:prstGeom>
              <a:solidFill>
                <a:srgbClr val="FF33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15"/>
              <p:cNvSpPr/>
              <p:nvPr/>
            </p:nvSpPr>
            <p:spPr>
              <a:xfrm>
                <a:off x="0" y="114300"/>
                <a:ext cx="2476500" cy="952500"/>
              </a:xfrm>
              <a:prstGeom prst="rect">
                <a:avLst/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5"/>
              <p:cNvSpPr txBox="1"/>
              <p:nvPr/>
            </p:nvSpPr>
            <p:spPr>
              <a:xfrm>
                <a:off x="142875" y="209550"/>
                <a:ext cx="21909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FF3300"/>
                    </a:solidFill>
                    <a:latin typeface="Roboto Mono Medium"/>
                    <a:ea typeface="Roboto Mono Medium"/>
                    <a:cs typeface="Roboto Mono Medium"/>
                    <a:sym typeface="Roboto Mono Medium"/>
                  </a:rPr>
                  <a:t>float()</a:t>
                </a:r>
                <a:endParaRPr b="0" sz="1300">
                  <a:solidFill>
                    <a:srgbClr val="FF3300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600"/>
                  </a:spcAft>
                  <a:buNone/>
                </a:pPr>
                <a:r>
                  <a:rPr b="0" lang="en" sz="12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Casts to a floating-point number.</a:t>
                </a:r>
                <a:endParaRPr b="0" sz="12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16" name="Google Shape;116;p15"/>
            <p:cNvGrpSpPr/>
            <p:nvPr/>
          </p:nvGrpSpPr>
          <p:grpSpPr>
            <a:xfrm>
              <a:off x="5715000" y="285750"/>
              <a:ext cx="2476500" cy="1066800"/>
              <a:chOff x="0" y="0"/>
              <a:chExt cx="2476500" cy="1066800"/>
            </a:xfrm>
          </p:grpSpPr>
          <p:sp>
            <p:nvSpPr>
              <p:cNvPr id="117" name="Google Shape;117;p15"/>
              <p:cNvSpPr/>
              <p:nvPr/>
            </p:nvSpPr>
            <p:spPr>
              <a:xfrm>
                <a:off x="0" y="0"/>
                <a:ext cx="381000" cy="38100"/>
              </a:xfrm>
              <a:prstGeom prst="rect">
                <a:avLst/>
              </a:prstGeom>
              <a:solidFill>
                <a:srgbClr val="E65C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15"/>
              <p:cNvSpPr/>
              <p:nvPr/>
            </p:nvSpPr>
            <p:spPr>
              <a:xfrm>
                <a:off x="0" y="114300"/>
                <a:ext cx="2476500" cy="952500"/>
              </a:xfrm>
              <a:prstGeom prst="rect">
                <a:avLst/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15"/>
              <p:cNvSpPr txBox="1"/>
              <p:nvPr/>
            </p:nvSpPr>
            <p:spPr>
              <a:xfrm>
                <a:off x="142875" y="209550"/>
                <a:ext cx="21909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E65C00"/>
                    </a:solidFill>
                    <a:latin typeface="Roboto Mono Medium"/>
                    <a:ea typeface="Roboto Mono Medium"/>
                    <a:cs typeface="Roboto Mono Medium"/>
                    <a:sym typeface="Roboto Mono Medium"/>
                  </a:rPr>
                  <a:t>str()</a:t>
                </a:r>
                <a:endParaRPr b="0" sz="1300">
                  <a:solidFill>
                    <a:srgbClr val="E65C00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600"/>
                  </a:spcAft>
                  <a:buNone/>
                </a:pPr>
                <a:r>
                  <a:rPr b="0" lang="en" sz="12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Casts to a string.</a:t>
                </a:r>
                <a:endParaRPr b="0" sz="12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20" name="Google Shape;120;p15"/>
          <p:cNvGrpSpPr/>
          <p:nvPr/>
        </p:nvGrpSpPr>
        <p:grpSpPr>
          <a:xfrm>
            <a:off x="476250" y="3905250"/>
            <a:ext cx="8191500" cy="857400"/>
            <a:chOff x="0" y="0"/>
            <a:chExt cx="8191500" cy="857400"/>
          </a:xfrm>
        </p:grpSpPr>
        <p:sp>
          <p:nvSpPr>
            <p:cNvPr id="121" name="Google Shape;121;p15"/>
            <p:cNvSpPr/>
            <p:nvPr/>
          </p:nvSpPr>
          <p:spPr>
            <a:xfrm>
              <a:off x="0" y="0"/>
              <a:ext cx="8191500" cy="8574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0" y="0"/>
              <a:ext cx="38100" cy="857400"/>
            </a:xfrm>
            <a:prstGeom prst="rect">
              <a:avLst/>
            </a:prstGeom>
            <a:solidFill>
              <a:srgbClr val="0055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5"/>
            <p:cNvSpPr txBox="1"/>
            <p:nvPr/>
          </p:nvSpPr>
          <p:spPr>
            <a:xfrm>
              <a:off x="238125" y="142875"/>
              <a:ext cx="7715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55FF"/>
                  </a:solidFill>
                  <a:latin typeface="Inter"/>
                  <a:ea typeface="Inter"/>
                  <a:cs typeface="Inter"/>
                  <a:sym typeface="Inter"/>
                </a:rPr>
                <a:t>WHY IT MATTERS</a:t>
              </a:r>
              <a:endParaRPr b="1" sz="1000">
                <a:solidFill>
                  <a:srgbClr val="0055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Type casting is essential when combining different data types, such as performing mathematical operations on text input received from a user.</a:t>
              </a:r>
              <a:endParaRPr b="0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" name="Google Shape;130;p16"/>
          <p:cNvGrpSpPr/>
          <p:nvPr/>
        </p:nvGrpSpPr>
        <p:grpSpPr>
          <a:xfrm>
            <a:off x="476250" y="381000"/>
            <a:ext cx="228600" cy="228600"/>
            <a:chOff x="0" y="0"/>
            <a:chExt cx="228600" cy="228600"/>
          </a:xfrm>
        </p:grpSpPr>
        <p:sp>
          <p:nvSpPr>
            <p:cNvPr id="131" name="Google Shape;131;p16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0055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6"/>
            <p:cNvSpPr/>
            <p:nvPr/>
          </p:nvSpPr>
          <p:spPr>
            <a:xfrm>
              <a:off x="76200" y="76200"/>
              <a:ext cx="152400" cy="1524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" name="Google Shape;133;p16"/>
          <p:cNvSpPr txBox="1"/>
          <p:nvPr/>
        </p:nvSpPr>
        <p:spPr>
          <a:xfrm>
            <a:off x="476250" y="714375"/>
            <a:ext cx="3714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int() Function</a:t>
            </a:r>
            <a:endParaRPr b="1" sz="2600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Converts floats and numeric strings to whole numbers.</a:t>
            </a:r>
            <a:endParaRPr b="0" sz="1100">
              <a:solidFill>
                <a:srgbClr val="5555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476250" y="1771650"/>
            <a:ext cx="95400" cy="954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66750" y="1714500"/>
            <a:ext cx="3524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From Floats</a:t>
            </a:r>
            <a:endParaRPr b="1" sz="14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Truncates the decimal part without rounding.</a:t>
            </a:r>
            <a:br>
              <a:rPr b="0" lang="en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lang="en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For example, </a:t>
            </a:r>
            <a:r>
              <a:rPr b="0" lang="en" sz="1100">
                <a:solidFill>
                  <a:srgbClr val="FF3300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int(3.99)</a:t>
            </a:r>
            <a:r>
              <a:rPr b="0" lang="en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evaluates to </a:t>
            </a:r>
            <a:r>
              <a:rPr b="1" lang="en" sz="1100">
                <a:solidFill>
                  <a:srgbClr val="333333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b="0" lang="en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sz="110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476250" y="2724150"/>
            <a:ext cx="95400" cy="9540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66750" y="2667000"/>
            <a:ext cx="3524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From Strings</a:t>
            </a:r>
            <a:endParaRPr b="1" sz="14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The string must contain a valid whole number.</a:t>
            </a:r>
            <a:br>
              <a:rPr b="0" lang="en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lang="en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For example, </a:t>
            </a:r>
            <a:r>
              <a:rPr b="0" lang="en" sz="1100">
                <a:solidFill>
                  <a:srgbClr val="E65C00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int("42")</a:t>
            </a:r>
            <a:r>
              <a:rPr b="0" lang="en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evaluates to </a:t>
            </a:r>
            <a:r>
              <a:rPr b="1" lang="en" sz="1100">
                <a:solidFill>
                  <a:srgbClr val="333333"/>
                </a:solidFill>
                <a:latin typeface="Roboto Mono"/>
                <a:ea typeface="Roboto Mono"/>
                <a:cs typeface="Roboto Mono"/>
                <a:sym typeface="Roboto Mono"/>
              </a:rPr>
              <a:t>42</a:t>
            </a:r>
            <a:r>
              <a:rPr b="0" lang="en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sz="110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476250" y="3676650"/>
            <a:ext cx="95400" cy="95400"/>
          </a:xfrm>
          <a:prstGeom prst="rect">
            <a:avLst/>
          </a:prstGeom>
          <a:solidFill>
            <a:srgbClr val="0055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66750" y="3619500"/>
            <a:ext cx="3524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Boolean Values</a:t>
            </a:r>
            <a:endParaRPr b="1" sz="14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0055F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int(True)</a:t>
            </a:r>
            <a:r>
              <a:rPr b="0" lang="en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becomes </a:t>
            </a:r>
            <a:r>
              <a:rPr b="1" lang="en" sz="1100">
                <a:solidFill>
                  <a:srgbClr val="333333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0" lang="en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, and </a:t>
            </a:r>
            <a:r>
              <a:rPr b="0" lang="en" sz="1100">
                <a:solidFill>
                  <a:srgbClr val="0055F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int(False)</a:t>
            </a:r>
            <a:r>
              <a:rPr b="0" lang="en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becomes </a:t>
            </a:r>
            <a:r>
              <a:rPr b="1" lang="en" sz="1100">
                <a:solidFill>
                  <a:srgbClr val="333333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0" lang="en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sz="110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4857750" y="476250"/>
            <a:ext cx="3810000" cy="41910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4857750" y="476250"/>
            <a:ext cx="57300" cy="4191000"/>
          </a:xfrm>
          <a:prstGeom prst="rect">
            <a:avLst/>
          </a:prstGeom>
          <a:solidFill>
            <a:srgbClr val="0055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2" name="Google Shape;142;p16"/>
          <p:cNvGrpSpPr/>
          <p:nvPr/>
        </p:nvGrpSpPr>
        <p:grpSpPr>
          <a:xfrm>
            <a:off x="5143500" y="752475"/>
            <a:ext cx="228600" cy="152400"/>
            <a:chOff x="38100" y="38100"/>
            <a:chExt cx="228600" cy="152400"/>
          </a:xfrm>
        </p:grpSpPr>
        <p:sp>
          <p:nvSpPr>
            <p:cNvPr id="143" name="Google Shape;143;p16"/>
            <p:cNvSpPr/>
            <p:nvPr/>
          </p:nvSpPr>
          <p:spPr>
            <a:xfrm>
              <a:off x="38100" y="38100"/>
              <a:ext cx="76200" cy="152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05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4" name="Google Shape;144;p16"/>
            <p:cNvCxnSpPr/>
            <p:nvPr/>
          </p:nvCxnSpPr>
          <p:spPr>
            <a:xfrm>
              <a:off x="152400" y="190500"/>
              <a:ext cx="114300" cy="0"/>
            </a:xfrm>
            <a:prstGeom prst="straightConnector1">
              <a:avLst/>
            </a:prstGeom>
            <a:solidFill>
              <a:srgbClr val="FFFFFF"/>
            </a:solidFill>
            <a:ln cap="sq" cmpd="sng" w="28575">
              <a:solidFill>
                <a:srgbClr val="0055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5" name="Google Shape;145;p16"/>
          <p:cNvSpPr txBox="1"/>
          <p:nvPr/>
        </p:nvSpPr>
        <p:spPr>
          <a:xfrm>
            <a:off x="5476875" y="685800"/>
            <a:ext cx="2952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PYTHON CODE EXAMPLE</a:t>
            </a:r>
            <a:endParaRPr b="1" sz="1000">
              <a:solidFill>
                <a:srgbClr val="5555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46" name="Google Shape;146;p16"/>
          <p:cNvCxnSpPr/>
          <p:nvPr/>
        </p:nvCxnSpPr>
        <p:spPr>
          <a:xfrm>
            <a:off x="5105400" y="1047750"/>
            <a:ext cx="3276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1D1D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16"/>
          <p:cNvSpPr txBox="1"/>
          <p:nvPr/>
        </p:nvSpPr>
        <p:spPr>
          <a:xfrm>
            <a:off x="5105400" y="1285875"/>
            <a:ext cx="3276600" cy="31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rPr>
              <a:t># Define a string variable</a:t>
            </a:r>
            <a:endParaRPr b="1" sz="900">
              <a:solidFill>
                <a:srgbClr val="77777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11111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user_age = </a:t>
            </a:r>
            <a:r>
              <a:rPr b="0" lang="en" sz="1300">
                <a:solidFill>
                  <a:srgbClr val="E65C0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"25"</a:t>
            </a:r>
            <a:endParaRPr b="0" sz="1300">
              <a:solidFill>
                <a:srgbClr val="11111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225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rPr>
              <a:t># Convert string to int &amp; calculate</a:t>
            </a:r>
            <a:endParaRPr b="1" sz="900">
              <a:solidFill>
                <a:srgbClr val="77777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11111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age_in_ten_years = </a:t>
            </a:r>
            <a:r>
              <a:rPr b="1" lang="en" sz="1300">
                <a:solidFill>
                  <a:srgbClr val="0055FF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b="0" lang="en" sz="1300">
                <a:solidFill>
                  <a:srgbClr val="11111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(user_age) + </a:t>
            </a:r>
            <a:r>
              <a:rPr b="0" lang="en" sz="1300">
                <a:solidFill>
                  <a:srgbClr val="FF330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10</a:t>
            </a:r>
            <a:endParaRPr b="0" sz="1300">
              <a:solidFill>
                <a:srgbClr val="11111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225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rPr>
              <a:t># Result evaluation</a:t>
            </a:r>
            <a:endParaRPr b="1" sz="900">
              <a:solidFill>
                <a:srgbClr val="77777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777777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# Evaluates to: 25 + 10 -&gt; 35</a:t>
            </a:r>
            <a:endParaRPr b="0" sz="1300">
              <a:solidFill>
                <a:srgbClr val="555555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1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53" name="Google Shape;153;p17"/>
            <p:cNvSpPr/>
            <p:nvPr/>
          </p:nvSpPr>
          <p:spPr>
            <a:xfrm>
              <a:off x="0" y="0"/>
              <a:ext cx="4572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7"/>
            <p:cNvSpPr/>
            <p:nvPr/>
          </p:nvSpPr>
          <p:spPr>
            <a:xfrm>
              <a:off x="4572000" y="0"/>
              <a:ext cx="4572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5" name="Google Shape;155;p17"/>
            <p:cNvGrpSpPr/>
            <p:nvPr/>
          </p:nvGrpSpPr>
          <p:grpSpPr>
            <a:xfrm>
              <a:off x="476250" y="381000"/>
              <a:ext cx="228600" cy="228600"/>
              <a:chOff x="0" y="0"/>
              <a:chExt cx="228600" cy="228600"/>
            </a:xfrm>
          </p:grpSpPr>
          <p:sp>
            <p:nvSpPr>
              <p:cNvPr id="156" name="Google Shape;156;p17"/>
              <p:cNvSpPr/>
              <p:nvPr/>
            </p:nvSpPr>
            <p:spPr>
              <a:xfrm>
                <a:off x="0" y="0"/>
                <a:ext cx="152400" cy="152400"/>
              </a:xfrm>
              <a:prstGeom prst="rect">
                <a:avLst/>
              </a:prstGeom>
              <a:solidFill>
                <a:srgbClr val="0055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7"/>
              <p:cNvSpPr/>
              <p:nvPr/>
            </p:nvSpPr>
            <p:spPr>
              <a:xfrm>
                <a:off x="76200" y="76200"/>
                <a:ext cx="152400" cy="152400"/>
              </a:xfrm>
              <a:prstGeom prst="rect">
                <a:avLst/>
              </a:prstGeom>
              <a:solidFill>
                <a:srgbClr val="FF33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" name="Google Shape;158;p17"/>
            <p:cNvGrpSpPr/>
            <p:nvPr/>
          </p:nvGrpSpPr>
          <p:grpSpPr>
            <a:xfrm>
              <a:off x="476250" y="4667250"/>
              <a:ext cx="8191500" cy="381150"/>
              <a:chOff x="0" y="0"/>
              <a:chExt cx="8191500" cy="381150"/>
            </a:xfrm>
          </p:grpSpPr>
          <p:cxnSp>
            <p:nvCxnSpPr>
              <p:cNvPr id="159" name="Google Shape;159;p17"/>
              <p:cNvCxnSpPr/>
              <p:nvPr/>
            </p:nvCxnSpPr>
            <p:spPr>
              <a:xfrm>
                <a:off x="0" y="0"/>
                <a:ext cx="81915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D1D1D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60" name="Google Shape;160;p17"/>
              <p:cNvSpPr txBox="1"/>
              <p:nvPr/>
            </p:nvSpPr>
            <p:spPr>
              <a:xfrm>
                <a:off x="0" y="95250"/>
                <a:ext cx="3810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VARSHA A • PYTHON DATA TYPES</a:t>
                </a:r>
                <a:endParaRPr/>
              </a:p>
            </p:txBody>
          </p:sp>
        </p:grpSp>
      </p:grpSp>
      <p:sp>
        <p:nvSpPr>
          <p:cNvPr id="161" name="Google Shape;161;p17"/>
          <p:cNvSpPr txBox="1"/>
          <p:nvPr/>
        </p:nvSpPr>
        <p:spPr>
          <a:xfrm>
            <a:off x="476250" y="809625"/>
            <a:ext cx="3810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6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float() Function</a:t>
            </a:r>
            <a:endParaRPr b="1" sz="2960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11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Converts values into floating-point numbers for precise calculations involving fractions or decimals.</a:t>
            </a:r>
            <a:endParaRPr b="0" sz="1110">
              <a:solidFill>
                <a:srgbClr val="5555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476250" y="1952625"/>
            <a:ext cx="38100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From Integers</a:t>
            </a:r>
            <a:endParaRPr b="1" sz="14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Appends a </a:t>
            </a:r>
            <a:r>
              <a:rPr b="0" lang="en" sz="1300">
                <a:solidFill>
                  <a:srgbClr val="FF3300"/>
                </a:solidFill>
                <a:latin typeface="Roboto Mono"/>
                <a:ea typeface="Roboto Mono"/>
                <a:cs typeface="Roboto Mono"/>
                <a:sym typeface="Roboto Mono"/>
              </a:rPr>
              <a:t>.0</a:t>
            </a:r>
            <a:r>
              <a:rPr b="0" lang="en" sz="13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to the whole number. </a:t>
            </a:r>
            <a:br>
              <a:rPr b="0" lang="en" sz="13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lang="en" sz="11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e.g., float(5) evaluates to 5.0</a:t>
            </a:r>
            <a:endParaRPr b="0" sz="13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35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From Strings</a:t>
            </a:r>
            <a:endParaRPr b="1" sz="14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Parses strings with valid decimals or integers. </a:t>
            </a:r>
            <a:br>
              <a:rPr b="0" lang="en" sz="13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lang="en" sz="11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e.g., float("3.14") evaluates to 3.14</a:t>
            </a:r>
            <a:endParaRPr b="0" sz="13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35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Scientific Notation</a:t>
            </a:r>
            <a:endParaRPr b="1" sz="14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450"/>
              </a:spcAft>
              <a:buNone/>
            </a:pPr>
            <a:r>
              <a:rPr b="0" lang="en" sz="13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Parses exponential notation strings. </a:t>
            </a:r>
            <a:br>
              <a:rPr b="0" lang="en" sz="13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lang="en" sz="11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e.g., float("1e3") evaluates to 1000.0</a:t>
            </a:r>
            <a:endParaRPr b="0" sz="13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63" name="Google Shape;163;p17"/>
          <p:cNvGrpSpPr/>
          <p:nvPr/>
        </p:nvGrpSpPr>
        <p:grpSpPr>
          <a:xfrm>
            <a:off x="4857750" y="1143000"/>
            <a:ext cx="3810000" cy="3238500"/>
            <a:chOff x="0" y="0"/>
            <a:chExt cx="3810000" cy="3238500"/>
          </a:xfrm>
        </p:grpSpPr>
        <p:sp>
          <p:nvSpPr>
            <p:cNvPr id="164" name="Google Shape;164;p17"/>
            <p:cNvSpPr/>
            <p:nvPr/>
          </p:nvSpPr>
          <p:spPr>
            <a:xfrm>
              <a:off x="0" y="0"/>
              <a:ext cx="3810000" cy="3238500"/>
            </a:xfrm>
            <a:prstGeom prst="roundRect">
              <a:avLst>
                <a:gd fmla="val 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7"/>
            <p:cNvSpPr/>
            <p:nvPr/>
          </p:nvSpPr>
          <p:spPr>
            <a:xfrm>
              <a:off x="0" y="0"/>
              <a:ext cx="57300" cy="32385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6" name="Google Shape;166;p17"/>
            <p:cNvGrpSpPr/>
            <p:nvPr/>
          </p:nvGrpSpPr>
          <p:grpSpPr>
            <a:xfrm>
              <a:off x="323850" y="323850"/>
              <a:ext cx="228600" cy="152400"/>
              <a:chOff x="38100" y="38100"/>
              <a:chExt cx="228600" cy="152400"/>
            </a:xfrm>
          </p:grpSpPr>
          <p:sp>
            <p:nvSpPr>
              <p:cNvPr id="167" name="Google Shape;167;p17"/>
              <p:cNvSpPr/>
              <p:nvPr/>
            </p:nvSpPr>
            <p:spPr>
              <a:xfrm>
                <a:off x="38100" y="38100"/>
                <a:ext cx="76200" cy="152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FF33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68" name="Google Shape;168;p17"/>
              <p:cNvCxnSpPr/>
              <p:nvPr/>
            </p:nvCxnSpPr>
            <p:spPr>
              <a:xfrm>
                <a:off x="152400" y="19050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cap="sq" cmpd="sng" w="28575">
                <a:solidFill>
                  <a:srgbClr val="FF33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69" name="Google Shape;169;p17"/>
            <p:cNvSpPr txBox="1"/>
            <p:nvPr/>
          </p:nvSpPr>
          <p:spPr>
            <a:xfrm>
              <a:off x="666750" y="266700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CODE EXAMPLE</a:t>
              </a:r>
              <a:endParaRPr b="1" sz="11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0" name="Google Shape;170;p17"/>
            <p:cNvSpPr/>
            <p:nvPr/>
          </p:nvSpPr>
          <p:spPr>
            <a:xfrm>
              <a:off x="285750" y="666750"/>
              <a:ext cx="3238500" cy="2238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7"/>
            <p:cNvSpPr txBox="1"/>
            <p:nvPr/>
          </p:nvSpPr>
          <p:spPr>
            <a:xfrm>
              <a:off x="428625" y="809625"/>
              <a:ext cx="2952900" cy="19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555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Convert string to float</a:t>
              </a:r>
              <a:endParaRPr sz="1100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11111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price_string = </a:t>
              </a:r>
              <a:r>
                <a:rPr lang="en" sz="1200">
                  <a:solidFill>
                    <a:srgbClr val="E65C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"19.99"</a:t>
              </a:r>
              <a:endParaRPr sz="1200">
                <a:solidFill>
                  <a:srgbClr val="11111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11111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total = </a:t>
              </a:r>
              <a:r>
                <a:rPr b="1" lang="en" sz="1200">
                  <a:solidFill>
                    <a:srgbClr val="FF33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float</a:t>
              </a:r>
              <a:r>
                <a:rPr lang="en" sz="1200">
                  <a:solidFill>
                    <a:srgbClr val="11111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(price_string) * </a:t>
              </a:r>
              <a:r>
                <a:rPr lang="en" sz="1200">
                  <a:solidFill>
                    <a:srgbClr val="0055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2</a:t>
              </a:r>
              <a:endParaRPr sz="1200">
                <a:solidFill>
                  <a:srgbClr val="11111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5555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Resulting Evaluation</a:t>
              </a:r>
              <a:endParaRPr sz="1000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33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total → 39.98</a:t>
              </a:r>
              <a:endParaRPr b="1" sz="1200">
                <a:solidFill>
                  <a:srgbClr val="FF330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18"/>
          <p:cNvGrpSpPr/>
          <p:nvPr/>
        </p:nvGrpSpPr>
        <p:grpSpPr>
          <a:xfrm>
            <a:off x="0" y="0"/>
            <a:ext cx="9144000" cy="5143650"/>
            <a:chOff x="0" y="0"/>
            <a:chExt cx="9144000" cy="5143650"/>
          </a:xfrm>
        </p:grpSpPr>
        <p:sp>
          <p:nvSpPr>
            <p:cNvPr id="177" name="Google Shape;177;p18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8" name="Google Shape;178;p18"/>
            <p:cNvGrpSpPr/>
            <p:nvPr/>
          </p:nvGrpSpPr>
          <p:grpSpPr>
            <a:xfrm>
              <a:off x="8515350" y="381000"/>
              <a:ext cx="228600" cy="228600"/>
              <a:chOff x="0" y="0"/>
              <a:chExt cx="228600" cy="228600"/>
            </a:xfrm>
          </p:grpSpPr>
          <p:sp>
            <p:nvSpPr>
              <p:cNvPr id="179" name="Google Shape;179;p18"/>
              <p:cNvSpPr/>
              <p:nvPr/>
            </p:nvSpPr>
            <p:spPr>
              <a:xfrm>
                <a:off x="0" y="0"/>
                <a:ext cx="152400" cy="152400"/>
              </a:xfrm>
              <a:prstGeom prst="rect">
                <a:avLst/>
              </a:prstGeom>
              <a:solidFill>
                <a:srgbClr val="0055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8"/>
              <p:cNvSpPr/>
              <p:nvPr/>
            </p:nvSpPr>
            <p:spPr>
              <a:xfrm>
                <a:off x="76200" y="76200"/>
                <a:ext cx="152400" cy="152400"/>
              </a:xfrm>
              <a:prstGeom prst="rect">
                <a:avLst/>
              </a:prstGeom>
              <a:solidFill>
                <a:srgbClr val="FF33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1" name="Google Shape;181;p18"/>
            <p:cNvGrpSpPr/>
            <p:nvPr/>
          </p:nvGrpSpPr>
          <p:grpSpPr>
            <a:xfrm>
              <a:off x="476250" y="4762500"/>
              <a:ext cx="8191500" cy="381150"/>
              <a:chOff x="0" y="0"/>
              <a:chExt cx="8191500" cy="381150"/>
            </a:xfrm>
          </p:grpSpPr>
          <p:cxnSp>
            <p:nvCxnSpPr>
              <p:cNvPr id="182" name="Google Shape;182;p18"/>
              <p:cNvCxnSpPr/>
              <p:nvPr/>
            </p:nvCxnSpPr>
            <p:spPr>
              <a:xfrm>
                <a:off x="0" y="0"/>
                <a:ext cx="81915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D1D1D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83" name="Google Shape;183;p18"/>
              <p:cNvSpPr txBox="1"/>
              <p:nvPr/>
            </p:nvSpPr>
            <p:spPr>
              <a:xfrm>
                <a:off x="0" y="95250"/>
                <a:ext cx="3810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VARSHA A • PYTHON DATA TYPES</a:t>
                </a:r>
                <a:endParaRPr/>
              </a:p>
            </p:txBody>
          </p:sp>
        </p:grpSp>
      </p:grpSp>
      <p:sp>
        <p:nvSpPr>
          <p:cNvPr id="184" name="Google Shape;184;p18"/>
          <p:cNvSpPr txBox="1"/>
          <p:nvPr/>
        </p:nvSpPr>
        <p:spPr>
          <a:xfrm>
            <a:off x="476250" y="3810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7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str() Function Transforms Any Data Type into Text</a:t>
            </a:r>
            <a:endParaRPr b="1" sz="2170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b="0" lang="en" sz="1008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The most flexible conversion tool—critical for displaying output or concatenating variables.</a:t>
            </a:r>
            <a:endParaRPr b="0" sz="1008">
              <a:solidFill>
                <a:srgbClr val="5555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85" name="Google Shape;185;p18"/>
          <p:cNvGrpSpPr/>
          <p:nvPr/>
        </p:nvGrpSpPr>
        <p:grpSpPr>
          <a:xfrm>
            <a:off x="476250" y="1333500"/>
            <a:ext cx="3619500" cy="3143325"/>
            <a:chOff x="0" y="0"/>
            <a:chExt cx="3619500" cy="3143325"/>
          </a:xfrm>
        </p:grpSpPr>
        <p:sp>
          <p:nvSpPr>
            <p:cNvPr id="186" name="Google Shape;186;p18"/>
            <p:cNvSpPr txBox="1"/>
            <p:nvPr/>
          </p:nvSpPr>
          <p:spPr>
            <a:xfrm>
              <a:off x="0" y="0"/>
              <a:ext cx="3619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RULES AND SYNTAX</a:t>
              </a:r>
              <a:endParaRPr/>
            </a:p>
          </p:txBody>
        </p:sp>
        <p:grpSp>
          <p:nvGrpSpPr>
            <p:cNvPr id="187" name="Google Shape;187;p18"/>
            <p:cNvGrpSpPr/>
            <p:nvPr/>
          </p:nvGrpSpPr>
          <p:grpSpPr>
            <a:xfrm>
              <a:off x="0" y="285750"/>
              <a:ext cx="3619500" cy="619200"/>
              <a:chOff x="0" y="0"/>
              <a:chExt cx="3619500" cy="619200"/>
            </a:xfrm>
          </p:grpSpPr>
          <p:sp>
            <p:nvSpPr>
              <p:cNvPr id="188" name="Google Shape;188;p18"/>
              <p:cNvSpPr/>
              <p:nvPr/>
            </p:nvSpPr>
            <p:spPr>
              <a:xfrm>
                <a:off x="0" y="0"/>
                <a:ext cx="3619500" cy="619200"/>
              </a:xfrm>
              <a:prstGeom prst="rect">
                <a:avLst/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18"/>
              <p:cNvSpPr/>
              <p:nvPr/>
            </p:nvSpPr>
            <p:spPr>
              <a:xfrm>
                <a:off x="0" y="0"/>
                <a:ext cx="57300" cy="619200"/>
              </a:xfrm>
              <a:prstGeom prst="rect">
                <a:avLst/>
              </a:prstGeom>
              <a:solidFill>
                <a:srgbClr val="0055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8"/>
              <p:cNvSpPr txBox="1"/>
              <p:nvPr/>
            </p:nvSpPr>
            <p:spPr>
              <a:xfrm>
                <a:off x="190500" y="114300"/>
                <a:ext cx="32385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From Integers</a:t>
                </a:r>
                <a:endParaRPr b="1" sz="13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055FF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str(42)</a:t>
                </a:r>
                <a:r>
                  <a:rPr b="0" lang="en" sz="1100">
                    <a:solidFill>
                      <a:srgbClr val="111111"/>
                    </a:solidFill>
                    <a:latin typeface="Roboto Mono Medium"/>
                    <a:ea typeface="Roboto Mono Medium"/>
                    <a:cs typeface="Roboto Mono Medium"/>
                    <a:sym typeface="Roboto Mono Medium"/>
                  </a:rPr>
                  <a:t> becomes </a:t>
                </a:r>
                <a:r>
                  <a:rPr b="1" lang="en" sz="1100">
                    <a:solidFill>
                      <a:srgbClr val="E65C0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"42"</a:t>
                </a:r>
                <a:endParaRPr b="0" sz="1100">
                  <a:solidFill>
                    <a:srgbClr val="111111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endParaRPr>
              </a:p>
            </p:txBody>
          </p:sp>
        </p:grpSp>
        <p:grpSp>
          <p:nvGrpSpPr>
            <p:cNvPr id="191" name="Google Shape;191;p18"/>
            <p:cNvGrpSpPr/>
            <p:nvPr/>
          </p:nvGrpSpPr>
          <p:grpSpPr>
            <a:xfrm>
              <a:off x="0" y="1000125"/>
              <a:ext cx="3619500" cy="619200"/>
              <a:chOff x="0" y="0"/>
              <a:chExt cx="3619500" cy="619200"/>
            </a:xfrm>
          </p:grpSpPr>
          <p:sp>
            <p:nvSpPr>
              <p:cNvPr id="192" name="Google Shape;192;p18"/>
              <p:cNvSpPr/>
              <p:nvPr/>
            </p:nvSpPr>
            <p:spPr>
              <a:xfrm>
                <a:off x="0" y="0"/>
                <a:ext cx="3619500" cy="619200"/>
              </a:xfrm>
              <a:prstGeom prst="rect">
                <a:avLst/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8"/>
              <p:cNvSpPr/>
              <p:nvPr/>
            </p:nvSpPr>
            <p:spPr>
              <a:xfrm>
                <a:off x="0" y="0"/>
                <a:ext cx="57300" cy="619200"/>
              </a:xfrm>
              <a:prstGeom prst="rect">
                <a:avLst/>
              </a:prstGeom>
              <a:solidFill>
                <a:srgbClr val="FF33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18"/>
              <p:cNvSpPr txBox="1"/>
              <p:nvPr/>
            </p:nvSpPr>
            <p:spPr>
              <a:xfrm>
                <a:off x="190500" y="114300"/>
                <a:ext cx="32385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From Floats</a:t>
                </a:r>
                <a:endParaRPr b="1" sz="13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330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str(3.14)</a:t>
                </a:r>
                <a:r>
                  <a:rPr b="0" lang="en" sz="1100">
                    <a:solidFill>
                      <a:srgbClr val="111111"/>
                    </a:solidFill>
                    <a:latin typeface="Roboto Mono Medium"/>
                    <a:ea typeface="Roboto Mono Medium"/>
                    <a:cs typeface="Roboto Mono Medium"/>
                    <a:sym typeface="Roboto Mono Medium"/>
                  </a:rPr>
                  <a:t> becomes </a:t>
                </a:r>
                <a:r>
                  <a:rPr b="1" lang="en" sz="1100">
                    <a:solidFill>
                      <a:srgbClr val="E65C0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"3.14"</a:t>
                </a:r>
                <a:endParaRPr b="0" sz="1100">
                  <a:solidFill>
                    <a:srgbClr val="111111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endParaRPr>
              </a:p>
            </p:txBody>
          </p:sp>
        </p:grpSp>
        <p:grpSp>
          <p:nvGrpSpPr>
            <p:cNvPr id="195" name="Google Shape;195;p18"/>
            <p:cNvGrpSpPr/>
            <p:nvPr/>
          </p:nvGrpSpPr>
          <p:grpSpPr>
            <a:xfrm>
              <a:off x="0" y="1762125"/>
              <a:ext cx="3619500" cy="1381200"/>
              <a:chOff x="0" y="0"/>
              <a:chExt cx="3619500" cy="1381200"/>
            </a:xfrm>
          </p:grpSpPr>
          <p:sp>
            <p:nvSpPr>
              <p:cNvPr id="196" name="Google Shape;196;p18"/>
              <p:cNvSpPr/>
              <p:nvPr/>
            </p:nvSpPr>
            <p:spPr>
              <a:xfrm>
                <a:off x="0" y="0"/>
                <a:ext cx="3619500" cy="1381200"/>
              </a:xfrm>
              <a:prstGeom prst="rect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8"/>
              <p:cNvSpPr/>
              <p:nvPr/>
            </p:nvSpPr>
            <p:spPr>
              <a:xfrm>
                <a:off x="0" y="0"/>
                <a:ext cx="3619500" cy="38100"/>
              </a:xfrm>
              <a:prstGeom prst="rect">
                <a:avLst/>
              </a:prstGeom>
              <a:solidFill>
                <a:srgbClr val="FF33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18"/>
              <p:cNvSpPr txBox="1"/>
              <p:nvPr/>
            </p:nvSpPr>
            <p:spPr>
              <a:xfrm>
                <a:off x="190500" y="171450"/>
                <a:ext cx="32385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F3300"/>
                    </a:solidFill>
                    <a:latin typeface="Inter"/>
                    <a:ea typeface="Inter"/>
                    <a:cs typeface="Inter"/>
                    <a:sym typeface="Inter"/>
                  </a:rPr>
                  <a:t>TYPEERROR WARNING</a:t>
                </a:r>
                <a:endParaRPr b="1" sz="1000">
                  <a:solidFill>
                    <a:srgbClr val="FF33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600"/>
                  </a:spcAft>
                  <a:buNone/>
                </a:pPr>
                <a:r>
                  <a:rPr b="0" lang="en" sz="11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Without </a:t>
                </a:r>
                <a:r>
                  <a:rPr b="0" lang="en" sz="1100">
                    <a:solidFill>
                      <a:srgbClr val="0055FF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str()</a:t>
                </a:r>
                <a:r>
                  <a:rPr b="0" lang="en" sz="11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, attempting to add a string and an integer directly results in a </a:t>
                </a:r>
                <a:r>
                  <a:rPr b="1" lang="en" sz="1100">
                    <a:solidFill>
                      <a:srgbClr val="FF3300"/>
                    </a:solidFill>
                    <a:latin typeface="Inter"/>
                    <a:ea typeface="Inter"/>
                    <a:cs typeface="Inter"/>
                    <a:sym typeface="Inter"/>
                  </a:rPr>
                  <a:t>TypeError</a:t>
                </a:r>
                <a:r>
                  <a:rPr b="0" lang="en" sz="11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b="0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99" name="Google Shape;199;p18"/>
          <p:cNvGrpSpPr/>
          <p:nvPr/>
        </p:nvGrpSpPr>
        <p:grpSpPr>
          <a:xfrm>
            <a:off x="4381500" y="1333500"/>
            <a:ext cx="4286400" cy="3143250"/>
            <a:chOff x="0" y="0"/>
            <a:chExt cx="4286400" cy="3143250"/>
          </a:xfrm>
        </p:grpSpPr>
        <p:sp>
          <p:nvSpPr>
            <p:cNvPr id="200" name="Google Shape;200;p18"/>
            <p:cNvSpPr txBox="1"/>
            <p:nvPr/>
          </p:nvSpPr>
          <p:spPr>
            <a:xfrm>
              <a:off x="0" y="0"/>
              <a:ext cx="4286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CODE EXAMPLE</a:t>
              </a:r>
              <a:endParaRPr/>
            </a:p>
          </p:txBody>
        </p:sp>
        <p:grpSp>
          <p:nvGrpSpPr>
            <p:cNvPr id="201" name="Google Shape;201;p18"/>
            <p:cNvGrpSpPr/>
            <p:nvPr/>
          </p:nvGrpSpPr>
          <p:grpSpPr>
            <a:xfrm>
              <a:off x="0" y="285750"/>
              <a:ext cx="4286400" cy="2857500"/>
              <a:chOff x="0" y="0"/>
              <a:chExt cx="4286400" cy="2857500"/>
            </a:xfrm>
          </p:grpSpPr>
          <p:sp>
            <p:nvSpPr>
              <p:cNvPr id="202" name="Google Shape;202;p18"/>
              <p:cNvSpPr/>
              <p:nvPr/>
            </p:nvSpPr>
            <p:spPr>
              <a:xfrm>
                <a:off x="0" y="0"/>
                <a:ext cx="4286400" cy="2857500"/>
              </a:xfrm>
              <a:prstGeom prst="rect">
                <a:avLst/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18"/>
              <p:cNvSpPr/>
              <p:nvPr/>
            </p:nvSpPr>
            <p:spPr>
              <a:xfrm>
                <a:off x="0" y="0"/>
                <a:ext cx="76200" cy="2857500"/>
              </a:xfrm>
              <a:prstGeom prst="rect">
                <a:avLst/>
              </a:prstGeom>
              <a:solidFill>
                <a:srgbClr val="0055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04" name="Google Shape;204;p18"/>
              <p:cNvGrpSpPr/>
              <p:nvPr/>
            </p:nvGrpSpPr>
            <p:grpSpPr>
              <a:xfrm>
                <a:off x="266700" y="266700"/>
                <a:ext cx="228600" cy="152400"/>
                <a:chOff x="38100" y="38100"/>
                <a:chExt cx="228600" cy="152400"/>
              </a:xfrm>
            </p:grpSpPr>
            <p:sp>
              <p:nvSpPr>
                <p:cNvPr id="205" name="Google Shape;205;p18"/>
                <p:cNvSpPr/>
                <p:nvPr/>
              </p:nvSpPr>
              <p:spPr>
                <a:xfrm>
                  <a:off x="38100" y="38100"/>
                  <a:ext cx="76200" cy="1524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0"/>
                      </a:moveTo>
                      <a:lnTo>
                        <a:pt x="120000" y="60000"/>
                      </a:lnTo>
                      <a:lnTo>
                        <a:pt x="0" y="12000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sq" cmpd="sng" w="28575">
                  <a:solidFill>
                    <a:srgbClr val="0055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206" name="Google Shape;206;p18"/>
                <p:cNvCxnSpPr/>
                <p:nvPr/>
              </p:nvCxnSpPr>
              <p:spPr>
                <a:xfrm>
                  <a:off x="152400" y="190500"/>
                  <a:ext cx="1143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cap="sq" cmpd="sng" w="28575">
                  <a:solidFill>
                    <a:srgbClr val="0055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07" name="Google Shape;207;p18"/>
              <p:cNvSpPr txBox="1"/>
              <p:nvPr/>
            </p:nvSpPr>
            <p:spPr>
              <a:xfrm>
                <a:off x="228600" y="619125"/>
                <a:ext cx="3829200" cy="20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111111"/>
                    </a:solidFill>
                    <a:latin typeface="Roboto Mono Medium"/>
                    <a:ea typeface="Roboto Mono Medium"/>
                    <a:cs typeface="Roboto Mono Medium"/>
                    <a:sym typeface="Roboto Mono Medium"/>
                  </a:rPr>
                  <a:t>score = </a:t>
                </a:r>
                <a:r>
                  <a:rPr b="0" lang="en" sz="1300">
                    <a:solidFill>
                      <a:srgbClr val="0055FF"/>
                    </a:solidFill>
                    <a:latin typeface="Roboto Mono Medium"/>
                    <a:ea typeface="Roboto Mono Medium"/>
                    <a:cs typeface="Roboto Mono Medium"/>
                    <a:sym typeface="Roboto Mono Medium"/>
                  </a:rPr>
                  <a:t>95</a:t>
                </a:r>
                <a:endParaRPr b="0" sz="1300">
                  <a:solidFill>
                    <a:srgbClr val="111111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111111"/>
                    </a:solidFill>
                    <a:latin typeface="Roboto Mono Medium"/>
                    <a:ea typeface="Roboto Mono Medium"/>
                    <a:cs typeface="Roboto Mono Medium"/>
                    <a:sym typeface="Roboto Mono Medium"/>
                  </a:rPr>
                  <a:t>message = </a:t>
                </a:r>
                <a:r>
                  <a:rPr b="0" lang="en" sz="1300">
                    <a:solidFill>
                      <a:srgbClr val="E65C00"/>
                    </a:solidFill>
                    <a:latin typeface="Roboto Mono Medium"/>
                    <a:ea typeface="Roboto Mono Medium"/>
                    <a:cs typeface="Roboto Mono Medium"/>
                    <a:sym typeface="Roboto Mono Medium"/>
                  </a:rPr>
                  <a:t>"Your final score is: "</a:t>
                </a:r>
                <a:r>
                  <a:rPr b="0" lang="en" sz="1300">
                    <a:solidFill>
                      <a:srgbClr val="111111"/>
                    </a:solidFill>
                    <a:latin typeface="Roboto Mono Medium"/>
                    <a:ea typeface="Roboto Mono Medium"/>
                    <a:cs typeface="Roboto Mono Medium"/>
                    <a:sym typeface="Roboto Mono Medium"/>
                  </a:rPr>
                  <a:t> + </a:t>
                </a:r>
                <a:r>
                  <a:rPr b="0" lang="en" sz="1300">
                    <a:solidFill>
                      <a:srgbClr val="0055FF"/>
                    </a:solidFill>
                    <a:latin typeface="Roboto Mono Medium"/>
                    <a:ea typeface="Roboto Mono Medium"/>
                    <a:cs typeface="Roboto Mono Medium"/>
                    <a:sym typeface="Roboto Mono Medium"/>
                  </a:rPr>
                  <a:t>str</a:t>
                </a:r>
                <a:r>
                  <a:rPr b="0" lang="en" sz="1300">
                    <a:solidFill>
                      <a:srgbClr val="111111"/>
                    </a:solidFill>
                    <a:latin typeface="Roboto Mono Medium"/>
                    <a:ea typeface="Roboto Mono Medium"/>
                    <a:cs typeface="Roboto Mono Medium"/>
                    <a:sym typeface="Roboto Mono Medium"/>
                  </a:rPr>
                  <a:t>(score)</a:t>
                </a:r>
                <a:endParaRPr b="0" sz="1300">
                  <a:solidFill>
                    <a:srgbClr val="111111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0055FF"/>
                    </a:solidFill>
                    <a:latin typeface="Roboto Mono Medium"/>
                    <a:ea typeface="Roboto Mono Medium"/>
                    <a:cs typeface="Roboto Mono Medium"/>
                    <a:sym typeface="Roboto Mono Medium"/>
                  </a:rPr>
                  <a:t>print</a:t>
                </a:r>
                <a:r>
                  <a:rPr b="0" lang="en" sz="1300">
                    <a:solidFill>
                      <a:srgbClr val="111111"/>
                    </a:solidFill>
                    <a:latin typeface="Roboto Mono Medium"/>
                    <a:ea typeface="Roboto Mono Medium"/>
                    <a:cs typeface="Roboto Mono Medium"/>
                    <a:sym typeface="Roboto Mono Medium"/>
                  </a:rPr>
                  <a:t>(message)</a:t>
                </a:r>
                <a:endParaRPr b="0" sz="1300">
                  <a:solidFill>
                    <a:srgbClr val="111111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endParaRPr>
              </a:p>
              <a:p>
                <a:pPr indent="0" lvl="0" marL="0" rtl="0" algn="l">
                  <a:spcBef>
                    <a:spcPts val="180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OUTPUT</a:t>
                </a:r>
                <a:endParaRPr b="1" sz="8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E65C00"/>
                    </a:solidFill>
                    <a:latin typeface="Roboto Mono Medium"/>
                    <a:ea typeface="Roboto Mono Medium"/>
                    <a:cs typeface="Roboto Mono Medium"/>
                    <a:sym typeface="Roboto Mono Medium"/>
                  </a:rPr>
                  <a:t>Your final score is: 95</a:t>
                </a:r>
                <a:endParaRPr b="0" sz="1200">
                  <a:solidFill>
                    <a:srgbClr val="E65C00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19"/>
          <p:cNvGrpSpPr/>
          <p:nvPr/>
        </p:nvGrpSpPr>
        <p:grpSpPr>
          <a:xfrm>
            <a:off x="8515350" y="381000"/>
            <a:ext cx="228600" cy="228600"/>
            <a:chOff x="0" y="0"/>
            <a:chExt cx="228600" cy="228600"/>
          </a:xfrm>
        </p:grpSpPr>
        <p:sp>
          <p:nvSpPr>
            <p:cNvPr id="213" name="Google Shape;213;p19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0055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9"/>
            <p:cNvSpPr/>
            <p:nvPr/>
          </p:nvSpPr>
          <p:spPr>
            <a:xfrm>
              <a:off x="76200" y="76200"/>
              <a:ext cx="152400" cy="1524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5" name="Google Shape;215;p19"/>
          <p:cNvSpPr txBox="1"/>
          <p:nvPr/>
        </p:nvSpPr>
        <p:spPr>
          <a:xfrm>
            <a:off x="476250" y="381000"/>
            <a:ext cx="7620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8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Invalid Conversions Trigger ValueError Exceptions</a:t>
            </a:r>
            <a:endParaRPr b="1" sz="2480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085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Type conversion is not magic; the source data must be compatible with the target type.</a:t>
            </a:r>
            <a:endParaRPr b="0" sz="1085">
              <a:solidFill>
                <a:srgbClr val="5555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16" name="Google Shape;216;p19"/>
          <p:cNvGrpSpPr/>
          <p:nvPr/>
        </p:nvGrpSpPr>
        <p:grpSpPr>
          <a:xfrm>
            <a:off x="476250" y="1381125"/>
            <a:ext cx="8191500" cy="1571550"/>
            <a:chOff x="0" y="0"/>
            <a:chExt cx="8191500" cy="1571550"/>
          </a:xfrm>
        </p:grpSpPr>
        <p:grpSp>
          <p:nvGrpSpPr>
            <p:cNvPr id="217" name="Google Shape;217;p19"/>
            <p:cNvGrpSpPr/>
            <p:nvPr/>
          </p:nvGrpSpPr>
          <p:grpSpPr>
            <a:xfrm>
              <a:off x="0" y="0"/>
              <a:ext cx="8191500" cy="523800"/>
              <a:chOff x="0" y="0"/>
              <a:chExt cx="8191500" cy="523800"/>
            </a:xfrm>
          </p:grpSpPr>
          <p:sp>
            <p:nvSpPr>
              <p:cNvPr id="218" name="Google Shape;218;p19"/>
              <p:cNvSpPr/>
              <p:nvPr/>
            </p:nvSpPr>
            <p:spPr>
              <a:xfrm>
                <a:off x="0" y="38100"/>
                <a:ext cx="76200" cy="76200"/>
              </a:xfrm>
              <a:prstGeom prst="rect">
                <a:avLst/>
              </a:prstGeom>
              <a:solidFill>
                <a:srgbClr val="FF33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19"/>
              <p:cNvSpPr txBox="1"/>
              <p:nvPr/>
            </p:nvSpPr>
            <p:spPr>
              <a:xfrm>
                <a:off x="228600" y="0"/>
                <a:ext cx="79629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b="1" lang="en" sz="1300">
                    <a:solidFill>
                      <a:srgbClr val="FF330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int("3.14")</a:t>
                </a:r>
                <a:r>
                  <a:rPr b="0" lang="en" sz="14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: Fails because the string contains a decimal. You must use </a:t>
                </a:r>
                <a:r>
                  <a:rPr b="0" lang="en" sz="1300">
                    <a:solidFill>
                      <a:srgbClr val="0055FF"/>
                    </a:solidFill>
                    <a:latin typeface="Roboto Mono Medium"/>
                    <a:ea typeface="Roboto Mono Medium"/>
                    <a:cs typeface="Roboto Mono Medium"/>
                    <a:sym typeface="Roboto Mono Medium"/>
                  </a:rPr>
                  <a:t>float()</a:t>
                </a:r>
                <a:r>
                  <a:rPr b="0" lang="en" sz="14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 first.</a:t>
                </a:r>
                <a:endParaRPr b="0" sz="14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20" name="Google Shape;220;p19"/>
            <p:cNvGrpSpPr/>
            <p:nvPr/>
          </p:nvGrpSpPr>
          <p:grpSpPr>
            <a:xfrm>
              <a:off x="0" y="523875"/>
              <a:ext cx="8191500" cy="523800"/>
              <a:chOff x="0" y="0"/>
              <a:chExt cx="8191500" cy="523800"/>
            </a:xfrm>
          </p:grpSpPr>
          <p:sp>
            <p:nvSpPr>
              <p:cNvPr id="221" name="Google Shape;221;p19"/>
              <p:cNvSpPr/>
              <p:nvPr/>
            </p:nvSpPr>
            <p:spPr>
              <a:xfrm>
                <a:off x="0" y="38100"/>
                <a:ext cx="76200" cy="76200"/>
              </a:xfrm>
              <a:prstGeom prst="rect">
                <a:avLst/>
              </a:prstGeom>
              <a:solidFill>
                <a:srgbClr val="FF33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9"/>
              <p:cNvSpPr txBox="1"/>
              <p:nvPr/>
            </p:nvSpPr>
            <p:spPr>
              <a:xfrm>
                <a:off x="228600" y="0"/>
                <a:ext cx="79629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b="1" lang="en" sz="1300">
                    <a:solidFill>
                      <a:srgbClr val="FF330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int("hello")</a:t>
                </a:r>
                <a:r>
                  <a:rPr b="0" lang="en" sz="14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: Fails because letters cannot be converted to base-10 numbers.</a:t>
                </a:r>
                <a:endParaRPr b="0" sz="14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23" name="Google Shape;223;p19"/>
            <p:cNvGrpSpPr/>
            <p:nvPr/>
          </p:nvGrpSpPr>
          <p:grpSpPr>
            <a:xfrm>
              <a:off x="0" y="1047750"/>
              <a:ext cx="8191500" cy="523800"/>
              <a:chOff x="0" y="0"/>
              <a:chExt cx="8191500" cy="523800"/>
            </a:xfrm>
          </p:grpSpPr>
          <p:sp>
            <p:nvSpPr>
              <p:cNvPr id="224" name="Google Shape;224;p19"/>
              <p:cNvSpPr/>
              <p:nvPr/>
            </p:nvSpPr>
            <p:spPr>
              <a:xfrm>
                <a:off x="0" y="38100"/>
                <a:ext cx="76200" cy="76200"/>
              </a:xfrm>
              <a:prstGeom prst="rect">
                <a:avLst/>
              </a:prstGeom>
              <a:solidFill>
                <a:srgbClr val="FF33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9"/>
              <p:cNvSpPr txBox="1"/>
              <p:nvPr/>
            </p:nvSpPr>
            <p:spPr>
              <a:xfrm>
                <a:off x="228600" y="0"/>
                <a:ext cx="79629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b="1" lang="en" sz="1300">
                    <a:solidFill>
                      <a:srgbClr val="FF330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float("20,000")</a:t>
                </a:r>
                <a:r>
                  <a:rPr b="0" lang="en" sz="14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: Fails because commas are not recognized as valid numeric characters in basic conversion.</a:t>
                </a:r>
                <a:endParaRPr b="0" sz="14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26" name="Google Shape;226;p19"/>
          <p:cNvGrpSpPr/>
          <p:nvPr/>
        </p:nvGrpSpPr>
        <p:grpSpPr>
          <a:xfrm>
            <a:off x="476250" y="3143250"/>
            <a:ext cx="8191500" cy="1428900"/>
            <a:chOff x="0" y="0"/>
            <a:chExt cx="8191500" cy="1428900"/>
          </a:xfrm>
        </p:grpSpPr>
        <p:sp>
          <p:nvSpPr>
            <p:cNvPr id="227" name="Google Shape;227;p19"/>
            <p:cNvSpPr/>
            <p:nvPr/>
          </p:nvSpPr>
          <p:spPr>
            <a:xfrm>
              <a:off x="0" y="0"/>
              <a:ext cx="8191500" cy="14289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9"/>
            <p:cNvSpPr/>
            <p:nvPr/>
          </p:nvSpPr>
          <p:spPr>
            <a:xfrm>
              <a:off x="0" y="0"/>
              <a:ext cx="8191500" cy="381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9"/>
            <p:cNvSpPr txBox="1"/>
            <p:nvPr/>
          </p:nvSpPr>
          <p:spPr>
            <a:xfrm>
              <a:off x="381000" y="285750"/>
              <a:ext cx="7429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3300"/>
                  </a:solidFill>
                  <a:latin typeface="Inter"/>
                  <a:ea typeface="Inter"/>
                  <a:cs typeface="Inter"/>
                  <a:sym typeface="Inter"/>
                </a:rPr>
                <a:t>BEST PRACTICE &amp; ERROR PREVENTION</a:t>
              </a:r>
              <a:endParaRPr b="1" sz="1100">
                <a:solidFill>
                  <a:srgbClr val="FF33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" sz="15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Always sanitize and validate user input before attempting to cast it. Failing to ensure compatibility results in a </a:t>
              </a:r>
              <a:r>
                <a:rPr b="0" lang="en" sz="1400">
                  <a:solidFill>
                    <a:srgbClr val="FF3300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ValueError</a:t>
              </a:r>
              <a:r>
                <a:rPr b="0" lang="en" sz="15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, crashing your program if unhandled.</a:t>
              </a:r>
              <a:endParaRPr b="0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5" name="Google Shape;235;p20"/>
          <p:cNvGrpSpPr/>
          <p:nvPr/>
        </p:nvGrpSpPr>
        <p:grpSpPr>
          <a:xfrm>
            <a:off x="8515350" y="381000"/>
            <a:ext cx="228600" cy="228600"/>
            <a:chOff x="0" y="0"/>
            <a:chExt cx="228600" cy="228600"/>
          </a:xfrm>
        </p:grpSpPr>
        <p:sp>
          <p:nvSpPr>
            <p:cNvPr id="236" name="Google Shape;236;p20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0055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0"/>
            <p:cNvSpPr/>
            <p:nvPr/>
          </p:nvSpPr>
          <p:spPr>
            <a:xfrm>
              <a:off x="76200" y="76200"/>
              <a:ext cx="152400" cy="1524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8" name="Google Shape;238;p20"/>
          <p:cNvSpPr txBox="1"/>
          <p:nvPr/>
        </p:nvSpPr>
        <p:spPr>
          <a:xfrm>
            <a:off x="476250" y="342900"/>
            <a:ext cx="7810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6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Apply Type Conversion to Solve Real-World Input Scenarios</a:t>
            </a:r>
            <a:endParaRPr b="1" sz="1960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91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Let's review a practical example combining these concepts. The </a:t>
            </a:r>
            <a:r>
              <a:rPr b="1" lang="en" sz="910">
                <a:solidFill>
                  <a:srgbClr val="0055FF"/>
                </a:solidFill>
                <a:latin typeface="Roboto Mono"/>
                <a:ea typeface="Roboto Mono"/>
                <a:cs typeface="Roboto Mono"/>
                <a:sym typeface="Roboto Mono"/>
              </a:rPr>
              <a:t>input()</a:t>
            </a:r>
            <a:r>
              <a:rPr b="0" lang="en" sz="91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 function always returns a string, making conversion mandatory for math.</a:t>
            </a:r>
            <a:endParaRPr b="0" sz="910">
              <a:solidFill>
                <a:srgbClr val="5555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39" name="Google Shape;239;p20"/>
          <p:cNvGrpSpPr/>
          <p:nvPr/>
        </p:nvGrpSpPr>
        <p:grpSpPr>
          <a:xfrm>
            <a:off x="476250" y="1285875"/>
            <a:ext cx="3238500" cy="2952900"/>
            <a:chOff x="0" y="0"/>
            <a:chExt cx="3238500" cy="2952900"/>
          </a:xfrm>
        </p:grpSpPr>
        <p:sp>
          <p:nvSpPr>
            <p:cNvPr id="240" name="Google Shape;240;p20"/>
            <p:cNvSpPr/>
            <p:nvPr/>
          </p:nvSpPr>
          <p:spPr>
            <a:xfrm>
              <a:off x="0" y="0"/>
              <a:ext cx="3238500" cy="2952900"/>
            </a:xfrm>
            <a:prstGeom prst="rect">
              <a:avLst/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0"/>
            <p:cNvSpPr/>
            <p:nvPr/>
          </p:nvSpPr>
          <p:spPr>
            <a:xfrm>
              <a:off x="0" y="0"/>
              <a:ext cx="3238500" cy="38100"/>
            </a:xfrm>
            <a:prstGeom prst="rect">
              <a:avLst/>
            </a:prstGeom>
            <a:solidFill>
              <a:srgbClr val="0055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0"/>
            <p:cNvSpPr txBox="1"/>
            <p:nvPr/>
          </p:nvSpPr>
          <p:spPr>
            <a:xfrm>
              <a:off x="228600" y="190500"/>
              <a:ext cx="27813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55FF"/>
                  </a:solidFill>
                  <a:latin typeface="Inter"/>
                  <a:ea typeface="Inter"/>
                  <a:cs typeface="Inter"/>
                  <a:sym typeface="Inter"/>
                </a:rPr>
                <a:t>Scenario</a:t>
              </a:r>
              <a:endParaRPr b="1" sz="1000">
                <a:solidFill>
                  <a:srgbClr val="0055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111111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Calculating a birth year</a:t>
              </a:r>
              <a:endParaRPr b="0" sz="1800">
                <a:solidFill>
                  <a:srgbClr val="11111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E65C00"/>
                  </a:solidFill>
                  <a:latin typeface="Inter"/>
                  <a:ea typeface="Inter"/>
                  <a:cs typeface="Inter"/>
                  <a:sym typeface="Inter"/>
                </a:rPr>
                <a:t>1. String Input</a:t>
              </a:r>
              <a:endParaRPr b="1" sz="1100">
                <a:solidFill>
                  <a:srgbClr val="E65C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User input arrives as text (e.g., </a:t>
              </a:r>
              <a:r>
                <a:rPr b="0" lang="en" sz="1050">
                  <a:solidFill>
                    <a:srgbClr val="E65C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"20"</a:t>
              </a:r>
              <a:r>
                <a:rPr b="0" lang="en" sz="105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).</a:t>
              </a:r>
              <a:endParaRPr b="0" sz="105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55FF"/>
                  </a:solidFill>
                  <a:latin typeface="Inter"/>
                  <a:ea typeface="Inter"/>
                  <a:cs typeface="Inter"/>
                  <a:sym typeface="Inter"/>
                </a:rPr>
                <a:t>2. Integer Conversion</a:t>
              </a:r>
              <a:endParaRPr b="1" sz="1100">
                <a:solidFill>
                  <a:srgbClr val="0055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Cast string to int for mathematical subtraction.</a:t>
              </a:r>
              <a:endParaRPr b="0" sz="105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3300"/>
                  </a:solidFill>
                  <a:latin typeface="Inter"/>
                  <a:ea typeface="Inter"/>
                  <a:cs typeface="Inter"/>
                  <a:sym typeface="Inter"/>
                </a:rPr>
                <a:t>3. String Output</a:t>
              </a:r>
              <a:endParaRPr b="1" sz="1100">
                <a:solidFill>
                  <a:srgbClr val="FF33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Convert result back to string for concatenation.</a:t>
              </a:r>
              <a:endParaRPr b="0" sz="105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3" name="Google Shape;243;p20"/>
          <p:cNvGrpSpPr/>
          <p:nvPr/>
        </p:nvGrpSpPr>
        <p:grpSpPr>
          <a:xfrm>
            <a:off x="3905250" y="1285875"/>
            <a:ext cx="4762500" cy="2952900"/>
            <a:chOff x="0" y="0"/>
            <a:chExt cx="4762500" cy="2952900"/>
          </a:xfrm>
        </p:grpSpPr>
        <p:sp>
          <p:nvSpPr>
            <p:cNvPr id="244" name="Google Shape;244;p20"/>
            <p:cNvSpPr/>
            <p:nvPr/>
          </p:nvSpPr>
          <p:spPr>
            <a:xfrm>
              <a:off x="0" y="0"/>
              <a:ext cx="4762500" cy="2952900"/>
            </a:xfrm>
            <a:prstGeom prst="rect">
              <a:avLst/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0"/>
            <p:cNvSpPr/>
            <p:nvPr/>
          </p:nvSpPr>
          <p:spPr>
            <a:xfrm>
              <a:off x="0" y="0"/>
              <a:ext cx="76200" cy="2952900"/>
            </a:xfrm>
            <a:prstGeom prst="rect">
              <a:avLst/>
            </a:prstGeom>
            <a:solidFill>
              <a:srgbClr val="0055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6" name="Google Shape;246;p20"/>
            <p:cNvGrpSpPr/>
            <p:nvPr/>
          </p:nvGrpSpPr>
          <p:grpSpPr>
            <a:xfrm>
              <a:off x="323850" y="266700"/>
              <a:ext cx="228600" cy="152400"/>
              <a:chOff x="38100" y="38100"/>
              <a:chExt cx="228600" cy="152400"/>
            </a:xfrm>
          </p:grpSpPr>
          <p:sp>
            <p:nvSpPr>
              <p:cNvPr id="247" name="Google Shape;247;p20"/>
              <p:cNvSpPr/>
              <p:nvPr/>
            </p:nvSpPr>
            <p:spPr>
              <a:xfrm>
                <a:off x="38100" y="38100"/>
                <a:ext cx="76200" cy="152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55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48" name="Google Shape;248;p20"/>
              <p:cNvCxnSpPr/>
              <p:nvPr/>
            </p:nvCxnSpPr>
            <p:spPr>
              <a:xfrm>
                <a:off x="152400" y="19050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cap="sq" cmpd="sng" w="28575">
                <a:solidFill>
                  <a:srgbClr val="0055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249" name="Google Shape;249;p20"/>
            <p:cNvSpPr txBox="1"/>
            <p:nvPr/>
          </p:nvSpPr>
          <p:spPr>
            <a:xfrm>
              <a:off x="666750" y="209550"/>
              <a:ext cx="3905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Code Walkthrough</a:t>
              </a:r>
              <a:endParaRPr/>
            </a:p>
          </p:txBody>
        </p:sp>
        <p:cxnSp>
          <p:nvCxnSpPr>
            <p:cNvPr id="250" name="Google Shape;250;p20"/>
            <p:cNvCxnSpPr/>
            <p:nvPr/>
          </p:nvCxnSpPr>
          <p:spPr>
            <a:xfrm>
              <a:off x="285750" y="533400"/>
              <a:ext cx="4191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1D1D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51" name="Google Shape;251;p20"/>
            <p:cNvSpPr txBox="1"/>
            <p:nvPr/>
          </p:nvSpPr>
          <p:spPr>
            <a:xfrm>
              <a:off x="285750" y="647700"/>
              <a:ext cx="4191000" cy="215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11111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current_year = </a:t>
              </a:r>
              <a:r>
                <a:rPr b="0" lang="en" sz="1200">
                  <a:solidFill>
                    <a:srgbClr val="FF3300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2024</a:t>
              </a:r>
              <a:endParaRPr b="0" sz="1200">
                <a:solidFill>
                  <a:srgbClr val="111111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11111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age_input = </a:t>
              </a:r>
              <a:r>
                <a:rPr b="1" lang="en" sz="1200">
                  <a:solidFill>
                    <a:srgbClr val="0055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input</a:t>
              </a:r>
              <a:r>
                <a:rPr b="0" lang="en" sz="1200">
                  <a:solidFill>
                    <a:srgbClr val="111111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(</a:t>
              </a:r>
              <a:r>
                <a:rPr b="0" lang="en" sz="1200">
                  <a:solidFill>
                    <a:srgbClr val="E65C00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"Enter your age: "</a:t>
              </a:r>
              <a:r>
                <a:rPr b="0" lang="en" sz="1200">
                  <a:solidFill>
                    <a:srgbClr val="111111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)</a:t>
              </a:r>
              <a:endParaRPr b="0" sz="1200">
                <a:solidFill>
                  <a:srgbClr val="111111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555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Returns a string, e.g., "20"</a:t>
              </a:r>
              <a:endParaRPr b="0" sz="1100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555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Convert the string to an integer</a:t>
              </a:r>
              <a:endParaRPr b="0" sz="1100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11111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age_int = </a:t>
              </a:r>
              <a:r>
                <a:rPr b="1" lang="en" sz="1200">
                  <a:solidFill>
                    <a:srgbClr val="0055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int</a:t>
              </a:r>
              <a:r>
                <a:rPr b="0" lang="en" sz="1200">
                  <a:solidFill>
                    <a:srgbClr val="111111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(age_input)</a:t>
              </a:r>
              <a:endParaRPr b="0" sz="1200">
                <a:solidFill>
                  <a:srgbClr val="111111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555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Perform math</a:t>
              </a:r>
              <a:endParaRPr b="0" sz="1100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11111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birth_year = current_year - age_int</a:t>
              </a:r>
              <a:endParaRPr b="0" sz="1200">
                <a:solidFill>
                  <a:srgbClr val="111111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555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Convert back to string for output</a:t>
              </a:r>
              <a:endParaRPr b="0" sz="1100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55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print</a:t>
              </a:r>
              <a:r>
                <a:rPr b="0" lang="en" sz="1200">
                  <a:solidFill>
                    <a:srgbClr val="111111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(</a:t>
              </a:r>
              <a:r>
                <a:rPr b="0" lang="en" sz="1200">
                  <a:solidFill>
                    <a:srgbClr val="E65C00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"You were born in "</a:t>
              </a:r>
              <a:r>
                <a:rPr b="0" lang="en" sz="1200">
                  <a:solidFill>
                    <a:srgbClr val="111111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 + </a:t>
              </a:r>
              <a:r>
                <a:rPr b="1" lang="en" sz="1200">
                  <a:solidFill>
                    <a:srgbClr val="0055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str</a:t>
              </a:r>
              <a:r>
                <a:rPr b="0" lang="en" sz="1200">
                  <a:solidFill>
                    <a:srgbClr val="111111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(birth_year))</a:t>
              </a:r>
              <a:endParaRPr b="0" sz="1200">
                <a:solidFill>
                  <a:srgbClr val="111111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</p:grpSp>
      <p:grpSp>
        <p:nvGrpSpPr>
          <p:cNvPr id="252" name="Google Shape;252;p20"/>
          <p:cNvGrpSpPr/>
          <p:nvPr/>
        </p:nvGrpSpPr>
        <p:grpSpPr>
          <a:xfrm>
            <a:off x="476250" y="4572000"/>
            <a:ext cx="8191500" cy="381150"/>
            <a:chOff x="0" y="0"/>
            <a:chExt cx="8191500" cy="381150"/>
          </a:xfrm>
        </p:grpSpPr>
        <p:cxnSp>
          <p:nvCxnSpPr>
            <p:cNvPr id="253" name="Google Shape;253;p20"/>
            <p:cNvCxnSpPr/>
            <p:nvPr/>
          </p:nvCxnSpPr>
          <p:spPr>
            <a:xfrm>
              <a:off x="0" y="0"/>
              <a:ext cx="8191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1D1D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54" name="Google Shape;254;p20"/>
            <p:cNvSpPr txBox="1"/>
            <p:nvPr/>
          </p:nvSpPr>
          <p:spPr>
            <a:xfrm>
              <a:off x="0" y="952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VARSHA A • PYTHON DATA TYPES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21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60" name="Google Shape;260;p21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1" name="Google Shape;261;p21"/>
            <p:cNvGrpSpPr/>
            <p:nvPr/>
          </p:nvGrpSpPr>
          <p:grpSpPr>
            <a:xfrm>
              <a:off x="8515350" y="381000"/>
              <a:ext cx="228600" cy="228600"/>
              <a:chOff x="0" y="0"/>
              <a:chExt cx="228600" cy="228600"/>
            </a:xfrm>
          </p:grpSpPr>
          <p:sp>
            <p:nvSpPr>
              <p:cNvPr id="262" name="Google Shape;262;p21"/>
              <p:cNvSpPr/>
              <p:nvPr/>
            </p:nvSpPr>
            <p:spPr>
              <a:xfrm>
                <a:off x="0" y="0"/>
                <a:ext cx="152400" cy="152400"/>
              </a:xfrm>
              <a:prstGeom prst="rect">
                <a:avLst/>
              </a:prstGeom>
              <a:solidFill>
                <a:srgbClr val="0055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21"/>
              <p:cNvSpPr/>
              <p:nvPr/>
            </p:nvSpPr>
            <p:spPr>
              <a:xfrm>
                <a:off x="76200" y="76200"/>
                <a:ext cx="152400" cy="152400"/>
              </a:xfrm>
              <a:prstGeom prst="rect">
                <a:avLst/>
              </a:prstGeom>
              <a:solidFill>
                <a:srgbClr val="FF33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4" name="Google Shape;264;p21"/>
          <p:cNvSpPr txBox="1"/>
          <p:nvPr/>
        </p:nvSpPr>
        <p:spPr>
          <a:xfrm>
            <a:off x="476250" y="523875"/>
            <a:ext cx="7810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strike="noStrike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Course Wrap-Up &amp; Next Class Preview</a:t>
            </a:r>
            <a:endParaRPr b="1" i="0" sz="2400" u="none" strike="noStrike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265" name="Google Shape;265;p21"/>
          <p:cNvGrpSpPr/>
          <p:nvPr/>
        </p:nvGrpSpPr>
        <p:grpSpPr>
          <a:xfrm>
            <a:off x="476250" y="1238250"/>
            <a:ext cx="8191650" cy="3429000"/>
            <a:chOff x="476250" y="1238250"/>
            <a:chExt cx="8191650" cy="3429000"/>
          </a:xfrm>
        </p:grpSpPr>
        <p:sp>
          <p:nvSpPr>
            <p:cNvPr id="266" name="Google Shape;266;p21"/>
            <p:cNvSpPr/>
            <p:nvPr/>
          </p:nvSpPr>
          <p:spPr>
            <a:xfrm>
              <a:off x="476250" y="1238250"/>
              <a:ext cx="2571900" cy="3429000"/>
            </a:xfrm>
            <a:prstGeom prst="rect">
              <a:avLst/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1"/>
            <p:cNvSpPr/>
            <p:nvPr/>
          </p:nvSpPr>
          <p:spPr>
            <a:xfrm>
              <a:off x="476250" y="1238250"/>
              <a:ext cx="2571900" cy="57300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1"/>
            <p:cNvSpPr txBox="1"/>
            <p:nvPr/>
          </p:nvSpPr>
          <p:spPr>
            <a:xfrm>
              <a:off x="647700" y="1447800"/>
              <a:ext cx="2229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strike="noStrike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UPCOMING TOPIC</a:t>
              </a:r>
              <a:endParaRPr b="1" i="0" sz="1000" u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i="0" lang="en" sz="1600" u="none" strike="noStrike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Next Class:</a:t>
              </a:r>
              <a:endParaRPr b="1" i="0" sz="1000" u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i="0" lang="en" sz="1500" u="none" strike="noStrike">
                  <a:solidFill>
                    <a:srgbClr val="059669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Conditional Statements</a:t>
              </a:r>
              <a:endParaRPr b="1" i="0" sz="1000" u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i="0" lang="en" sz="1100" u="none" strike="noStrike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In our next class, we will dive into decision-making logic in Python:</a:t>
              </a:r>
              <a:endParaRPr b="1" i="0" sz="1000" u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marR="0" rtl="0" algn="l">
                <a:lnSpc>
                  <a:spcPct val="120000"/>
                </a:lnSpc>
                <a:spcBef>
                  <a:spcPts val="1000"/>
                </a:spcBef>
                <a:spcAft>
                  <a:spcPts val="0"/>
                </a:spcAft>
                <a:buSzPts val="1400"/>
                <a:buChar char="●"/>
              </a:pPr>
              <a:r>
                <a:rPr b="1" i="0" lang="en" sz="1100" u="none" strike="noStrike">
                  <a:solidFill>
                    <a:srgbClr val="05966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if</a:t>
              </a:r>
              <a:r>
                <a:rPr b="0" i="0" lang="en" sz="1100" u="none" strike="noStrike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b="1" i="0" lang="en" sz="1100" u="none" strike="noStrike">
                  <a:solidFill>
                    <a:srgbClr val="05966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elif</a:t>
              </a:r>
              <a:r>
                <a:rPr b="0" i="0" lang="en" sz="1100" u="none" strike="noStrike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, and </a:t>
              </a:r>
              <a:r>
                <a:rPr b="1" i="0" lang="en" sz="1100" u="none" strike="noStrike">
                  <a:solidFill>
                    <a:srgbClr val="05966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else</a:t>
              </a:r>
              <a:r>
                <a:rPr b="0" i="0" lang="en" sz="1100" u="none" strike="noStrike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branching</a:t>
              </a:r>
              <a:endParaRPr b="1" i="0" sz="1000" u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marR="0" rtl="0" algn="l">
                <a:lnSpc>
                  <a:spcPct val="120000"/>
                </a:lnSpc>
                <a:spcBef>
                  <a:spcPts val="500"/>
                </a:spcBef>
                <a:spcAft>
                  <a:spcPts val="0"/>
                </a:spcAft>
                <a:buSzPts val="1400"/>
                <a:buChar char="●"/>
              </a:pPr>
              <a:r>
                <a:rPr b="0" i="0" lang="en" sz="1100" u="none" strike="noStrike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Comparison &amp; boolean logic</a:t>
              </a:r>
              <a:endParaRPr b="1" i="0" sz="1000" u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marR="0" rtl="0" algn="l">
                <a:lnSpc>
                  <a:spcPct val="120000"/>
                </a:lnSpc>
                <a:spcBef>
                  <a:spcPts val="500"/>
                </a:spcBef>
                <a:spcAft>
                  <a:spcPts val="500"/>
                </a:spcAft>
                <a:buSzPts val="1400"/>
                <a:buChar char="●"/>
              </a:pPr>
              <a:r>
                <a:rPr b="0" i="0" lang="en" sz="1100" u="none" strike="noStrike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Hands-on decision workflows</a:t>
              </a:r>
              <a:endParaRPr b="1" i="0" sz="1000" u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9" name="Google Shape;269;p21"/>
            <p:cNvSpPr/>
            <p:nvPr/>
          </p:nvSpPr>
          <p:spPr>
            <a:xfrm>
              <a:off x="3286125" y="1238250"/>
              <a:ext cx="2571900" cy="3429000"/>
            </a:xfrm>
            <a:prstGeom prst="rect">
              <a:avLst/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1"/>
            <p:cNvSpPr/>
            <p:nvPr/>
          </p:nvSpPr>
          <p:spPr>
            <a:xfrm>
              <a:off x="3286125" y="1238250"/>
              <a:ext cx="2571900" cy="573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1"/>
            <p:cNvSpPr txBox="1"/>
            <p:nvPr/>
          </p:nvSpPr>
          <p:spPr>
            <a:xfrm>
              <a:off x="3457575" y="1447800"/>
              <a:ext cx="2229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strike="noStrike">
                  <a:solidFill>
                    <a:srgbClr val="FF3300"/>
                  </a:solidFill>
                  <a:latin typeface="Inter"/>
                  <a:ea typeface="Inter"/>
                  <a:cs typeface="Inter"/>
                  <a:sym typeface="Inter"/>
                </a:rPr>
                <a:t>VIDEO TUTORIALS</a:t>
              </a:r>
              <a:endParaRPr b="1" i="0" sz="1000" u="none" strike="noStrike">
                <a:solidFill>
                  <a:srgbClr val="FF33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i="0" lang="en" sz="1600" u="none" strike="noStrike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Subscribe to My</a:t>
              </a:r>
              <a:endParaRPr b="1" i="0" sz="1000" u="none" strike="noStrike">
                <a:solidFill>
                  <a:srgbClr val="FF33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i="0" lang="en" sz="1600" u="none" strike="noStrike">
                  <a:solidFill>
                    <a:srgbClr val="FF3300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YouTube Channel</a:t>
              </a:r>
              <a:endParaRPr b="1" i="0" sz="1000" u="none" strike="noStrike">
                <a:solidFill>
                  <a:srgbClr val="FF33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i="0" lang="en" sz="1100" u="none" strike="noStrike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Follow my YouTube page for full class recordings, coding demos, and guides:</a:t>
              </a:r>
              <a:endParaRPr b="1" i="0" sz="1000" u="none" strike="noStrike">
                <a:solidFill>
                  <a:srgbClr val="FF33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marR="0" rtl="0" algn="l">
                <a:lnSpc>
                  <a:spcPct val="120000"/>
                </a:lnSpc>
                <a:spcBef>
                  <a:spcPts val="1000"/>
                </a:spcBef>
                <a:spcAft>
                  <a:spcPts val="0"/>
                </a:spcAft>
                <a:buSzPts val="1400"/>
                <a:buChar char="●"/>
              </a:pPr>
              <a:r>
                <a:rPr b="0" i="0" lang="en" sz="1100" u="none" strike="noStrike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Full topic breakdowns</a:t>
              </a:r>
              <a:endParaRPr b="1" i="0" sz="1000" u="none" strike="noStrike">
                <a:solidFill>
                  <a:srgbClr val="FF33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marR="0" rtl="0" algn="l">
                <a:lnSpc>
                  <a:spcPct val="120000"/>
                </a:lnSpc>
                <a:spcBef>
                  <a:spcPts val="500"/>
                </a:spcBef>
                <a:spcAft>
                  <a:spcPts val="0"/>
                </a:spcAft>
                <a:buSzPts val="1400"/>
                <a:buChar char="●"/>
              </a:pPr>
              <a:r>
                <a:rPr b="0" i="0" lang="en" sz="1100" u="none" strike="noStrike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Live coding walkthroughs</a:t>
              </a:r>
              <a:endParaRPr b="1" i="0" sz="1000" u="none" strike="noStrike">
                <a:solidFill>
                  <a:srgbClr val="FF33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marR="0" rtl="0" algn="l">
                <a:lnSpc>
                  <a:spcPct val="120000"/>
                </a:lnSpc>
                <a:spcBef>
                  <a:spcPts val="500"/>
                </a:spcBef>
                <a:spcAft>
                  <a:spcPts val="500"/>
                </a:spcAft>
                <a:buSzPts val="1400"/>
                <a:buChar char="●"/>
              </a:pPr>
              <a:r>
                <a:rPr b="0" i="0" lang="en" sz="1100" u="none" strike="noStrike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Community Q&amp;A and exercises</a:t>
              </a:r>
              <a:endParaRPr b="1" i="0" sz="1000" u="none" strike="noStrike">
                <a:solidFill>
                  <a:srgbClr val="FF33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2" name="Google Shape;272;p21"/>
            <p:cNvSpPr/>
            <p:nvPr/>
          </p:nvSpPr>
          <p:spPr>
            <a:xfrm>
              <a:off x="6096000" y="1238250"/>
              <a:ext cx="2571900" cy="3429000"/>
            </a:xfrm>
            <a:prstGeom prst="rect">
              <a:avLst/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1"/>
            <p:cNvSpPr/>
            <p:nvPr/>
          </p:nvSpPr>
          <p:spPr>
            <a:xfrm>
              <a:off x="6096000" y="1238250"/>
              <a:ext cx="2571900" cy="57300"/>
            </a:xfrm>
            <a:prstGeom prst="rect">
              <a:avLst/>
            </a:prstGeom>
            <a:solidFill>
              <a:srgbClr val="0055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1"/>
            <p:cNvSpPr txBox="1"/>
            <p:nvPr/>
          </p:nvSpPr>
          <p:spPr>
            <a:xfrm>
              <a:off x="6267450" y="1447800"/>
              <a:ext cx="2229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strike="noStrike">
                  <a:solidFill>
                    <a:srgbClr val="0055FF"/>
                  </a:solidFill>
                  <a:latin typeface="Inter"/>
                  <a:ea typeface="Inter"/>
                  <a:cs typeface="Inter"/>
                  <a:sym typeface="Inter"/>
                </a:rPr>
                <a:t>CODE REPOSITORY</a:t>
              </a:r>
              <a:endParaRPr b="1" i="0" sz="1000" u="none" strike="noStrike">
                <a:solidFill>
                  <a:srgbClr val="0055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i="0" lang="en" sz="1600" u="none" strike="noStrike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GitHub Profile &amp;</a:t>
              </a:r>
              <a:endParaRPr b="1" i="0" sz="1000" u="none" strike="noStrike">
                <a:solidFill>
                  <a:srgbClr val="0055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i="0" lang="en" sz="1600" u="none" strike="noStrike">
                  <a:solidFill>
                    <a:srgbClr val="0055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Class Materials</a:t>
              </a:r>
              <a:endParaRPr b="1" i="0" sz="1000" u="none" strike="noStrike">
                <a:solidFill>
                  <a:srgbClr val="0055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i="0" lang="en" sz="1100" u="none" strike="noStrike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Access all codes, examples, and practice exercises used in this class:</a:t>
              </a:r>
              <a:endParaRPr b="1" i="0" sz="1000" u="none" strike="noStrike">
                <a:solidFill>
                  <a:srgbClr val="0055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marR="0" rtl="0" algn="l">
                <a:lnSpc>
                  <a:spcPct val="120000"/>
                </a:lnSpc>
                <a:spcBef>
                  <a:spcPts val="1000"/>
                </a:spcBef>
                <a:spcAft>
                  <a:spcPts val="0"/>
                </a:spcAft>
                <a:buSzPts val="1400"/>
                <a:buChar char="●"/>
              </a:pPr>
              <a:r>
                <a:rPr b="0" i="0" lang="en" sz="1100" u="none" strike="noStrike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Star and fork the repo</a:t>
              </a:r>
              <a:endParaRPr b="1" i="0" sz="1000" u="none" strike="noStrike">
                <a:solidFill>
                  <a:srgbClr val="0055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marR="0" rtl="0" algn="l">
                <a:lnSpc>
                  <a:spcPct val="120000"/>
                </a:lnSpc>
                <a:spcBef>
                  <a:spcPts val="500"/>
                </a:spcBef>
                <a:spcAft>
                  <a:spcPts val="0"/>
                </a:spcAft>
                <a:buSzPts val="1400"/>
                <a:buChar char="●"/>
              </a:pPr>
              <a:r>
                <a:rPr b="0" i="0" lang="en" sz="1100" u="none" strike="noStrike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Download exercise scripts</a:t>
              </a:r>
              <a:endParaRPr b="1" i="0" sz="1000" u="none" strike="noStrike">
                <a:solidFill>
                  <a:srgbClr val="0055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1000"/>
                </a:spcBef>
                <a:spcAft>
                  <a:spcPts val="400"/>
                </a:spcAft>
                <a:buNone/>
              </a:pPr>
              <a:r>
                <a:rPr b="1" i="0" lang="en" sz="1000" u="none" strike="noStrike">
                  <a:solidFill>
                    <a:srgbClr val="0055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https://github.com/Varshh-hub</a:t>
              </a:r>
              <a:endParaRPr b="1" i="0" sz="1000" u="none" strike="noStrike">
                <a:solidFill>
                  <a:srgbClr val="0055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