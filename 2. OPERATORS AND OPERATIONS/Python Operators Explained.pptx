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Inter SemiBold"/>
      <p:regular r:id="rId14"/>
      <p:bold r:id="rId15"/>
      <p:italic r:id="rId16"/>
      <p:boldItalic r:id="rId17"/>
    </p:embeddedFont>
    <p:embeddedFont>
      <p:font typeface="Inter"/>
      <p:regular r:id="rId18"/>
      <p:bold r:id="rId19"/>
      <p:italic r:id="rId20"/>
      <p:boldItalic r:id="rId21"/>
    </p:embeddedFont>
    <p:embeddedFont>
      <p:font typeface="Outfit"/>
      <p:bold r:id="rId22"/>
    </p:embeddedFont>
    <p:embeddedFont>
      <p:font typeface="Fira Code SemiBold"/>
      <p:regular r:id="rId23"/>
      <p:bold r:id="rId24"/>
    </p:embeddedFont>
    <p:embeddedFont>
      <p:font typeface="Outfit Medium"/>
      <p:regular r:id="rId25"/>
      <p:bold r:id="rId26"/>
    </p:embeddedFont>
    <p:embeddedFont>
      <p:font typeface="Fira Code"/>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italic.fntdata"/><Relationship Id="rId22" Type="http://schemas.openxmlformats.org/officeDocument/2006/relationships/font" Target="fonts/Outfit-bold.fntdata"/><Relationship Id="rId21" Type="http://schemas.openxmlformats.org/officeDocument/2006/relationships/font" Target="fonts/Inter-boldItalic.fntdata"/><Relationship Id="rId24" Type="http://schemas.openxmlformats.org/officeDocument/2006/relationships/font" Target="fonts/FiraCodeSemiBold-bold.fntdata"/><Relationship Id="rId23" Type="http://schemas.openxmlformats.org/officeDocument/2006/relationships/font" Target="fonts/FiraCode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utfitMedium-bold.fntdata"/><Relationship Id="rId25" Type="http://schemas.openxmlformats.org/officeDocument/2006/relationships/font" Target="fonts/OutfitMedium-regular.fntdata"/><Relationship Id="rId28" Type="http://schemas.openxmlformats.org/officeDocument/2006/relationships/font" Target="fonts/FiraCode-bold.fntdata"/><Relationship Id="rId27" Type="http://schemas.openxmlformats.org/officeDocument/2006/relationships/font" Target="fonts/FiraCode-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InterSemiBold-bold.fntdata"/><Relationship Id="rId14" Type="http://schemas.openxmlformats.org/officeDocument/2006/relationships/font" Target="fonts/InterSemiBold-regular.fntdata"/><Relationship Id="rId17" Type="http://schemas.openxmlformats.org/officeDocument/2006/relationships/font" Target="fonts/InterSemiBold-boldItalic.fntdata"/><Relationship Id="rId16" Type="http://schemas.openxmlformats.org/officeDocument/2006/relationships/font" Target="fonts/InterSemiBold-italic.fntdata"/><Relationship Id="rId19" Type="http://schemas.openxmlformats.org/officeDocument/2006/relationships/font" Target="fonts/Inter-bold.fntdata"/><Relationship Id="rId18" Type="http://schemas.openxmlformats.org/officeDocument/2006/relationships/font" Target="fonts/Inter-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h7ef78134e24f6205_2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h7ef78134e24f6205_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h7ef78134e24f6205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h7ef78134e24f6205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h7ef78134e24f6205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h7ef78134e24f6205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h7ef78134e24f6205_1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h7ef78134e24f6205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h7ef78134e24f6205_1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h7ef78134e24f6205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h7ef78134e24f6205_1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h7ef78134e24f6205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7ef78134e24f6205_1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h7ef78134e24f6205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7ef78134e24f6205_1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h7ef78134e24f6205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7ef78134e24f6205_14_0)">
  <p:cSld name="Generated (h7ef78134e24f6205_14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3">
            <a:alphaModFix/>
          </a:blip>
          <a:srcRect b="0" l="0" r="0" t="0"/>
          <a:stretch/>
        </p:blipFill>
        <p:spPr>
          <a:xfrm>
            <a:off x="4763" y="4763"/>
            <a:ext cx="8982000" cy="4981500"/>
          </a:xfrm>
          <a:prstGeom prst="rect">
            <a:avLst/>
          </a:prstGeom>
          <a:noFill/>
          <a:ln>
            <a:noFill/>
          </a:ln>
        </p:spPr>
      </p:pic>
      <p:grpSp>
        <p:nvGrpSpPr>
          <p:cNvPr id="56" name="Google Shape;56;p14"/>
          <p:cNvGrpSpPr/>
          <p:nvPr/>
        </p:nvGrpSpPr>
        <p:grpSpPr>
          <a:xfrm>
            <a:off x="476250" y="495300"/>
            <a:ext cx="8239275" cy="4076850"/>
            <a:chOff x="476250" y="495300"/>
            <a:chExt cx="8239275" cy="4076850"/>
          </a:xfrm>
        </p:grpSpPr>
        <p:sp>
          <p:nvSpPr>
            <p:cNvPr id="57" name="Google Shape;57;p14"/>
            <p:cNvSpPr/>
            <p:nvPr/>
          </p:nvSpPr>
          <p:spPr>
            <a:xfrm>
              <a:off x="476250" y="495300"/>
              <a:ext cx="2095500" cy="2286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 name="Google Shape;58;p14"/>
            <p:cNvSpPr/>
            <p:nvPr/>
          </p:nvSpPr>
          <p:spPr>
            <a:xfrm>
              <a:off x="4762500" y="619125"/>
              <a:ext cx="3905400" cy="3905400"/>
            </a:xfrm>
            <a:prstGeom prst="roundRect">
              <a:avLst>
                <a:gd fmla="val 487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 name="Google Shape;59;p14"/>
            <p:cNvSpPr/>
            <p:nvPr/>
          </p:nvSpPr>
          <p:spPr>
            <a:xfrm>
              <a:off x="4667250" y="523875"/>
              <a:ext cx="571500" cy="571500"/>
            </a:xfrm>
            <a:prstGeom prst="ellipse">
              <a:avLst/>
            </a:prstGeom>
            <a:solidFill>
              <a:srgbClr val="EFF6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 name="Google Shape;60;p14"/>
            <p:cNvSpPr/>
            <p:nvPr/>
          </p:nvSpPr>
          <p:spPr>
            <a:xfrm>
              <a:off x="8239125" y="4095750"/>
              <a:ext cx="476400" cy="476400"/>
            </a:xfrm>
            <a:prstGeom prst="ellipse">
              <a:avLst/>
            </a:prstGeom>
            <a:solidFill>
              <a:srgbClr val="ECFDF5">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1" name="Google Shape;61;p14"/>
          <p:cNvSpPr txBox="1"/>
          <p:nvPr/>
        </p:nvSpPr>
        <p:spPr>
          <a:xfrm>
            <a:off x="476250" y="523875"/>
            <a:ext cx="4000500" cy="4095900"/>
          </a:xfrm>
          <a:prstGeom prst="rect">
            <a:avLst/>
          </a:prstGeom>
          <a:noFill/>
          <a:ln>
            <a:noFill/>
          </a:ln>
        </p:spPr>
        <p:txBody>
          <a:bodyPr anchorCtr="0" anchor="t" bIns="0" lIns="0" spcFirstLastPara="1" rIns="0" wrap="square" tIns="0">
            <a:noAutofit/>
          </a:bodyPr>
          <a:lstStyle/>
          <a:p>
            <a:pPr indent="0" lvl="0" marL="76200" marR="0" rtl="0" algn="l">
              <a:spcBef>
                <a:spcPts val="150"/>
              </a:spcBef>
              <a:spcAft>
                <a:spcPts val="0"/>
              </a:spcAft>
              <a:buNone/>
            </a:pPr>
            <a:r>
              <a:rPr lang="en" sz="1100">
                <a:solidFill>
                  <a:srgbClr val="2563EB"/>
                </a:solidFill>
                <a:latin typeface="Inter SemiBold"/>
                <a:ea typeface="Inter SemiBold"/>
                <a:cs typeface="Inter SemiBold"/>
                <a:sym typeface="Inter SemiBold"/>
              </a:rPr>
              <a:t>LEARNWITHVARSHHH</a:t>
            </a:r>
            <a:r>
              <a:rPr b="0" lang="en" sz="1100">
                <a:solidFill>
                  <a:srgbClr val="2563EB"/>
                </a:solidFill>
                <a:latin typeface="Inter SemiBold"/>
                <a:ea typeface="Inter SemiBold"/>
                <a:cs typeface="Inter SemiBold"/>
                <a:sym typeface="Inter SemiBold"/>
              </a:rPr>
              <a:t> // PYTHON-SERIES</a:t>
            </a:r>
            <a:endParaRPr b="0" sz="1100">
              <a:solidFill>
                <a:srgbClr val="2563EB"/>
              </a:solidFill>
              <a:latin typeface="Inter SemiBold"/>
              <a:ea typeface="Inter SemiBold"/>
              <a:cs typeface="Inter SemiBold"/>
              <a:sym typeface="Inter SemiBold"/>
            </a:endParaRPr>
          </a:p>
          <a:p>
            <a:pPr indent="0" lvl="0" marL="0" rtl="0" algn="l">
              <a:spcBef>
                <a:spcPts val="1200"/>
              </a:spcBef>
              <a:spcAft>
                <a:spcPts val="0"/>
              </a:spcAft>
              <a:buNone/>
            </a:pPr>
            <a:r>
              <a:rPr b="1" lang="en" sz="3000">
                <a:solidFill>
                  <a:srgbClr val="1E293B"/>
                </a:solidFill>
                <a:latin typeface="Outfit"/>
                <a:ea typeface="Outfit"/>
                <a:cs typeface="Outfit"/>
                <a:sym typeface="Outfit"/>
              </a:rPr>
              <a:t>Introduction: What Are Python Operators?</a:t>
            </a:r>
            <a:endParaRPr b="1" sz="3000">
              <a:solidFill>
                <a:srgbClr val="1E293B"/>
              </a:solidFill>
              <a:latin typeface="Outfit"/>
              <a:ea typeface="Outfit"/>
              <a:cs typeface="Outfit"/>
              <a:sym typeface="Outfit"/>
            </a:endParaRPr>
          </a:p>
          <a:p>
            <a:pPr indent="0" lvl="0" marL="0" rtl="0" algn="l">
              <a:spcBef>
                <a:spcPts val="900"/>
              </a:spcBef>
              <a:spcAft>
                <a:spcPts val="0"/>
              </a:spcAft>
              <a:buNone/>
            </a:pPr>
            <a:r>
              <a:rPr b="0" lang="en" sz="1800">
                <a:solidFill>
                  <a:srgbClr val="2563EB"/>
                </a:solidFill>
                <a:latin typeface="Outfit Medium"/>
                <a:ea typeface="Outfit Medium"/>
                <a:cs typeface="Outfit Medium"/>
                <a:sym typeface="Outfit Medium"/>
              </a:rPr>
              <a:t>The building blocks of computation and logic in Python.</a:t>
            </a:r>
            <a:endParaRPr b="0" sz="1800">
              <a:solidFill>
                <a:srgbClr val="2563EB"/>
              </a:solidFill>
              <a:latin typeface="Outfit Medium"/>
              <a:ea typeface="Outfit Medium"/>
              <a:cs typeface="Outfit Medium"/>
              <a:sym typeface="Outfit Medium"/>
            </a:endParaRPr>
          </a:p>
          <a:p>
            <a:pPr indent="0" lvl="0" marL="0" rtl="0" algn="l">
              <a:spcBef>
                <a:spcPts val="1200"/>
              </a:spcBef>
              <a:spcAft>
                <a:spcPts val="1500"/>
              </a:spcAft>
              <a:buNone/>
            </a:pPr>
            <a:r>
              <a:rPr b="0" lang="en" sz="1300">
                <a:solidFill>
                  <a:srgbClr val="475569"/>
                </a:solidFill>
                <a:latin typeface="Inter"/>
                <a:ea typeface="Inter"/>
                <a:cs typeface="Inter"/>
                <a:sym typeface="Inter"/>
              </a:rPr>
              <a:t>Operators are special symbols that perform computations on variables and values, which are known as operands. They form the absolute foundation of all data manipulation and logical flow in programming, acting as the verbs in Python's syntax.</a:t>
            </a:r>
            <a:endParaRPr b="0" sz="1300">
              <a:solidFill>
                <a:srgbClr val="475569"/>
              </a:solidFill>
              <a:latin typeface="Inter"/>
              <a:ea typeface="Inter"/>
              <a:cs typeface="Inter"/>
              <a:sym typeface="Inter"/>
            </a:endParaRPr>
          </a:p>
        </p:txBody>
      </p:sp>
      <p:pic>
        <p:nvPicPr>
          <p:cNvPr id="62" name="Google Shape;62;p14"/>
          <p:cNvPicPr preferRelativeResize="0"/>
          <p:nvPr/>
        </p:nvPicPr>
        <p:blipFill rotWithShape="1">
          <a:blip r:embed="rId4">
            <a:alphaModFix/>
          </a:blip>
          <a:srcRect b="0" l="0" r="0" t="0"/>
          <a:stretch/>
        </p:blipFill>
        <p:spPr>
          <a:xfrm>
            <a:off x="4905375" y="762000"/>
            <a:ext cx="3619500" cy="3619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66" name="Shape 66"/>
        <p:cNvGrpSpPr/>
        <p:nvPr/>
      </p:nvGrpSpPr>
      <p:grpSpPr>
        <a:xfrm>
          <a:off x="0" y="0"/>
          <a:ext cx="0" cy="0"/>
          <a:chOff x="0" y="0"/>
          <a:chExt cx="0" cy="0"/>
        </a:xfrm>
      </p:grpSpPr>
      <p:pic>
        <p:nvPicPr>
          <p:cNvPr id="67" name="Google Shape;67;p15"/>
          <p:cNvPicPr preferRelativeResize="0"/>
          <p:nvPr/>
        </p:nvPicPr>
        <p:blipFill rotWithShape="1">
          <a:blip r:embed="rId3">
            <a:alphaModFix/>
          </a:blip>
          <a:srcRect b="0" l="0" r="0" t="0"/>
          <a:stretch/>
        </p:blipFill>
        <p:spPr>
          <a:xfrm>
            <a:off x="4763" y="4763"/>
            <a:ext cx="8982000" cy="4981500"/>
          </a:xfrm>
          <a:prstGeom prst="rect">
            <a:avLst/>
          </a:prstGeom>
          <a:noFill/>
          <a:ln>
            <a:noFill/>
          </a:ln>
        </p:spPr>
      </p:pic>
      <p:grpSp>
        <p:nvGrpSpPr>
          <p:cNvPr id="68" name="Google Shape;68;p15"/>
          <p:cNvGrpSpPr/>
          <p:nvPr/>
        </p:nvGrpSpPr>
        <p:grpSpPr>
          <a:xfrm>
            <a:off x="381000" y="190500"/>
            <a:ext cx="8382000" cy="304950"/>
            <a:chOff x="381000" y="190500"/>
            <a:chExt cx="8382000" cy="304950"/>
          </a:xfrm>
        </p:grpSpPr>
        <p:sp>
          <p:nvSpPr>
            <p:cNvPr id="69" name="Google Shape;69;p15"/>
            <p:cNvSpPr/>
            <p:nvPr/>
          </p:nvSpPr>
          <p:spPr>
            <a:xfrm>
              <a:off x="381000" y="190500"/>
              <a:ext cx="76200" cy="2286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 name="Google Shape;70;p15"/>
            <p:cNvSpPr txBox="1"/>
            <p:nvPr/>
          </p:nvSpPr>
          <p:spPr>
            <a:xfrm>
              <a:off x="571500" y="209550"/>
              <a:ext cx="3810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450"/>
                </a:spcAft>
                <a:buNone/>
              </a:pPr>
              <a:r>
                <a:rPr lang="en" sz="1100">
                  <a:solidFill>
                    <a:srgbClr val="2563EB"/>
                  </a:solidFill>
                  <a:latin typeface="Inter SemiBold"/>
                  <a:ea typeface="Inter SemiBold"/>
                  <a:cs typeface="Inter SemiBold"/>
                  <a:sym typeface="Inter SemiBold"/>
                </a:rPr>
                <a:t>LEARNWITHVARSHHH</a:t>
              </a:r>
              <a:r>
                <a:rPr b="0" lang="en" sz="1100">
                  <a:solidFill>
                    <a:srgbClr val="2563EB"/>
                  </a:solidFill>
                  <a:latin typeface="Inter SemiBold"/>
                  <a:ea typeface="Inter SemiBold"/>
                  <a:cs typeface="Inter SemiBold"/>
                  <a:sym typeface="Inter SemiBold"/>
                </a:rPr>
                <a:t> // PYTHON-SERIES</a:t>
              </a:r>
              <a:endParaRPr b="0" sz="1100">
                <a:solidFill>
                  <a:srgbClr val="2563EB"/>
                </a:solidFill>
                <a:latin typeface="Inter SemiBold"/>
                <a:ea typeface="Inter SemiBold"/>
                <a:cs typeface="Inter SemiBold"/>
                <a:sym typeface="Inter SemiBold"/>
              </a:endParaRPr>
            </a:p>
          </p:txBody>
        </p:sp>
        <p:cxnSp>
          <p:nvCxnSpPr>
            <p:cNvPr id="71" name="Google Shape;71;p15"/>
            <p:cNvCxnSpPr/>
            <p:nvPr/>
          </p:nvCxnSpPr>
          <p:spPr>
            <a:xfrm>
              <a:off x="381000" y="495300"/>
              <a:ext cx="8382000" cy="0"/>
            </a:xfrm>
            <a:prstGeom prst="straightConnector1">
              <a:avLst/>
            </a:prstGeom>
            <a:solidFill>
              <a:srgbClr val="FFFFFF"/>
            </a:solidFill>
            <a:ln cap="flat" cmpd="sng" w="9525">
              <a:solidFill>
                <a:srgbClr val="E2E8F0"/>
              </a:solidFill>
              <a:prstDash val="solid"/>
              <a:round/>
              <a:headEnd len="sm" w="sm" type="none"/>
              <a:tailEnd len="sm" w="sm" type="none"/>
            </a:ln>
          </p:spPr>
        </p:cxnSp>
      </p:grpSp>
      <p:sp>
        <p:nvSpPr>
          <p:cNvPr id="72" name="Google Shape;72;p15"/>
          <p:cNvSpPr txBox="1"/>
          <p:nvPr/>
        </p:nvSpPr>
        <p:spPr>
          <a:xfrm>
            <a:off x="381000" y="647700"/>
            <a:ext cx="83820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720">
                <a:solidFill>
                  <a:srgbClr val="1E293B"/>
                </a:solidFill>
                <a:latin typeface="Outfit"/>
                <a:ea typeface="Outfit"/>
                <a:cs typeface="Outfit"/>
                <a:sym typeface="Outfit"/>
              </a:rPr>
              <a:t>Arithmetic Operators</a:t>
            </a:r>
            <a:endParaRPr b="1" sz="2720">
              <a:solidFill>
                <a:srgbClr val="1E293B"/>
              </a:solidFill>
              <a:latin typeface="Outfit"/>
              <a:ea typeface="Outfit"/>
              <a:cs typeface="Outfit"/>
              <a:sym typeface="Outfit"/>
            </a:endParaRPr>
          </a:p>
          <a:p>
            <a:pPr indent="0" lvl="0" marL="0" rtl="0" algn="l">
              <a:spcBef>
                <a:spcPts val="0"/>
              </a:spcBef>
              <a:spcAft>
                <a:spcPts val="600"/>
              </a:spcAft>
              <a:buNone/>
            </a:pPr>
            <a:r>
              <a:rPr b="0" lang="en" sz="1700">
                <a:solidFill>
                  <a:srgbClr val="2563EB"/>
                </a:solidFill>
                <a:latin typeface="Outfit Medium"/>
                <a:ea typeface="Outfit Medium"/>
                <a:cs typeface="Outfit Medium"/>
                <a:sym typeface="Outfit Medium"/>
              </a:rPr>
              <a:t>Mathematical Computations</a:t>
            </a:r>
            <a:endParaRPr b="0" sz="1700">
              <a:solidFill>
                <a:srgbClr val="2563EB"/>
              </a:solidFill>
              <a:latin typeface="Outfit Medium"/>
              <a:ea typeface="Outfit Medium"/>
              <a:cs typeface="Outfit Medium"/>
              <a:sym typeface="Outfit Medium"/>
            </a:endParaRPr>
          </a:p>
        </p:txBody>
      </p:sp>
      <p:grpSp>
        <p:nvGrpSpPr>
          <p:cNvPr id="73" name="Google Shape;73;p15"/>
          <p:cNvGrpSpPr/>
          <p:nvPr/>
        </p:nvGrpSpPr>
        <p:grpSpPr>
          <a:xfrm>
            <a:off x="381000" y="1428750"/>
            <a:ext cx="4048200" cy="2238300"/>
            <a:chOff x="0" y="0"/>
            <a:chExt cx="4048200" cy="2238300"/>
          </a:xfrm>
        </p:grpSpPr>
        <p:sp>
          <p:nvSpPr>
            <p:cNvPr id="74" name="Google Shape;74;p15"/>
            <p:cNvSpPr/>
            <p:nvPr/>
          </p:nvSpPr>
          <p:spPr>
            <a:xfrm>
              <a:off x="0" y="0"/>
              <a:ext cx="4048200" cy="2238300"/>
            </a:xfrm>
            <a:prstGeom prst="roundRect">
              <a:avLst>
                <a:gd fmla="val 425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15"/>
            <p:cNvSpPr/>
            <p:nvPr/>
          </p:nvSpPr>
          <p:spPr>
            <a:xfrm>
              <a:off x="0" y="0"/>
              <a:ext cx="4048200" cy="342900"/>
            </a:xfrm>
            <a:prstGeom prst="roundRect">
              <a:avLst>
                <a:gd fmla="val 27777"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15"/>
            <p:cNvSpPr/>
            <p:nvPr/>
          </p:nvSpPr>
          <p:spPr>
            <a:xfrm>
              <a:off x="0" y="247650"/>
              <a:ext cx="4048200" cy="95400"/>
            </a:xfrm>
            <a:prstGeom prst="rect">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15"/>
            <p:cNvSpPr txBox="1"/>
            <p:nvPr/>
          </p:nvSpPr>
          <p:spPr>
            <a:xfrm>
              <a:off x="152400" y="76200"/>
              <a:ext cx="37434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450"/>
                </a:spcAft>
                <a:buNone/>
              </a:pPr>
              <a:r>
                <a:rPr b="0" lang="en" sz="1100">
                  <a:solidFill>
                    <a:srgbClr val="2563EB"/>
                  </a:solidFill>
                  <a:latin typeface="Inter SemiBold"/>
                  <a:ea typeface="Inter SemiBold"/>
                  <a:cs typeface="Inter SemiBold"/>
                  <a:sym typeface="Inter SemiBold"/>
                </a:rPr>
                <a:t>STANDARD OPERATORS</a:t>
              </a:r>
              <a:endParaRPr b="0" sz="1100">
                <a:solidFill>
                  <a:srgbClr val="2563EB"/>
                </a:solidFill>
                <a:latin typeface="Inter SemiBold"/>
                <a:ea typeface="Inter SemiBold"/>
                <a:cs typeface="Inter SemiBold"/>
                <a:sym typeface="Inter SemiBold"/>
              </a:endParaRPr>
            </a:p>
          </p:txBody>
        </p:sp>
        <p:sp>
          <p:nvSpPr>
            <p:cNvPr id="78" name="Google Shape;78;p15"/>
            <p:cNvSpPr txBox="1"/>
            <p:nvPr/>
          </p:nvSpPr>
          <p:spPr>
            <a:xfrm>
              <a:off x="152400" y="419100"/>
              <a:ext cx="37434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75569"/>
                  </a:solidFill>
                  <a:latin typeface="Inter"/>
                  <a:ea typeface="Inter"/>
                  <a:cs typeface="Inter"/>
                  <a:sym typeface="Inter"/>
                </a:rPr>
                <a:t>Perform fundamental mathematical operations on numerical values.</a:t>
              </a:r>
              <a:endParaRPr b="0" sz="1100">
                <a:solidFill>
                  <a:srgbClr val="475569"/>
                </a:solidFill>
                <a:latin typeface="Inter"/>
                <a:ea typeface="Inter"/>
                <a:cs typeface="Inter"/>
                <a:sym typeface="Inter"/>
              </a:endParaRPr>
            </a:p>
          </p:txBody>
        </p:sp>
        <p:grpSp>
          <p:nvGrpSpPr>
            <p:cNvPr id="79" name="Google Shape;79;p15"/>
            <p:cNvGrpSpPr/>
            <p:nvPr/>
          </p:nvGrpSpPr>
          <p:grpSpPr>
            <a:xfrm>
              <a:off x="152400" y="809625"/>
              <a:ext cx="1790700" cy="571500"/>
              <a:chOff x="0" y="0"/>
              <a:chExt cx="1790700" cy="571500"/>
            </a:xfrm>
          </p:grpSpPr>
          <p:sp>
            <p:nvSpPr>
              <p:cNvPr id="80" name="Google Shape;80;p15"/>
              <p:cNvSpPr/>
              <p:nvPr/>
            </p:nvSpPr>
            <p:spPr>
              <a:xfrm>
                <a:off x="0" y="0"/>
                <a:ext cx="1790700" cy="571500"/>
              </a:xfrm>
              <a:prstGeom prst="roundRect">
                <a:avLst>
                  <a:gd fmla="val 10000" name="adj"/>
                </a:avLst>
              </a:prstGeom>
              <a:solidFill>
                <a:srgbClr val="FAFAFA"/>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 name="Google Shape;81;p15"/>
              <p:cNvSpPr/>
              <p:nvPr/>
            </p:nvSpPr>
            <p:spPr>
              <a:xfrm>
                <a:off x="95250" y="95250"/>
                <a:ext cx="381000" cy="381000"/>
              </a:xfrm>
              <a:prstGeom prst="roundRect">
                <a:avLst>
                  <a:gd fmla="val 15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15"/>
              <p:cNvSpPr txBox="1"/>
              <p:nvPr/>
            </p:nvSpPr>
            <p:spPr>
              <a:xfrm>
                <a:off x="95250" y="952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2563EB"/>
                    </a:solidFill>
                    <a:latin typeface="Fira Code SemiBold"/>
                    <a:ea typeface="Fira Code SemiBold"/>
                    <a:cs typeface="Fira Code SemiBold"/>
                    <a:sym typeface="Fira Code SemiBold"/>
                  </a:rPr>
                  <a:t>+</a:t>
                </a:r>
                <a:endParaRPr b="0" sz="1400">
                  <a:solidFill>
                    <a:srgbClr val="2563EB"/>
                  </a:solidFill>
                  <a:latin typeface="Fira Code SemiBold"/>
                  <a:ea typeface="Fira Code SemiBold"/>
                  <a:cs typeface="Fira Code SemiBold"/>
                  <a:sym typeface="Fira Code SemiBold"/>
                </a:endParaRPr>
              </a:p>
            </p:txBody>
          </p:sp>
          <p:sp>
            <p:nvSpPr>
              <p:cNvPr id="83" name="Google Shape;83;p15"/>
              <p:cNvSpPr txBox="1"/>
              <p:nvPr/>
            </p:nvSpPr>
            <p:spPr>
              <a:xfrm>
                <a:off x="552450" y="95250"/>
                <a:ext cx="1143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E293B"/>
                    </a:solidFill>
                    <a:latin typeface="Inter"/>
                    <a:ea typeface="Inter"/>
                    <a:cs typeface="Inter"/>
                    <a:sym typeface="Inter"/>
                  </a:rPr>
                  <a:t>Addition</a:t>
                </a:r>
                <a:endParaRPr b="1" sz="1300">
                  <a:solidFill>
                    <a:srgbClr val="1E293B"/>
                  </a:solidFill>
                  <a:latin typeface="Inter"/>
                  <a:ea typeface="Inter"/>
                  <a:cs typeface="Inter"/>
                  <a:sym typeface="Inter"/>
                </a:endParaRPr>
              </a:p>
              <a:p>
                <a:pPr indent="0" lvl="0" marL="0" rtl="0" algn="l">
                  <a:spcBef>
                    <a:spcPts val="0"/>
                  </a:spcBef>
                  <a:spcAft>
                    <a:spcPts val="0"/>
                  </a:spcAft>
                  <a:buNone/>
                </a:pPr>
                <a:r>
                  <a:rPr b="0" lang="en" sz="1100">
                    <a:solidFill>
                      <a:srgbClr val="475569"/>
                    </a:solidFill>
                    <a:latin typeface="Inter"/>
                    <a:ea typeface="Inter"/>
                    <a:cs typeface="Inter"/>
                    <a:sym typeface="Inter"/>
                  </a:rPr>
                  <a:t>Adds values</a:t>
                </a:r>
                <a:endParaRPr b="0" sz="1100">
                  <a:solidFill>
                    <a:srgbClr val="475569"/>
                  </a:solidFill>
                  <a:latin typeface="Inter"/>
                  <a:ea typeface="Inter"/>
                  <a:cs typeface="Inter"/>
                  <a:sym typeface="Inter"/>
                </a:endParaRPr>
              </a:p>
            </p:txBody>
          </p:sp>
        </p:grpSp>
        <p:grpSp>
          <p:nvGrpSpPr>
            <p:cNvPr id="84" name="Google Shape;84;p15"/>
            <p:cNvGrpSpPr/>
            <p:nvPr/>
          </p:nvGrpSpPr>
          <p:grpSpPr>
            <a:xfrm>
              <a:off x="2095500" y="809625"/>
              <a:ext cx="1800300" cy="571500"/>
              <a:chOff x="0" y="0"/>
              <a:chExt cx="1800300" cy="571500"/>
            </a:xfrm>
          </p:grpSpPr>
          <p:sp>
            <p:nvSpPr>
              <p:cNvPr id="85" name="Google Shape;85;p15"/>
              <p:cNvSpPr/>
              <p:nvPr/>
            </p:nvSpPr>
            <p:spPr>
              <a:xfrm>
                <a:off x="0" y="0"/>
                <a:ext cx="1800300" cy="571500"/>
              </a:xfrm>
              <a:prstGeom prst="roundRect">
                <a:avLst>
                  <a:gd fmla="val 10000" name="adj"/>
                </a:avLst>
              </a:prstGeom>
              <a:solidFill>
                <a:srgbClr val="FAFAFA"/>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15"/>
              <p:cNvSpPr/>
              <p:nvPr/>
            </p:nvSpPr>
            <p:spPr>
              <a:xfrm>
                <a:off x="95250" y="95250"/>
                <a:ext cx="381000" cy="381000"/>
              </a:xfrm>
              <a:prstGeom prst="roundRect">
                <a:avLst>
                  <a:gd fmla="val 15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5"/>
              <p:cNvSpPr txBox="1"/>
              <p:nvPr/>
            </p:nvSpPr>
            <p:spPr>
              <a:xfrm>
                <a:off x="95250" y="952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2563EB"/>
                    </a:solidFill>
                    <a:latin typeface="Fira Code SemiBold"/>
                    <a:ea typeface="Fira Code SemiBold"/>
                    <a:cs typeface="Fira Code SemiBold"/>
                    <a:sym typeface="Fira Code SemiBold"/>
                  </a:rPr>
                  <a:t>-</a:t>
                </a:r>
                <a:endParaRPr b="0" sz="1400">
                  <a:solidFill>
                    <a:srgbClr val="2563EB"/>
                  </a:solidFill>
                  <a:latin typeface="Fira Code SemiBold"/>
                  <a:ea typeface="Fira Code SemiBold"/>
                  <a:cs typeface="Fira Code SemiBold"/>
                  <a:sym typeface="Fira Code SemiBold"/>
                </a:endParaRPr>
              </a:p>
            </p:txBody>
          </p:sp>
          <p:sp>
            <p:nvSpPr>
              <p:cNvPr id="88" name="Google Shape;88;p15"/>
              <p:cNvSpPr txBox="1"/>
              <p:nvPr/>
            </p:nvSpPr>
            <p:spPr>
              <a:xfrm>
                <a:off x="552450" y="95250"/>
                <a:ext cx="11526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E293B"/>
                    </a:solidFill>
                    <a:latin typeface="Inter"/>
                    <a:ea typeface="Inter"/>
                    <a:cs typeface="Inter"/>
                    <a:sym typeface="Inter"/>
                  </a:rPr>
                  <a:t>Subtraction</a:t>
                </a:r>
                <a:endParaRPr b="1" sz="1300">
                  <a:solidFill>
                    <a:srgbClr val="1E293B"/>
                  </a:solidFill>
                  <a:latin typeface="Inter"/>
                  <a:ea typeface="Inter"/>
                  <a:cs typeface="Inter"/>
                  <a:sym typeface="Inter"/>
                </a:endParaRPr>
              </a:p>
              <a:p>
                <a:pPr indent="0" lvl="0" marL="0" rtl="0" algn="l">
                  <a:spcBef>
                    <a:spcPts val="0"/>
                  </a:spcBef>
                  <a:spcAft>
                    <a:spcPts val="0"/>
                  </a:spcAft>
                  <a:buNone/>
                </a:pPr>
                <a:r>
                  <a:rPr b="0" lang="en" sz="1100">
                    <a:solidFill>
                      <a:srgbClr val="475569"/>
                    </a:solidFill>
                    <a:latin typeface="Inter"/>
                    <a:ea typeface="Inter"/>
                    <a:cs typeface="Inter"/>
                    <a:sym typeface="Inter"/>
                  </a:rPr>
                  <a:t>Subtracts values</a:t>
                </a:r>
                <a:endParaRPr b="0" sz="1100">
                  <a:solidFill>
                    <a:srgbClr val="475569"/>
                  </a:solidFill>
                  <a:latin typeface="Inter"/>
                  <a:ea typeface="Inter"/>
                  <a:cs typeface="Inter"/>
                  <a:sym typeface="Inter"/>
                </a:endParaRPr>
              </a:p>
            </p:txBody>
          </p:sp>
        </p:grpSp>
        <p:grpSp>
          <p:nvGrpSpPr>
            <p:cNvPr id="89" name="Google Shape;89;p15"/>
            <p:cNvGrpSpPr/>
            <p:nvPr/>
          </p:nvGrpSpPr>
          <p:grpSpPr>
            <a:xfrm>
              <a:off x="152400" y="1476375"/>
              <a:ext cx="1790700" cy="571500"/>
              <a:chOff x="0" y="0"/>
              <a:chExt cx="1790700" cy="571500"/>
            </a:xfrm>
          </p:grpSpPr>
          <p:sp>
            <p:nvSpPr>
              <p:cNvPr id="90" name="Google Shape;90;p15"/>
              <p:cNvSpPr/>
              <p:nvPr/>
            </p:nvSpPr>
            <p:spPr>
              <a:xfrm>
                <a:off x="0" y="0"/>
                <a:ext cx="1790700" cy="571500"/>
              </a:xfrm>
              <a:prstGeom prst="roundRect">
                <a:avLst>
                  <a:gd fmla="val 10000" name="adj"/>
                </a:avLst>
              </a:prstGeom>
              <a:solidFill>
                <a:srgbClr val="FAFAFA"/>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 name="Google Shape;91;p15"/>
              <p:cNvSpPr/>
              <p:nvPr/>
            </p:nvSpPr>
            <p:spPr>
              <a:xfrm>
                <a:off x="95250" y="95250"/>
                <a:ext cx="381000" cy="381000"/>
              </a:xfrm>
              <a:prstGeom prst="roundRect">
                <a:avLst>
                  <a:gd fmla="val 15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5"/>
              <p:cNvSpPr txBox="1"/>
              <p:nvPr/>
            </p:nvSpPr>
            <p:spPr>
              <a:xfrm>
                <a:off x="95250" y="952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2563EB"/>
                    </a:solidFill>
                    <a:latin typeface="Fira Code SemiBold"/>
                    <a:ea typeface="Fira Code SemiBold"/>
                    <a:cs typeface="Fira Code SemiBold"/>
                    <a:sym typeface="Fira Code SemiBold"/>
                  </a:rPr>
                  <a:t>*</a:t>
                </a:r>
                <a:endParaRPr b="0" sz="1400">
                  <a:solidFill>
                    <a:srgbClr val="2563EB"/>
                  </a:solidFill>
                  <a:latin typeface="Fira Code SemiBold"/>
                  <a:ea typeface="Fira Code SemiBold"/>
                  <a:cs typeface="Fira Code SemiBold"/>
                  <a:sym typeface="Fira Code SemiBold"/>
                </a:endParaRPr>
              </a:p>
            </p:txBody>
          </p:sp>
          <p:sp>
            <p:nvSpPr>
              <p:cNvPr id="93" name="Google Shape;93;p15"/>
              <p:cNvSpPr txBox="1"/>
              <p:nvPr/>
            </p:nvSpPr>
            <p:spPr>
              <a:xfrm>
                <a:off x="552450" y="95250"/>
                <a:ext cx="1143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E293B"/>
                    </a:solidFill>
                    <a:latin typeface="Inter"/>
                    <a:ea typeface="Inter"/>
                    <a:cs typeface="Inter"/>
                    <a:sym typeface="Inter"/>
                  </a:rPr>
                  <a:t>Multiplication</a:t>
                </a:r>
                <a:endParaRPr b="1" sz="1300">
                  <a:solidFill>
                    <a:srgbClr val="1E293B"/>
                  </a:solidFill>
                  <a:latin typeface="Inter"/>
                  <a:ea typeface="Inter"/>
                  <a:cs typeface="Inter"/>
                  <a:sym typeface="Inter"/>
                </a:endParaRPr>
              </a:p>
              <a:p>
                <a:pPr indent="0" lvl="0" marL="0" rtl="0" algn="l">
                  <a:spcBef>
                    <a:spcPts val="0"/>
                  </a:spcBef>
                  <a:spcAft>
                    <a:spcPts val="0"/>
                  </a:spcAft>
                  <a:buNone/>
                </a:pPr>
                <a:r>
                  <a:rPr b="0" lang="en" sz="1100">
                    <a:solidFill>
                      <a:srgbClr val="475569"/>
                    </a:solidFill>
                    <a:latin typeface="Inter"/>
                    <a:ea typeface="Inter"/>
                    <a:cs typeface="Inter"/>
                    <a:sym typeface="Inter"/>
                  </a:rPr>
                  <a:t>Multiplies values</a:t>
                </a:r>
                <a:endParaRPr b="0" sz="1100">
                  <a:solidFill>
                    <a:srgbClr val="475569"/>
                  </a:solidFill>
                  <a:latin typeface="Inter"/>
                  <a:ea typeface="Inter"/>
                  <a:cs typeface="Inter"/>
                  <a:sym typeface="Inter"/>
                </a:endParaRPr>
              </a:p>
            </p:txBody>
          </p:sp>
        </p:grpSp>
        <p:grpSp>
          <p:nvGrpSpPr>
            <p:cNvPr id="94" name="Google Shape;94;p15"/>
            <p:cNvGrpSpPr/>
            <p:nvPr/>
          </p:nvGrpSpPr>
          <p:grpSpPr>
            <a:xfrm>
              <a:off x="2095500" y="1476375"/>
              <a:ext cx="1800300" cy="571500"/>
              <a:chOff x="0" y="0"/>
              <a:chExt cx="1800300" cy="571500"/>
            </a:xfrm>
          </p:grpSpPr>
          <p:sp>
            <p:nvSpPr>
              <p:cNvPr id="95" name="Google Shape;95;p15"/>
              <p:cNvSpPr/>
              <p:nvPr/>
            </p:nvSpPr>
            <p:spPr>
              <a:xfrm>
                <a:off x="0" y="0"/>
                <a:ext cx="1800300" cy="571500"/>
              </a:xfrm>
              <a:prstGeom prst="roundRect">
                <a:avLst>
                  <a:gd fmla="val 10000" name="adj"/>
                </a:avLst>
              </a:prstGeom>
              <a:solidFill>
                <a:srgbClr val="FAFAFA"/>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p:nvPr/>
            </p:nvSpPr>
            <p:spPr>
              <a:xfrm>
                <a:off x="95250" y="95250"/>
                <a:ext cx="381000" cy="381000"/>
              </a:xfrm>
              <a:prstGeom prst="roundRect">
                <a:avLst>
                  <a:gd fmla="val 15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5"/>
              <p:cNvSpPr txBox="1"/>
              <p:nvPr/>
            </p:nvSpPr>
            <p:spPr>
              <a:xfrm>
                <a:off x="95250" y="952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2563EB"/>
                    </a:solidFill>
                    <a:latin typeface="Fira Code SemiBold"/>
                    <a:ea typeface="Fira Code SemiBold"/>
                    <a:cs typeface="Fira Code SemiBold"/>
                    <a:sym typeface="Fira Code SemiBold"/>
                  </a:rPr>
                  <a:t>/</a:t>
                </a:r>
                <a:endParaRPr b="0" sz="1400">
                  <a:solidFill>
                    <a:srgbClr val="2563EB"/>
                  </a:solidFill>
                  <a:latin typeface="Fira Code SemiBold"/>
                  <a:ea typeface="Fira Code SemiBold"/>
                  <a:cs typeface="Fira Code SemiBold"/>
                  <a:sym typeface="Fira Code SemiBold"/>
                </a:endParaRPr>
              </a:p>
            </p:txBody>
          </p:sp>
          <p:sp>
            <p:nvSpPr>
              <p:cNvPr id="98" name="Google Shape;98;p15"/>
              <p:cNvSpPr txBox="1"/>
              <p:nvPr/>
            </p:nvSpPr>
            <p:spPr>
              <a:xfrm>
                <a:off x="552450" y="95250"/>
                <a:ext cx="11526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E293B"/>
                    </a:solidFill>
                    <a:latin typeface="Inter"/>
                    <a:ea typeface="Inter"/>
                    <a:cs typeface="Inter"/>
                    <a:sym typeface="Inter"/>
                  </a:rPr>
                  <a:t>Division</a:t>
                </a:r>
                <a:endParaRPr b="1" sz="1300">
                  <a:solidFill>
                    <a:srgbClr val="1E293B"/>
                  </a:solidFill>
                  <a:latin typeface="Inter"/>
                  <a:ea typeface="Inter"/>
                  <a:cs typeface="Inter"/>
                  <a:sym typeface="Inter"/>
                </a:endParaRPr>
              </a:p>
              <a:p>
                <a:pPr indent="0" lvl="0" marL="0" rtl="0" algn="l">
                  <a:spcBef>
                    <a:spcPts val="0"/>
                  </a:spcBef>
                  <a:spcAft>
                    <a:spcPts val="0"/>
                  </a:spcAft>
                  <a:buNone/>
                </a:pPr>
                <a:r>
                  <a:rPr b="0" lang="en" sz="1100">
                    <a:solidFill>
                      <a:srgbClr val="475569"/>
                    </a:solidFill>
                    <a:latin typeface="Inter"/>
                    <a:ea typeface="Inter"/>
                    <a:cs typeface="Inter"/>
                    <a:sym typeface="Inter"/>
                  </a:rPr>
                  <a:t>Divides values</a:t>
                </a:r>
                <a:endParaRPr b="0" sz="1100">
                  <a:solidFill>
                    <a:srgbClr val="475569"/>
                  </a:solidFill>
                  <a:latin typeface="Inter"/>
                  <a:ea typeface="Inter"/>
                  <a:cs typeface="Inter"/>
                  <a:sym typeface="Inter"/>
                </a:endParaRPr>
              </a:p>
            </p:txBody>
          </p:sp>
        </p:grpSp>
      </p:grpSp>
      <p:grpSp>
        <p:nvGrpSpPr>
          <p:cNvPr id="99" name="Google Shape;99;p15"/>
          <p:cNvGrpSpPr/>
          <p:nvPr/>
        </p:nvGrpSpPr>
        <p:grpSpPr>
          <a:xfrm>
            <a:off x="4714875" y="1428750"/>
            <a:ext cx="4048200" cy="2238300"/>
            <a:chOff x="0" y="0"/>
            <a:chExt cx="4048200" cy="2238300"/>
          </a:xfrm>
        </p:grpSpPr>
        <p:sp>
          <p:nvSpPr>
            <p:cNvPr id="100" name="Google Shape;100;p15"/>
            <p:cNvSpPr/>
            <p:nvPr/>
          </p:nvSpPr>
          <p:spPr>
            <a:xfrm>
              <a:off x="0" y="0"/>
              <a:ext cx="4048200" cy="2238300"/>
            </a:xfrm>
            <a:prstGeom prst="roundRect">
              <a:avLst>
                <a:gd fmla="val 425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5"/>
            <p:cNvSpPr/>
            <p:nvPr/>
          </p:nvSpPr>
          <p:spPr>
            <a:xfrm>
              <a:off x="0" y="0"/>
              <a:ext cx="4048200" cy="342900"/>
            </a:xfrm>
            <a:prstGeom prst="roundRect">
              <a:avLst>
                <a:gd fmla="val 27777" name="adj"/>
              </a:avLst>
            </a:prstGeom>
            <a:solidFill>
              <a:srgbClr val="FEF3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5"/>
            <p:cNvSpPr/>
            <p:nvPr/>
          </p:nvSpPr>
          <p:spPr>
            <a:xfrm>
              <a:off x="0" y="247650"/>
              <a:ext cx="4048200" cy="95400"/>
            </a:xfrm>
            <a:prstGeom prst="rect">
              <a:avLst/>
            </a:prstGeom>
            <a:solidFill>
              <a:srgbClr val="FEF3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5"/>
            <p:cNvSpPr txBox="1"/>
            <p:nvPr/>
          </p:nvSpPr>
          <p:spPr>
            <a:xfrm>
              <a:off x="152400" y="76200"/>
              <a:ext cx="37434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450"/>
                </a:spcAft>
                <a:buNone/>
              </a:pPr>
              <a:r>
                <a:rPr b="0" lang="en" sz="1100">
                  <a:solidFill>
                    <a:srgbClr val="D97706"/>
                  </a:solidFill>
                  <a:latin typeface="Inter SemiBold"/>
                  <a:ea typeface="Inter SemiBold"/>
                  <a:cs typeface="Inter SemiBold"/>
                  <a:sym typeface="Inter SemiBold"/>
                </a:rPr>
                <a:t>SPECIALIZED PYTHON OPERATORS</a:t>
              </a:r>
              <a:endParaRPr b="0" sz="1100">
                <a:solidFill>
                  <a:srgbClr val="D97706"/>
                </a:solidFill>
                <a:latin typeface="Inter SemiBold"/>
                <a:ea typeface="Inter SemiBold"/>
                <a:cs typeface="Inter SemiBold"/>
                <a:sym typeface="Inter SemiBold"/>
              </a:endParaRPr>
            </a:p>
          </p:txBody>
        </p:sp>
        <p:grpSp>
          <p:nvGrpSpPr>
            <p:cNvPr id="104" name="Google Shape;104;p15"/>
            <p:cNvGrpSpPr/>
            <p:nvPr/>
          </p:nvGrpSpPr>
          <p:grpSpPr>
            <a:xfrm>
              <a:off x="152400" y="438150"/>
              <a:ext cx="3743400" cy="495300"/>
              <a:chOff x="0" y="0"/>
              <a:chExt cx="3743400" cy="495300"/>
            </a:xfrm>
          </p:grpSpPr>
          <p:sp>
            <p:nvSpPr>
              <p:cNvPr id="105" name="Google Shape;105;p15"/>
              <p:cNvSpPr/>
              <p:nvPr/>
            </p:nvSpPr>
            <p:spPr>
              <a:xfrm>
                <a:off x="0" y="0"/>
                <a:ext cx="3743400" cy="495300"/>
              </a:xfrm>
              <a:prstGeom prst="roundRect">
                <a:avLst>
                  <a:gd fmla="val 11538" name="adj"/>
                </a:avLst>
              </a:prstGeom>
              <a:solidFill>
                <a:srgbClr val="FAFAFA"/>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5"/>
              <p:cNvSpPr/>
              <p:nvPr/>
            </p:nvSpPr>
            <p:spPr>
              <a:xfrm>
                <a:off x="95250" y="76200"/>
                <a:ext cx="457200" cy="342900"/>
              </a:xfrm>
              <a:prstGeom prst="roundRect">
                <a:avLst>
                  <a:gd fmla="val 16666" name="adj"/>
                </a:avLst>
              </a:prstGeom>
              <a:solidFill>
                <a:srgbClr val="FEF3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5"/>
              <p:cNvSpPr txBox="1"/>
              <p:nvPr/>
            </p:nvSpPr>
            <p:spPr>
              <a:xfrm>
                <a:off x="95250" y="76200"/>
                <a:ext cx="4572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D97706"/>
                    </a:solidFill>
                    <a:latin typeface="Fira Code SemiBold"/>
                    <a:ea typeface="Fira Code SemiBold"/>
                    <a:cs typeface="Fira Code SemiBold"/>
                    <a:sym typeface="Fira Code SemiBold"/>
                  </a:rPr>
                  <a:t>//</a:t>
                </a:r>
                <a:endParaRPr b="0" sz="1400">
                  <a:solidFill>
                    <a:srgbClr val="D97706"/>
                  </a:solidFill>
                  <a:latin typeface="Fira Code SemiBold"/>
                  <a:ea typeface="Fira Code SemiBold"/>
                  <a:cs typeface="Fira Code SemiBold"/>
                  <a:sym typeface="Fira Code SemiBold"/>
                </a:endParaRPr>
              </a:p>
            </p:txBody>
          </p:sp>
          <p:sp>
            <p:nvSpPr>
              <p:cNvPr id="108" name="Google Shape;108;p15"/>
              <p:cNvSpPr txBox="1"/>
              <p:nvPr/>
            </p:nvSpPr>
            <p:spPr>
              <a:xfrm>
                <a:off x="647700" y="76200"/>
                <a:ext cx="30003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3">
                    <a:solidFill>
                      <a:srgbClr val="1E293B"/>
                    </a:solidFill>
                    <a:latin typeface="Inter"/>
                    <a:ea typeface="Inter"/>
                    <a:cs typeface="Inter"/>
                    <a:sym typeface="Inter"/>
                  </a:rPr>
                  <a:t>Floor Division</a:t>
                </a:r>
                <a:endParaRPr b="1" sz="1203">
                  <a:solidFill>
                    <a:srgbClr val="1E293B"/>
                  </a:solidFill>
                  <a:latin typeface="Inter"/>
                  <a:ea typeface="Inter"/>
                  <a:cs typeface="Inter"/>
                  <a:sym typeface="Inter"/>
                </a:endParaRPr>
              </a:p>
              <a:p>
                <a:pPr indent="0" lvl="0" marL="0" rtl="0" algn="l">
                  <a:spcBef>
                    <a:spcPts val="0"/>
                  </a:spcBef>
                  <a:spcAft>
                    <a:spcPts val="0"/>
                  </a:spcAft>
                  <a:buNone/>
                </a:pPr>
                <a:r>
                  <a:rPr b="0" lang="en" sz="1018">
                    <a:solidFill>
                      <a:srgbClr val="475569"/>
                    </a:solidFill>
                    <a:latin typeface="Inter"/>
                    <a:ea typeface="Inter"/>
                    <a:cs typeface="Inter"/>
                    <a:sym typeface="Inter"/>
                  </a:rPr>
                  <a:t>Returns integer result (rounds down)</a:t>
                </a:r>
                <a:endParaRPr b="0" sz="1018">
                  <a:solidFill>
                    <a:srgbClr val="475569"/>
                  </a:solidFill>
                  <a:latin typeface="Inter"/>
                  <a:ea typeface="Inter"/>
                  <a:cs typeface="Inter"/>
                  <a:sym typeface="Inter"/>
                </a:endParaRPr>
              </a:p>
            </p:txBody>
          </p:sp>
        </p:grpSp>
        <p:grpSp>
          <p:nvGrpSpPr>
            <p:cNvPr id="109" name="Google Shape;109;p15"/>
            <p:cNvGrpSpPr/>
            <p:nvPr/>
          </p:nvGrpSpPr>
          <p:grpSpPr>
            <a:xfrm>
              <a:off x="152400" y="1028700"/>
              <a:ext cx="3743400" cy="495300"/>
              <a:chOff x="0" y="0"/>
              <a:chExt cx="3743400" cy="495300"/>
            </a:xfrm>
          </p:grpSpPr>
          <p:sp>
            <p:nvSpPr>
              <p:cNvPr id="110" name="Google Shape;110;p15"/>
              <p:cNvSpPr/>
              <p:nvPr/>
            </p:nvSpPr>
            <p:spPr>
              <a:xfrm>
                <a:off x="0" y="0"/>
                <a:ext cx="3743400" cy="495300"/>
              </a:xfrm>
              <a:prstGeom prst="roundRect">
                <a:avLst>
                  <a:gd fmla="val 11538" name="adj"/>
                </a:avLst>
              </a:prstGeom>
              <a:solidFill>
                <a:srgbClr val="FAFAFA"/>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5"/>
              <p:cNvSpPr/>
              <p:nvPr/>
            </p:nvSpPr>
            <p:spPr>
              <a:xfrm>
                <a:off x="95250" y="76200"/>
                <a:ext cx="457200" cy="342900"/>
              </a:xfrm>
              <a:prstGeom prst="roundRect">
                <a:avLst>
                  <a:gd fmla="val 16666" name="adj"/>
                </a:avLst>
              </a:prstGeom>
              <a:solidFill>
                <a:srgbClr val="FEF3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5"/>
              <p:cNvSpPr txBox="1"/>
              <p:nvPr/>
            </p:nvSpPr>
            <p:spPr>
              <a:xfrm>
                <a:off x="95250" y="76200"/>
                <a:ext cx="4572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D97706"/>
                    </a:solidFill>
                    <a:latin typeface="Fira Code SemiBold"/>
                    <a:ea typeface="Fira Code SemiBold"/>
                    <a:cs typeface="Fira Code SemiBold"/>
                    <a:sym typeface="Fira Code SemiBold"/>
                  </a:rPr>
                  <a:t>%</a:t>
                </a:r>
                <a:endParaRPr b="0" sz="1400">
                  <a:solidFill>
                    <a:srgbClr val="D97706"/>
                  </a:solidFill>
                  <a:latin typeface="Fira Code SemiBold"/>
                  <a:ea typeface="Fira Code SemiBold"/>
                  <a:cs typeface="Fira Code SemiBold"/>
                  <a:sym typeface="Fira Code SemiBold"/>
                </a:endParaRPr>
              </a:p>
            </p:txBody>
          </p:sp>
          <p:sp>
            <p:nvSpPr>
              <p:cNvPr id="113" name="Google Shape;113;p15"/>
              <p:cNvSpPr txBox="1"/>
              <p:nvPr/>
            </p:nvSpPr>
            <p:spPr>
              <a:xfrm>
                <a:off x="647700" y="76200"/>
                <a:ext cx="30003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3">
                    <a:solidFill>
                      <a:srgbClr val="1E293B"/>
                    </a:solidFill>
                    <a:latin typeface="Inter"/>
                    <a:ea typeface="Inter"/>
                    <a:cs typeface="Inter"/>
                    <a:sym typeface="Inter"/>
                  </a:rPr>
                  <a:t>Modulus</a:t>
                </a:r>
                <a:endParaRPr b="1" sz="1203">
                  <a:solidFill>
                    <a:srgbClr val="1E293B"/>
                  </a:solidFill>
                  <a:latin typeface="Inter"/>
                  <a:ea typeface="Inter"/>
                  <a:cs typeface="Inter"/>
                  <a:sym typeface="Inter"/>
                </a:endParaRPr>
              </a:p>
              <a:p>
                <a:pPr indent="0" lvl="0" marL="0" rtl="0" algn="l">
                  <a:spcBef>
                    <a:spcPts val="0"/>
                  </a:spcBef>
                  <a:spcAft>
                    <a:spcPts val="0"/>
                  </a:spcAft>
                  <a:buNone/>
                </a:pPr>
                <a:r>
                  <a:rPr b="0" lang="en" sz="1018">
                    <a:solidFill>
                      <a:srgbClr val="475569"/>
                    </a:solidFill>
                    <a:latin typeface="Inter"/>
                    <a:ea typeface="Inter"/>
                    <a:cs typeface="Inter"/>
                    <a:sym typeface="Inter"/>
                  </a:rPr>
                  <a:t>Finds remainder of division</a:t>
                </a:r>
                <a:endParaRPr b="0" sz="1018">
                  <a:solidFill>
                    <a:srgbClr val="475569"/>
                  </a:solidFill>
                  <a:latin typeface="Inter"/>
                  <a:ea typeface="Inter"/>
                  <a:cs typeface="Inter"/>
                  <a:sym typeface="Inter"/>
                </a:endParaRPr>
              </a:p>
            </p:txBody>
          </p:sp>
        </p:grpSp>
        <p:grpSp>
          <p:nvGrpSpPr>
            <p:cNvPr id="114" name="Google Shape;114;p15"/>
            <p:cNvGrpSpPr/>
            <p:nvPr/>
          </p:nvGrpSpPr>
          <p:grpSpPr>
            <a:xfrm>
              <a:off x="152400" y="1619250"/>
              <a:ext cx="3743400" cy="495300"/>
              <a:chOff x="0" y="0"/>
              <a:chExt cx="3743400" cy="495300"/>
            </a:xfrm>
          </p:grpSpPr>
          <p:sp>
            <p:nvSpPr>
              <p:cNvPr id="115" name="Google Shape;115;p15"/>
              <p:cNvSpPr/>
              <p:nvPr/>
            </p:nvSpPr>
            <p:spPr>
              <a:xfrm>
                <a:off x="0" y="0"/>
                <a:ext cx="3743400" cy="495300"/>
              </a:xfrm>
              <a:prstGeom prst="roundRect">
                <a:avLst>
                  <a:gd fmla="val 11538" name="adj"/>
                </a:avLst>
              </a:prstGeom>
              <a:solidFill>
                <a:srgbClr val="FAFAFA"/>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5"/>
              <p:cNvSpPr/>
              <p:nvPr/>
            </p:nvSpPr>
            <p:spPr>
              <a:xfrm>
                <a:off x="95250" y="76200"/>
                <a:ext cx="457200" cy="342900"/>
              </a:xfrm>
              <a:prstGeom prst="roundRect">
                <a:avLst>
                  <a:gd fmla="val 16666" name="adj"/>
                </a:avLst>
              </a:prstGeom>
              <a:solidFill>
                <a:srgbClr val="FEF3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5"/>
              <p:cNvSpPr txBox="1"/>
              <p:nvPr/>
            </p:nvSpPr>
            <p:spPr>
              <a:xfrm>
                <a:off x="95250" y="76200"/>
                <a:ext cx="4572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D97706"/>
                    </a:solidFill>
                    <a:latin typeface="Fira Code SemiBold"/>
                    <a:ea typeface="Fira Code SemiBold"/>
                    <a:cs typeface="Fira Code SemiBold"/>
                    <a:sym typeface="Fira Code SemiBold"/>
                  </a:rPr>
                  <a:t>**</a:t>
                </a:r>
                <a:endParaRPr b="0" sz="1400">
                  <a:solidFill>
                    <a:srgbClr val="D97706"/>
                  </a:solidFill>
                  <a:latin typeface="Fira Code SemiBold"/>
                  <a:ea typeface="Fira Code SemiBold"/>
                  <a:cs typeface="Fira Code SemiBold"/>
                  <a:sym typeface="Fira Code SemiBold"/>
                </a:endParaRPr>
              </a:p>
            </p:txBody>
          </p:sp>
          <p:sp>
            <p:nvSpPr>
              <p:cNvPr id="118" name="Google Shape;118;p15"/>
              <p:cNvSpPr txBox="1"/>
              <p:nvPr/>
            </p:nvSpPr>
            <p:spPr>
              <a:xfrm>
                <a:off x="647700" y="76200"/>
                <a:ext cx="30003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3">
                    <a:solidFill>
                      <a:srgbClr val="1E293B"/>
                    </a:solidFill>
                    <a:latin typeface="Inter"/>
                    <a:ea typeface="Inter"/>
                    <a:cs typeface="Inter"/>
                    <a:sym typeface="Inter"/>
                  </a:rPr>
                  <a:t>Exponentiation</a:t>
                </a:r>
                <a:endParaRPr b="1" sz="1203">
                  <a:solidFill>
                    <a:srgbClr val="1E293B"/>
                  </a:solidFill>
                  <a:latin typeface="Inter"/>
                  <a:ea typeface="Inter"/>
                  <a:cs typeface="Inter"/>
                  <a:sym typeface="Inter"/>
                </a:endParaRPr>
              </a:p>
              <a:p>
                <a:pPr indent="0" lvl="0" marL="0" rtl="0" algn="l">
                  <a:spcBef>
                    <a:spcPts val="0"/>
                  </a:spcBef>
                  <a:spcAft>
                    <a:spcPts val="0"/>
                  </a:spcAft>
                  <a:buNone/>
                </a:pPr>
                <a:r>
                  <a:rPr b="0" lang="en" sz="1018">
                    <a:solidFill>
                      <a:srgbClr val="475569"/>
                    </a:solidFill>
                    <a:latin typeface="Inter"/>
                    <a:ea typeface="Inter"/>
                    <a:cs typeface="Inter"/>
                    <a:sym typeface="Inter"/>
                  </a:rPr>
                  <a:t>Calculates powers (e.g., base ** exp)</a:t>
                </a:r>
                <a:endParaRPr b="0" sz="1018">
                  <a:solidFill>
                    <a:srgbClr val="475569"/>
                  </a:solidFill>
                  <a:latin typeface="Inter"/>
                  <a:ea typeface="Inter"/>
                  <a:cs typeface="Inter"/>
                  <a:sym typeface="Inter"/>
                </a:endParaRPr>
              </a:p>
            </p:txBody>
          </p:sp>
        </p:grpSp>
      </p:grpSp>
      <p:grpSp>
        <p:nvGrpSpPr>
          <p:cNvPr id="119" name="Google Shape;119;p15"/>
          <p:cNvGrpSpPr/>
          <p:nvPr/>
        </p:nvGrpSpPr>
        <p:grpSpPr>
          <a:xfrm>
            <a:off x="381000" y="3838575"/>
            <a:ext cx="8382000" cy="1066800"/>
            <a:chOff x="0" y="0"/>
            <a:chExt cx="8382000" cy="1066800"/>
          </a:xfrm>
        </p:grpSpPr>
        <p:sp>
          <p:nvSpPr>
            <p:cNvPr id="120" name="Google Shape;120;p15"/>
            <p:cNvSpPr/>
            <p:nvPr/>
          </p:nvSpPr>
          <p:spPr>
            <a:xfrm>
              <a:off x="0" y="0"/>
              <a:ext cx="8382000" cy="1066800"/>
            </a:xfrm>
            <a:prstGeom prst="roundRect">
              <a:avLst>
                <a:gd fmla="val 7142" name="adj"/>
              </a:avLst>
            </a:prstGeom>
            <a:solidFill>
              <a:srgbClr val="FFFBEB"/>
            </a:solidFill>
            <a:ln cap="flat" cmpd="sng" w="9525">
              <a:solidFill>
                <a:srgbClr val="FDE68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5"/>
            <p:cNvSpPr/>
            <p:nvPr/>
          </p:nvSpPr>
          <p:spPr>
            <a:xfrm>
              <a:off x="0" y="0"/>
              <a:ext cx="76200" cy="10668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5"/>
            <p:cNvSpPr txBox="1"/>
            <p:nvPr/>
          </p:nvSpPr>
          <p:spPr>
            <a:xfrm>
              <a:off x="266700" y="152400"/>
              <a:ext cx="78867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D97706"/>
                  </a:solidFill>
                  <a:latin typeface="Inter SemiBold"/>
                  <a:ea typeface="Inter SemiBold"/>
                  <a:cs typeface="Inter SemiBold"/>
                  <a:sym typeface="Inter SemiBold"/>
                </a:rPr>
                <a:t>ORDER OF PRECEDENCE (PEMDAS)</a:t>
              </a:r>
              <a:endParaRPr b="0" sz="1100">
                <a:solidFill>
                  <a:srgbClr val="D97706"/>
                </a:solidFill>
                <a:latin typeface="Inter SemiBold"/>
                <a:ea typeface="Inter SemiBold"/>
                <a:cs typeface="Inter SemiBold"/>
                <a:sym typeface="Inter SemiBold"/>
              </a:endParaRPr>
            </a:p>
            <a:p>
              <a:pPr indent="0" lvl="0" marL="0" rtl="0" algn="l">
                <a:spcBef>
                  <a:spcPts val="450"/>
                </a:spcBef>
                <a:spcAft>
                  <a:spcPts val="0"/>
                </a:spcAft>
                <a:buNone/>
              </a:pPr>
              <a:r>
                <a:rPr b="0" lang="en" sz="1300">
                  <a:solidFill>
                    <a:srgbClr val="1E293B"/>
                  </a:solidFill>
                  <a:latin typeface="Inter"/>
                  <a:ea typeface="Inter"/>
                  <a:cs typeface="Inter"/>
                  <a:sym typeface="Inter"/>
                </a:rPr>
                <a:t>Python evaluates expressions using standard mathematical order of precedence </a:t>
              </a:r>
              <a:r>
                <a:rPr b="1" lang="en" sz="1300">
                  <a:solidFill>
                    <a:srgbClr val="1E293B"/>
                  </a:solidFill>
                  <a:latin typeface="Inter"/>
                  <a:ea typeface="Inter"/>
                  <a:cs typeface="Inter"/>
                  <a:sym typeface="Inter"/>
                </a:rPr>
                <a:t>(PEMDAS)</a:t>
              </a:r>
              <a:r>
                <a:rPr b="0" lang="en" sz="1300">
                  <a:solidFill>
                    <a:srgbClr val="1E293B"/>
                  </a:solidFill>
                  <a:latin typeface="Inter"/>
                  <a:ea typeface="Inter"/>
                  <a:cs typeface="Inter"/>
                  <a:sym typeface="Inter"/>
                </a:rPr>
                <a:t>, ensuring predictable calculations from basic arithmetic to complex algorithmic formulas.</a:t>
              </a:r>
              <a:endParaRPr b="0" sz="1300">
                <a:solidFill>
                  <a:srgbClr val="1E293B"/>
                </a:solidFill>
                <a:latin typeface="Inter"/>
                <a:ea typeface="Inter"/>
                <a:cs typeface="Inter"/>
                <a:sym typeface="Inte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 name="Shape 126"/>
        <p:cNvGrpSpPr/>
        <p:nvPr/>
      </p:nvGrpSpPr>
      <p:grpSpPr>
        <a:xfrm>
          <a:off x="0" y="0"/>
          <a:ext cx="0" cy="0"/>
          <a:chOff x="0" y="0"/>
          <a:chExt cx="0" cy="0"/>
        </a:xfrm>
      </p:grpSpPr>
      <p:pic>
        <p:nvPicPr>
          <p:cNvPr id="127" name="Google Shape;127;p16"/>
          <p:cNvPicPr preferRelativeResize="0"/>
          <p:nvPr/>
        </p:nvPicPr>
        <p:blipFill rotWithShape="1">
          <a:blip r:embed="rId4">
            <a:alphaModFix/>
          </a:blip>
          <a:srcRect b="0" l="0" r="0" t="0"/>
          <a:stretch/>
        </p:blipFill>
        <p:spPr>
          <a:xfrm>
            <a:off x="4763" y="4763"/>
            <a:ext cx="8982000" cy="4981500"/>
          </a:xfrm>
          <a:prstGeom prst="rect">
            <a:avLst/>
          </a:prstGeom>
          <a:noFill/>
          <a:ln>
            <a:noFill/>
          </a:ln>
        </p:spPr>
      </p:pic>
      <p:grpSp>
        <p:nvGrpSpPr>
          <p:cNvPr id="128" name="Google Shape;128;p16"/>
          <p:cNvGrpSpPr/>
          <p:nvPr/>
        </p:nvGrpSpPr>
        <p:grpSpPr>
          <a:xfrm>
            <a:off x="381000" y="190500"/>
            <a:ext cx="8382000" cy="333375"/>
            <a:chOff x="381000" y="190500"/>
            <a:chExt cx="8382000" cy="333375"/>
          </a:xfrm>
        </p:grpSpPr>
        <p:sp>
          <p:nvSpPr>
            <p:cNvPr id="129" name="Google Shape;129;p16"/>
            <p:cNvSpPr/>
            <p:nvPr/>
          </p:nvSpPr>
          <p:spPr>
            <a:xfrm>
              <a:off x="381000" y="190500"/>
              <a:ext cx="76200" cy="2286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6"/>
            <p:cNvSpPr txBox="1"/>
            <p:nvPr/>
          </p:nvSpPr>
          <p:spPr>
            <a:xfrm>
              <a:off x="571500" y="209550"/>
              <a:ext cx="3810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solidFill>
                    <a:srgbClr val="2563EB"/>
                  </a:solidFill>
                  <a:latin typeface="Inter SemiBold"/>
                  <a:ea typeface="Inter SemiBold"/>
                  <a:cs typeface="Inter SemiBold"/>
                  <a:sym typeface="Inter SemiBold"/>
                </a:rPr>
                <a:t>LEARNWITHVARSHHH</a:t>
              </a:r>
              <a:r>
                <a:rPr b="0" lang="en" sz="1100">
                  <a:solidFill>
                    <a:srgbClr val="2563EB"/>
                  </a:solidFill>
                  <a:latin typeface="Inter SemiBold"/>
                  <a:ea typeface="Inter SemiBold"/>
                  <a:cs typeface="Inter SemiBold"/>
                  <a:sym typeface="Inter SemiBold"/>
                </a:rPr>
                <a:t> // PYTHON-SERIES</a:t>
              </a:r>
              <a:endParaRPr b="0" sz="1100">
                <a:solidFill>
                  <a:srgbClr val="2563EB"/>
                </a:solidFill>
                <a:latin typeface="Inter SemiBold"/>
                <a:ea typeface="Inter SemiBold"/>
                <a:cs typeface="Inter SemiBold"/>
                <a:sym typeface="Inter SemiBold"/>
              </a:endParaRPr>
            </a:p>
          </p:txBody>
        </p:sp>
        <p:cxnSp>
          <p:nvCxnSpPr>
            <p:cNvPr id="131" name="Google Shape;131;p16"/>
            <p:cNvCxnSpPr/>
            <p:nvPr/>
          </p:nvCxnSpPr>
          <p:spPr>
            <a:xfrm>
              <a:off x="381000" y="523875"/>
              <a:ext cx="8382000" cy="0"/>
            </a:xfrm>
            <a:prstGeom prst="straightConnector1">
              <a:avLst/>
            </a:prstGeom>
            <a:solidFill>
              <a:srgbClr val="FFFFFF"/>
            </a:solidFill>
            <a:ln cap="flat" cmpd="sng" w="9525">
              <a:solidFill>
                <a:srgbClr val="E2E8F0"/>
              </a:solidFill>
              <a:prstDash val="solid"/>
              <a:round/>
              <a:headEnd len="sm" w="sm" type="none"/>
              <a:tailEnd len="sm" w="sm" type="none"/>
            </a:ln>
          </p:spPr>
        </p:cxnSp>
      </p:grpSp>
      <p:sp>
        <p:nvSpPr>
          <p:cNvPr id="132" name="Google Shape;132;p16"/>
          <p:cNvSpPr txBox="1"/>
          <p:nvPr/>
        </p:nvSpPr>
        <p:spPr>
          <a:xfrm>
            <a:off x="381000" y="714375"/>
            <a:ext cx="8382000" cy="14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rgbClr val="1E293B"/>
                </a:solidFill>
                <a:latin typeface="Outfit"/>
                <a:ea typeface="Outfit"/>
                <a:cs typeface="Outfit"/>
                <a:sym typeface="Outfit"/>
              </a:rPr>
              <a:t>Comparison Operators</a:t>
            </a:r>
            <a:endParaRPr b="1" sz="2800">
              <a:solidFill>
                <a:srgbClr val="1E293B"/>
              </a:solidFill>
              <a:latin typeface="Outfit"/>
              <a:ea typeface="Outfit"/>
              <a:cs typeface="Outfit"/>
              <a:sym typeface="Outfit"/>
            </a:endParaRPr>
          </a:p>
          <a:p>
            <a:pPr indent="0" lvl="0" marL="0" rtl="0" algn="l">
              <a:spcBef>
                <a:spcPts val="150"/>
              </a:spcBef>
              <a:spcAft>
                <a:spcPts val="0"/>
              </a:spcAft>
              <a:buNone/>
            </a:pPr>
            <a:r>
              <a:rPr b="0" lang="en" sz="1800">
                <a:solidFill>
                  <a:srgbClr val="2563EB"/>
                </a:solidFill>
                <a:latin typeface="Outfit Medium"/>
                <a:ea typeface="Outfit Medium"/>
                <a:cs typeface="Outfit Medium"/>
                <a:sym typeface="Outfit Medium"/>
              </a:rPr>
              <a:t>Evaluating Conditions &amp; Relationships</a:t>
            </a:r>
            <a:endParaRPr b="0" sz="1800">
              <a:solidFill>
                <a:srgbClr val="2563EB"/>
              </a:solidFill>
              <a:latin typeface="Outfit Medium"/>
              <a:ea typeface="Outfit Medium"/>
              <a:cs typeface="Outfit Medium"/>
              <a:sym typeface="Outfit Medium"/>
            </a:endParaRPr>
          </a:p>
          <a:p>
            <a:pPr indent="0" lvl="0" marL="0" rtl="0" algn="l">
              <a:spcBef>
                <a:spcPts val="600"/>
              </a:spcBef>
              <a:spcAft>
                <a:spcPts val="0"/>
              </a:spcAft>
              <a:buNone/>
            </a:pPr>
            <a:r>
              <a:rPr b="0" lang="en" sz="1300">
                <a:solidFill>
                  <a:srgbClr val="475569"/>
                </a:solidFill>
                <a:latin typeface="Inter"/>
                <a:ea typeface="Inter"/>
                <a:cs typeface="Inter"/>
                <a:sym typeface="Inter"/>
              </a:rPr>
              <a:t>Comparison operators, also known as relational operators, compare two values and determine the relationship between them. They evaluate conditions using symbols like equal to (</a:t>
            </a:r>
            <a:r>
              <a:rPr b="0" lang="en" sz="1300">
                <a:solidFill>
                  <a:srgbClr val="0F172A"/>
                </a:solidFill>
                <a:highlight>
                  <a:srgbClr val="F1F5F9"/>
                </a:highlight>
                <a:latin typeface="Fira Code SemiBold"/>
                <a:ea typeface="Fira Code SemiBold"/>
                <a:cs typeface="Fira Code SemiBold"/>
                <a:sym typeface="Fira Code SemiBold"/>
              </a:rPr>
              <a:t>==</a:t>
            </a:r>
            <a:r>
              <a:rPr b="0" lang="en" sz="1300">
                <a:solidFill>
                  <a:srgbClr val="475569"/>
                </a:solidFill>
                <a:latin typeface="Inter"/>
                <a:ea typeface="Inter"/>
                <a:cs typeface="Inter"/>
                <a:sym typeface="Inter"/>
              </a:rPr>
              <a:t>), not equal to (</a:t>
            </a:r>
            <a:r>
              <a:rPr b="0" lang="en" sz="1300">
                <a:solidFill>
                  <a:srgbClr val="0F172A"/>
                </a:solidFill>
                <a:highlight>
                  <a:srgbClr val="F1F5F9"/>
                </a:highlight>
                <a:latin typeface="Fira Code SemiBold"/>
                <a:ea typeface="Fira Code SemiBold"/>
                <a:cs typeface="Fira Code SemiBold"/>
                <a:sym typeface="Fira Code SemiBold"/>
              </a:rPr>
              <a:t>!=</a:t>
            </a:r>
            <a:r>
              <a:rPr b="0" lang="en" sz="1300">
                <a:solidFill>
                  <a:srgbClr val="475569"/>
                </a:solidFill>
                <a:latin typeface="Inter"/>
                <a:ea typeface="Inter"/>
                <a:cs typeface="Inter"/>
                <a:sym typeface="Inter"/>
              </a:rPr>
              <a:t>), greater than (</a:t>
            </a:r>
            <a:r>
              <a:rPr b="0" lang="en" sz="1300">
                <a:solidFill>
                  <a:srgbClr val="0F172A"/>
                </a:solidFill>
                <a:highlight>
                  <a:srgbClr val="F1F5F9"/>
                </a:highlight>
                <a:latin typeface="Fira Code SemiBold"/>
                <a:ea typeface="Fira Code SemiBold"/>
                <a:cs typeface="Fira Code SemiBold"/>
                <a:sym typeface="Fira Code SemiBold"/>
              </a:rPr>
              <a:t>&gt;</a:t>
            </a:r>
            <a:r>
              <a:rPr b="0" lang="en" sz="1300">
                <a:solidFill>
                  <a:srgbClr val="475569"/>
                </a:solidFill>
                <a:latin typeface="Inter"/>
                <a:ea typeface="Inter"/>
                <a:cs typeface="Inter"/>
                <a:sym typeface="Inter"/>
              </a:rPr>
              <a:t>), less than (</a:t>
            </a:r>
            <a:r>
              <a:rPr b="0" lang="en" sz="1300">
                <a:solidFill>
                  <a:srgbClr val="0F172A"/>
                </a:solidFill>
                <a:highlight>
                  <a:srgbClr val="F1F5F9"/>
                </a:highlight>
                <a:latin typeface="Fira Code SemiBold"/>
                <a:ea typeface="Fira Code SemiBold"/>
                <a:cs typeface="Fira Code SemiBold"/>
                <a:sym typeface="Fira Code SemiBold"/>
              </a:rPr>
              <a:t>&lt;</a:t>
            </a:r>
            <a:r>
              <a:rPr b="0" lang="en" sz="1300">
                <a:solidFill>
                  <a:srgbClr val="475569"/>
                </a:solidFill>
                <a:latin typeface="Inter"/>
                <a:ea typeface="Inter"/>
                <a:cs typeface="Inter"/>
                <a:sym typeface="Inter"/>
              </a:rPr>
              <a:t>), </a:t>
            </a:r>
            <a:r>
              <a:rPr b="0" lang="en" sz="1300">
                <a:solidFill>
                  <a:srgbClr val="0F172A"/>
                </a:solidFill>
                <a:highlight>
                  <a:srgbClr val="F1F5F9"/>
                </a:highlight>
                <a:latin typeface="Fira Code SemiBold"/>
                <a:ea typeface="Fira Code SemiBold"/>
                <a:cs typeface="Fira Code SemiBold"/>
                <a:sym typeface="Fira Code SemiBold"/>
              </a:rPr>
              <a:t>&gt;=</a:t>
            </a:r>
            <a:r>
              <a:rPr b="0" lang="en" sz="1300">
                <a:solidFill>
                  <a:srgbClr val="475569"/>
                </a:solidFill>
                <a:latin typeface="Inter"/>
                <a:ea typeface="Inter"/>
                <a:cs typeface="Inter"/>
                <a:sym typeface="Inter"/>
              </a:rPr>
              <a:t>, and </a:t>
            </a:r>
            <a:r>
              <a:rPr b="0" lang="en" sz="1300">
                <a:solidFill>
                  <a:srgbClr val="0F172A"/>
                </a:solidFill>
                <a:highlight>
                  <a:srgbClr val="F1F5F9"/>
                </a:highlight>
                <a:latin typeface="Fira Code SemiBold"/>
                <a:ea typeface="Fira Code SemiBold"/>
                <a:cs typeface="Fira Code SemiBold"/>
                <a:sym typeface="Fira Code SemiBold"/>
              </a:rPr>
              <a:t>&lt;=</a:t>
            </a:r>
            <a:r>
              <a:rPr b="0" lang="en" sz="1300">
                <a:solidFill>
                  <a:srgbClr val="475569"/>
                </a:solidFill>
                <a:latin typeface="Inter"/>
                <a:ea typeface="Inter"/>
                <a:cs typeface="Inter"/>
                <a:sym typeface="Inter"/>
              </a:rPr>
              <a:t>.</a:t>
            </a:r>
            <a:endParaRPr b="0" sz="1300">
              <a:solidFill>
                <a:srgbClr val="475569"/>
              </a:solidFill>
              <a:latin typeface="Inter"/>
              <a:ea typeface="Inter"/>
              <a:cs typeface="Inter"/>
              <a:sym typeface="Inter"/>
            </a:endParaRPr>
          </a:p>
        </p:txBody>
      </p:sp>
      <p:grpSp>
        <p:nvGrpSpPr>
          <p:cNvPr id="133" name="Google Shape;133;p16"/>
          <p:cNvGrpSpPr/>
          <p:nvPr/>
        </p:nvGrpSpPr>
        <p:grpSpPr>
          <a:xfrm>
            <a:off x="381000" y="2286000"/>
            <a:ext cx="8382000" cy="2381400"/>
            <a:chOff x="0" y="0"/>
            <a:chExt cx="8382000" cy="2381400"/>
          </a:xfrm>
        </p:grpSpPr>
        <p:grpSp>
          <p:nvGrpSpPr>
            <p:cNvPr id="134" name="Google Shape;134;p16"/>
            <p:cNvGrpSpPr/>
            <p:nvPr/>
          </p:nvGrpSpPr>
          <p:grpSpPr>
            <a:xfrm>
              <a:off x="0" y="0"/>
              <a:ext cx="4000500" cy="2381400"/>
              <a:chOff x="0" y="0"/>
              <a:chExt cx="4000500" cy="2381400"/>
            </a:xfrm>
          </p:grpSpPr>
          <p:sp>
            <p:nvSpPr>
              <p:cNvPr id="135" name="Google Shape;135;p16"/>
              <p:cNvSpPr/>
              <p:nvPr/>
            </p:nvSpPr>
            <p:spPr>
              <a:xfrm>
                <a:off x="0" y="0"/>
                <a:ext cx="4000500" cy="2381400"/>
              </a:xfrm>
              <a:prstGeom prst="roundRect">
                <a:avLst>
                  <a:gd fmla="val 4800" name="adj"/>
                </a:avLst>
              </a:prstGeom>
              <a:solidFill>
                <a:srgbClr val="FFFFFF"/>
              </a:solidFill>
              <a:ln cap="flat" cmpd="sng" w="1905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6"/>
              <p:cNvSpPr/>
              <p:nvPr/>
            </p:nvSpPr>
            <p:spPr>
              <a:xfrm>
                <a:off x="0" y="0"/>
                <a:ext cx="4000500" cy="114300"/>
              </a:xfrm>
              <a:custGeom>
                <a:rect b="b" l="l" r="r" t="t"/>
                <a:pathLst>
                  <a:path extrusionOk="0" h="120000" w="120000">
                    <a:moveTo>
                      <a:pt x="0" y="120000"/>
                    </a:moveTo>
                    <a:cubicBezTo>
                      <a:pt x="0" y="88174"/>
                      <a:pt x="361" y="57652"/>
                      <a:pt x="1004" y="35147"/>
                    </a:cubicBezTo>
                    <a:cubicBezTo>
                      <a:pt x="1647" y="12643"/>
                      <a:pt x="2519" y="0"/>
                      <a:pt x="3429" y="0"/>
                    </a:cubicBezTo>
                    <a:lnTo>
                      <a:pt x="116571" y="0"/>
                    </a:lnTo>
                    <a:cubicBezTo>
                      <a:pt x="117480" y="-4"/>
                      <a:pt x="118353" y="12637"/>
                      <a:pt x="118996" y="35142"/>
                    </a:cubicBezTo>
                    <a:cubicBezTo>
                      <a:pt x="119639" y="57647"/>
                      <a:pt x="120000" y="88171"/>
                      <a:pt x="120000" y="120000"/>
                    </a:cubicBezTo>
                    <a:lnTo>
                      <a:pt x="120000" y="80000"/>
                    </a:lnTo>
                    <a:lnTo>
                      <a:pt x="0" y="80000"/>
                    </a:lnTo>
                    <a:close/>
                  </a:path>
                </a:pathLst>
              </a:cu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 name="Google Shape;137;p16"/>
              <p:cNvSpPr/>
              <p:nvPr/>
            </p:nvSpPr>
            <p:spPr>
              <a:xfrm>
                <a:off x="266700" y="266700"/>
                <a:ext cx="381000" cy="381000"/>
              </a:xfrm>
              <a:prstGeom prst="ellipse">
                <a:avLst/>
              </a:prstGeom>
              <a:solidFill>
                <a:srgbClr val="ECFDF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6"/>
              <p:cNvSpPr/>
              <p:nvPr/>
            </p:nvSpPr>
            <p:spPr>
              <a:xfrm>
                <a:off x="381000" y="400050"/>
                <a:ext cx="152400" cy="114300"/>
              </a:xfrm>
              <a:custGeom>
                <a:rect b="b" l="l" r="r" t="t"/>
                <a:pathLst>
                  <a:path extrusionOk="0" h="120000" w="120000">
                    <a:moveTo>
                      <a:pt x="0" y="60000"/>
                    </a:moveTo>
                    <a:lnTo>
                      <a:pt x="45000" y="120000"/>
                    </a:lnTo>
                    <a:lnTo>
                      <a:pt x="120000" y="0"/>
                    </a:lnTo>
                  </a:path>
                </a:pathLst>
              </a:custGeom>
              <a:solidFill>
                <a:srgbClr val="000000">
                  <a:alpha val="0"/>
                </a:srgbClr>
              </a:solidFill>
              <a:ln cap="rnd" cmpd="sng" w="2857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6"/>
              <p:cNvSpPr txBox="1"/>
              <p:nvPr/>
            </p:nvSpPr>
            <p:spPr>
              <a:xfrm>
                <a:off x="762000" y="304800"/>
                <a:ext cx="30099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b="0" lang="en" sz="1200">
                    <a:solidFill>
                      <a:srgbClr val="10B981"/>
                    </a:solidFill>
                    <a:latin typeface="Inter SemiBold"/>
                    <a:ea typeface="Inter SemiBold"/>
                    <a:cs typeface="Inter SemiBold"/>
                    <a:sym typeface="Inter SemiBold"/>
                  </a:rPr>
                  <a:t>EVALUATION RESULT: TRUE</a:t>
                </a:r>
                <a:endParaRPr b="0" sz="1200">
                  <a:solidFill>
                    <a:srgbClr val="10B981"/>
                  </a:solidFill>
                  <a:latin typeface="Inter SemiBold"/>
                  <a:ea typeface="Inter SemiBold"/>
                  <a:cs typeface="Inter SemiBold"/>
                  <a:sym typeface="Inter SemiBold"/>
                </a:endParaRPr>
              </a:p>
            </p:txBody>
          </p:sp>
          <p:sp>
            <p:nvSpPr>
              <p:cNvPr id="140" name="Google Shape;140;p16"/>
              <p:cNvSpPr txBox="1"/>
              <p:nvPr/>
            </p:nvSpPr>
            <p:spPr>
              <a:xfrm>
                <a:off x="228600" y="762000"/>
                <a:ext cx="35433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E293B"/>
                    </a:solidFill>
                    <a:latin typeface="Inter"/>
                    <a:ea typeface="Inter"/>
                    <a:cs typeface="Inter"/>
                    <a:sym typeface="Inter"/>
                  </a:rPr>
                  <a:t>Boolean Decision-Making</a:t>
                </a:r>
                <a:endParaRPr b="1" sz="1400">
                  <a:solidFill>
                    <a:srgbClr val="1E293B"/>
                  </a:solidFill>
                  <a:latin typeface="Inter"/>
                  <a:ea typeface="Inter"/>
                  <a:cs typeface="Inter"/>
                  <a:sym typeface="Inter"/>
                </a:endParaRPr>
              </a:p>
              <a:p>
                <a:pPr indent="0" lvl="0" marL="0" rtl="0" algn="l">
                  <a:spcBef>
                    <a:spcPts val="600"/>
                  </a:spcBef>
                  <a:spcAft>
                    <a:spcPts val="0"/>
                  </a:spcAft>
                  <a:buNone/>
                </a:pPr>
                <a:r>
                  <a:rPr b="0" lang="en" sz="1300">
                    <a:solidFill>
                      <a:srgbClr val="475569"/>
                    </a:solidFill>
                    <a:latin typeface="Inter"/>
                    <a:ea typeface="Inter"/>
                    <a:cs typeface="Inter"/>
                    <a:sym typeface="Inter"/>
                  </a:rPr>
                  <a:t>The result of any comparison operation is strictly a Boolean value: either </a:t>
                </a:r>
                <a:r>
                  <a:rPr b="1" lang="en" sz="1300">
                    <a:solidFill>
                      <a:srgbClr val="475569"/>
                    </a:solidFill>
                    <a:latin typeface="Inter"/>
                    <a:ea typeface="Inter"/>
                    <a:cs typeface="Inter"/>
                    <a:sym typeface="Inter"/>
                  </a:rPr>
                  <a:t>True</a:t>
                </a:r>
                <a:r>
                  <a:rPr b="0" lang="en" sz="1300">
                    <a:solidFill>
                      <a:srgbClr val="475569"/>
                    </a:solidFill>
                    <a:latin typeface="Inter"/>
                    <a:ea typeface="Inter"/>
                    <a:cs typeface="Inter"/>
                    <a:sym typeface="Inter"/>
                  </a:rPr>
                  <a:t> or </a:t>
                </a:r>
                <a:r>
                  <a:rPr b="1" lang="en" sz="1300">
                    <a:solidFill>
                      <a:srgbClr val="475569"/>
                    </a:solidFill>
                    <a:latin typeface="Inter"/>
                    <a:ea typeface="Inter"/>
                    <a:cs typeface="Inter"/>
                    <a:sym typeface="Inter"/>
                  </a:rPr>
                  <a:t>False</a:t>
                </a:r>
                <a:r>
                  <a:rPr b="0" lang="en" sz="1300">
                    <a:solidFill>
                      <a:srgbClr val="475569"/>
                    </a:solidFill>
                    <a:latin typeface="Inter"/>
                    <a:ea typeface="Inter"/>
                    <a:cs typeface="Inter"/>
                    <a:sym typeface="Inter"/>
                  </a:rPr>
                  <a:t>.</a:t>
                </a:r>
                <a:endParaRPr b="0" sz="1300">
                  <a:solidFill>
                    <a:srgbClr val="475569"/>
                  </a:solidFill>
                  <a:latin typeface="Inter"/>
                  <a:ea typeface="Inter"/>
                  <a:cs typeface="Inter"/>
                  <a:sym typeface="Inter"/>
                </a:endParaRPr>
              </a:p>
              <a:p>
                <a:pPr indent="0" lvl="0" marL="0" rtl="0" algn="l">
                  <a:spcBef>
                    <a:spcPts val="900"/>
                  </a:spcBef>
                  <a:spcAft>
                    <a:spcPts val="0"/>
                  </a:spcAft>
                  <a:buNone/>
                </a:pPr>
                <a:r>
                  <a:rPr b="0" lang="en" sz="1300">
                    <a:solidFill>
                      <a:srgbClr val="475569"/>
                    </a:solidFill>
                    <a:latin typeface="Inter"/>
                    <a:ea typeface="Inter"/>
                    <a:cs typeface="Inter"/>
                    <a:sym typeface="Inter"/>
                  </a:rPr>
                  <a:t>When a condition evaluates to </a:t>
                </a:r>
                <a:r>
                  <a:rPr b="1" lang="en" sz="1300">
                    <a:solidFill>
                      <a:srgbClr val="475569"/>
                    </a:solidFill>
                    <a:latin typeface="Inter"/>
                    <a:ea typeface="Inter"/>
                    <a:cs typeface="Inter"/>
                    <a:sym typeface="Inter"/>
                  </a:rPr>
                  <a:t>True</a:t>
                </a:r>
                <a:r>
                  <a:rPr b="0" lang="en" sz="1300">
                    <a:solidFill>
                      <a:srgbClr val="475569"/>
                    </a:solidFill>
                    <a:latin typeface="Inter"/>
                    <a:ea typeface="Inter"/>
                    <a:cs typeface="Inter"/>
                    <a:sym typeface="Inter"/>
                  </a:rPr>
                  <a:t>, it allows programs to execute designated conditional execution paths.</a:t>
                </a:r>
                <a:endParaRPr b="0" sz="1300">
                  <a:solidFill>
                    <a:srgbClr val="475569"/>
                  </a:solidFill>
                  <a:latin typeface="Inter"/>
                  <a:ea typeface="Inter"/>
                  <a:cs typeface="Inter"/>
                  <a:sym typeface="Inter"/>
                </a:endParaRPr>
              </a:p>
            </p:txBody>
          </p:sp>
        </p:grpSp>
        <p:grpSp>
          <p:nvGrpSpPr>
            <p:cNvPr id="141" name="Google Shape;141;p16"/>
            <p:cNvGrpSpPr/>
            <p:nvPr/>
          </p:nvGrpSpPr>
          <p:grpSpPr>
            <a:xfrm>
              <a:off x="4381500" y="0"/>
              <a:ext cx="4000500" cy="2381400"/>
              <a:chOff x="0" y="0"/>
              <a:chExt cx="4000500" cy="2381400"/>
            </a:xfrm>
          </p:grpSpPr>
          <p:sp>
            <p:nvSpPr>
              <p:cNvPr id="142" name="Google Shape;142;p16"/>
              <p:cNvSpPr/>
              <p:nvPr/>
            </p:nvSpPr>
            <p:spPr>
              <a:xfrm>
                <a:off x="0" y="0"/>
                <a:ext cx="4000500" cy="2381400"/>
              </a:xfrm>
              <a:prstGeom prst="roundRect">
                <a:avLst>
                  <a:gd fmla="val 4800" name="adj"/>
                </a:avLst>
              </a:prstGeom>
              <a:solidFill>
                <a:srgbClr val="FFFFFF"/>
              </a:solidFill>
              <a:ln cap="flat"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6"/>
              <p:cNvSpPr/>
              <p:nvPr/>
            </p:nvSpPr>
            <p:spPr>
              <a:xfrm>
                <a:off x="0" y="0"/>
                <a:ext cx="4000500" cy="114300"/>
              </a:xfrm>
              <a:custGeom>
                <a:rect b="b" l="l" r="r" t="t"/>
                <a:pathLst>
                  <a:path extrusionOk="0" h="120000" w="120000">
                    <a:moveTo>
                      <a:pt x="0" y="120000"/>
                    </a:moveTo>
                    <a:cubicBezTo>
                      <a:pt x="0" y="88174"/>
                      <a:pt x="361" y="57652"/>
                      <a:pt x="1004" y="35147"/>
                    </a:cubicBezTo>
                    <a:cubicBezTo>
                      <a:pt x="1647" y="12643"/>
                      <a:pt x="2519" y="0"/>
                      <a:pt x="3429" y="0"/>
                    </a:cubicBezTo>
                    <a:lnTo>
                      <a:pt x="116571" y="0"/>
                    </a:lnTo>
                    <a:cubicBezTo>
                      <a:pt x="117480" y="-4"/>
                      <a:pt x="118353" y="12637"/>
                      <a:pt x="118996" y="35142"/>
                    </a:cubicBezTo>
                    <a:cubicBezTo>
                      <a:pt x="119639" y="57647"/>
                      <a:pt x="120000" y="88171"/>
                      <a:pt x="120000" y="120000"/>
                    </a:cubicBezTo>
                    <a:lnTo>
                      <a:pt x="120000" y="80000"/>
                    </a:lnTo>
                    <a:lnTo>
                      <a:pt x="0" y="80000"/>
                    </a:lnTo>
                    <a:close/>
                  </a:path>
                </a:pathLst>
              </a:cu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6"/>
              <p:cNvSpPr/>
              <p:nvPr/>
            </p:nvSpPr>
            <p:spPr>
              <a:xfrm>
                <a:off x="266700" y="266700"/>
                <a:ext cx="381000" cy="381000"/>
              </a:xfrm>
              <a:prstGeom prst="ellipse">
                <a:avLst/>
              </a:prstGeom>
              <a:solidFill>
                <a:srgbClr val="FFFB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6"/>
              <p:cNvSpPr/>
              <p:nvPr/>
            </p:nvSpPr>
            <p:spPr>
              <a:xfrm>
                <a:off x="361950" y="342900"/>
                <a:ext cx="152400" cy="171600"/>
              </a:xfrm>
              <a:custGeom>
                <a:rect b="b" l="l" r="r" t="t"/>
                <a:pathLst>
                  <a:path extrusionOk="0" h="120000" w="120000">
                    <a:moveTo>
                      <a:pt x="0" y="40000"/>
                    </a:moveTo>
                    <a:lnTo>
                      <a:pt x="75000" y="40000"/>
                    </a:lnTo>
                    <a:lnTo>
                      <a:pt x="120000" y="120000"/>
                    </a:lnTo>
                    <a:moveTo>
                      <a:pt x="75000" y="40000"/>
                    </a:moveTo>
                    <a:lnTo>
                      <a:pt x="120000" y="0"/>
                    </a:lnTo>
                  </a:path>
                </a:pathLst>
              </a:custGeom>
              <a:solidFill>
                <a:srgbClr val="000000">
                  <a:alpha val="0"/>
                </a:srgbClr>
              </a:solidFill>
              <a:ln cap="rnd" cmpd="sng" w="28575">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6"/>
              <p:cNvSpPr txBox="1"/>
              <p:nvPr/>
            </p:nvSpPr>
            <p:spPr>
              <a:xfrm>
                <a:off x="762000" y="304800"/>
                <a:ext cx="30099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b="0" lang="en" sz="1200">
                    <a:solidFill>
                      <a:srgbClr val="D97706"/>
                    </a:solidFill>
                    <a:latin typeface="Inter SemiBold"/>
                    <a:ea typeface="Inter SemiBold"/>
                    <a:cs typeface="Inter SemiBold"/>
                    <a:sym typeface="Inter SemiBold"/>
                  </a:rPr>
                  <a:t>CRITICAL FOUNDATION</a:t>
                </a:r>
                <a:endParaRPr b="0" sz="1200">
                  <a:solidFill>
                    <a:srgbClr val="D97706"/>
                  </a:solidFill>
                  <a:latin typeface="Inter SemiBold"/>
                  <a:ea typeface="Inter SemiBold"/>
                  <a:cs typeface="Inter SemiBold"/>
                  <a:sym typeface="Inter SemiBold"/>
                </a:endParaRPr>
              </a:p>
            </p:txBody>
          </p:sp>
          <p:sp>
            <p:nvSpPr>
              <p:cNvPr id="147" name="Google Shape;147;p16"/>
              <p:cNvSpPr txBox="1"/>
              <p:nvPr/>
            </p:nvSpPr>
            <p:spPr>
              <a:xfrm>
                <a:off x="228600" y="762000"/>
                <a:ext cx="35433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90">
                    <a:solidFill>
                      <a:srgbClr val="1E293B"/>
                    </a:solidFill>
                    <a:latin typeface="Inter"/>
                    <a:ea typeface="Inter"/>
                    <a:cs typeface="Inter"/>
                    <a:sym typeface="Inter"/>
                  </a:rPr>
                  <a:t>Control Flow &amp; Data Relations</a:t>
                </a:r>
                <a:endParaRPr b="1" sz="1190">
                  <a:solidFill>
                    <a:srgbClr val="1E293B"/>
                  </a:solidFill>
                  <a:latin typeface="Inter"/>
                  <a:ea typeface="Inter"/>
                  <a:cs typeface="Inter"/>
                  <a:sym typeface="Inter"/>
                </a:endParaRPr>
              </a:p>
              <a:p>
                <a:pPr indent="0" lvl="0" marL="0" rtl="0" algn="l">
                  <a:spcBef>
                    <a:spcPts val="600"/>
                  </a:spcBef>
                  <a:spcAft>
                    <a:spcPts val="0"/>
                  </a:spcAft>
                  <a:buNone/>
                </a:pPr>
                <a:r>
                  <a:rPr b="0" lang="en" sz="1105">
                    <a:solidFill>
                      <a:srgbClr val="475569"/>
                    </a:solidFill>
                    <a:latin typeface="Inter"/>
                    <a:ea typeface="Inter"/>
                    <a:cs typeface="Inter"/>
                    <a:sym typeface="Inter"/>
                  </a:rPr>
                  <a:t>These operators form the critical foundation for decision-making structures in software architecture.</a:t>
                </a:r>
                <a:endParaRPr b="0" sz="1105">
                  <a:solidFill>
                    <a:srgbClr val="475569"/>
                  </a:solidFill>
                  <a:latin typeface="Inter"/>
                  <a:ea typeface="Inter"/>
                  <a:cs typeface="Inter"/>
                  <a:sym typeface="Inter"/>
                </a:endParaRPr>
              </a:p>
              <a:p>
                <a:pPr indent="0" lvl="0" marL="0" rtl="0" algn="l">
                  <a:spcBef>
                    <a:spcPts val="900"/>
                  </a:spcBef>
                  <a:spcAft>
                    <a:spcPts val="0"/>
                  </a:spcAft>
                  <a:buNone/>
                </a:pPr>
                <a:r>
                  <a:rPr b="0" lang="en" sz="1105">
                    <a:solidFill>
                      <a:srgbClr val="475569"/>
                    </a:solidFill>
                    <a:latin typeface="Inter"/>
                    <a:ea typeface="Inter"/>
                    <a:cs typeface="Inter"/>
                    <a:sym typeface="Inter"/>
                  </a:rPr>
                  <a:t>They enable dynamic branching, allowing programs to execute completely different paths based on underlying data relationships.</a:t>
                </a:r>
                <a:endParaRPr b="0" sz="1105">
                  <a:solidFill>
                    <a:srgbClr val="475569"/>
                  </a:solidFill>
                  <a:latin typeface="Inter"/>
                  <a:ea typeface="Inter"/>
                  <a:cs typeface="Inter"/>
                  <a:sym typeface="Inter"/>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grpSp>
        <p:nvGrpSpPr>
          <p:cNvPr id="152" name="Google Shape;152;p17"/>
          <p:cNvGrpSpPr/>
          <p:nvPr/>
        </p:nvGrpSpPr>
        <p:grpSpPr>
          <a:xfrm>
            <a:off x="0" y="0"/>
            <a:ext cx="9144000" cy="5143500"/>
            <a:chOff x="0" y="0"/>
            <a:chExt cx="9144000" cy="5143500"/>
          </a:xfrm>
        </p:grpSpPr>
        <p:sp>
          <p:nvSpPr>
            <p:cNvPr id="153" name="Google Shape;153;p17"/>
            <p:cNvSpPr/>
            <p:nvPr/>
          </p:nvSpPr>
          <p:spPr>
            <a:xfrm>
              <a:off x="0" y="0"/>
              <a:ext cx="9144000" cy="5143500"/>
            </a:xfrm>
            <a:prstGeom prst="rect">
              <a:avLst/>
            </a:prstGeom>
            <a:solidFill>
              <a:srgbClr val="FAFA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 name="Google Shape;154;p17"/>
            <p:cNvSpPr/>
            <p:nvPr/>
          </p:nvSpPr>
          <p:spPr>
            <a:xfrm>
              <a:off x="0" y="0"/>
              <a:ext cx="9144000" cy="514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55" name="Google Shape;155;p17"/>
          <p:cNvGrpSpPr/>
          <p:nvPr/>
        </p:nvGrpSpPr>
        <p:grpSpPr>
          <a:xfrm>
            <a:off x="381000" y="190500"/>
            <a:ext cx="8382000" cy="333375"/>
            <a:chOff x="381000" y="190500"/>
            <a:chExt cx="8382000" cy="333375"/>
          </a:xfrm>
        </p:grpSpPr>
        <p:sp>
          <p:nvSpPr>
            <p:cNvPr id="156" name="Google Shape;156;p17"/>
            <p:cNvSpPr/>
            <p:nvPr/>
          </p:nvSpPr>
          <p:spPr>
            <a:xfrm>
              <a:off x="381000" y="190500"/>
              <a:ext cx="76200" cy="2286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 name="Google Shape;157;p17"/>
            <p:cNvSpPr txBox="1"/>
            <p:nvPr/>
          </p:nvSpPr>
          <p:spPr>
            <a:xfrm>
              <a:off x="571500" y="209550"/>
              <a:ext cx="3810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450"/>
                </a:spcAft>
                <a:buNone/>
              </a:pPr>
              <a:r>
                <a:rPr lang="en" sz="1100">
                  <a:solidFill>
                    <a:srgbClr val="2563EB"/>
                  </a:solidFill>
                  <a:latin typeface="Inter SemiBold"/>
                  <a:ea typeface="Inter SemiBold"/>
                  <a:cs typeface="Inter SemiBold"/>
                  <a:sym typeface="Inter SemiBold"/>
                </a:rPr>
                <a:t>LEARNWITHVARSHHH</a:t>
              </a:r>
              <a:r>
                <a:rPr b="0" lang="en" sz="1100">
                  <a:solidFill>
                    <a:srgbClr val="2563EB"/>
                  </a:solidFill>
                  <a:latin typeface="Inter SemiBold"/>
                  <a:ea typeface="Inter SemiBold"/>
                  <a:cs typeface="Inter SemiBold"/>
                  <a:sym typeface="Inter SemiBold"/>
                </a:rPr>
                <a:t> // PYTHON-SERIES</a:t>
              </a:r>
              <a:endParaRPr b="0" sz="1100">
                <a:solidFill>
                  <a:srgbClr val="2563EB"/>
                </a:solidFill>
                <a:latin typeface="Inter SemiBold"/>
                <a:ea typeface="Inter SemiBold"/>
                <a:cs typeface="Inter SemiBold"/>
                <a:sym typeface="Inter SemiBold"/>
              </a:endParaRPr>
            </a:p>
          </p:txBody>
        </p:sp>
        <p:cxnSp>
          <p:nvCxnSpPr>
            <p:cNvPr id="158" name="Google Shape;158;p17"/>
            <p:cNvCxnSpPr/>
            <p:nvPr/>
          </p:nvCxnSpPr>
          <p:spPr>
            <a:xfrm>
              <a:off x="381000" y="523875"/>
              <a:ext cx="8382000" cy="0"/>
            </a:xfrm>
            <a:prstGeom prst="straightConnector1">
              <a:avLst/>
            </a:prstGeom>
            <a:solidFill>
              <a:srgbClr val="FFFFFF"/>
            </a:solidFill>
            <a:ln cap="flat" cmpd="sng" w="9525">
              <a:solidFill>
                <a:srgbClr val="E2E8F0"/>
              </a:solidFill>
              <a:prstDash val="solid"/>
              <a:round/>
              <a:headEnd len="sm" w="sm" type="none"/>
              <a:tailEnd len="sm" w="sm" type="none"/>
            </a:ln>
          </p:spPr>
        </p:cxnSp>
      </p:grpSp>
      <p:sp>
        <p:nvSpPr>
          <p:cNvPr id="159" name="Google Shape;159;p17"/>
          <p:cNvSpPr txBox="1"/>
          <p:nvPr/>
        </p:nvSpPr>
        <p:spPr>
          <a:xfrm>
            <a:off x="381000" y="647700"/>
            <a:ext cx="8382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rgbClr val="1E293B"/>
                </a:solidFill>
                <a:latin typeface="Outfit"/>
                <a:ea typeface="Outfit"/>
                <a:cs typeface="Outfit"/>
                <a:sym typeface="Outfit"/>
              </a:rPr>
              <a:t>Logical Operators: Combining Truth Values</a:t>
            </a:r>
            <a:endParaRPr b="1" sz="2800">
              <a:solidFill>
                <a:srgbClr val="1E293B"/>
              </a:solidFill>
              <a:latin typeface="Outfit"/>
              <a:ea typeface="Outfit"/>
              <a:cs typeface="Outfit"/>
              <a:sym typeface="Outfit"/>
            </a:endParaRPr>
          </a:p>
          <a:p>
            <a:pPr indent="0" lvl="0" marL="0" rtl="0" algn="l">
              <a:spcBef>
                <a:spcPts val="450"/>
              </a:spcBef>
              <a:spcAft>
                <a:spcPts val="0"/>
              </a:spcAft>
              <a:buNone/>
            </a:pPr>
            <a:r>
              <a:rPr b="0" lang="en" sz="1400">
                <a:solidFill>
                  <a:srgbClr val="475569"/>
                </a:solidFill>
                <a:latin typeface="Inter"/>
                <a:ea typeface="Inter"/>
                <a:cs typeface="Inter"/>
                <a:sym typeface="Inter"/>
              </a:rPr>
              <a:t>Logical operators allow programmers to combine multiple conditional statements.</a:t>
            </a:r>
            <a:endParaRPr b="0" sz="1400">
              <a:solidFill>
                <a:srgbClr val="475569"/>
              </a:solidFill>
              <a:latin typeface="Inter"/>
              <a:ea typeface="Inter"/>
              <a:cs typeface="Inter"/>
              <a:sym typeface="Inter"/>
            </a:endParaRPr>
          </a:p>
        </p:txBody>
      </p:sp>
      <p:grpSp>
        <p:nvGrpSpPr>
          <p:cNvPr id="160" name="Google Shape;160;p17"/>
          <p:cNvGrpSpPr/>
          <p:nvPr/>
        </p:nvGrpSpPr>
        <p:grpSpPr>
          <a:xfrm>
            <a:off x="381000" y="1571625"/>
            <a:ext cx="8382000" cy="1714500"/>
            <a:chOff x="0" y="0"/>
            <a:chExt cx="8382000" cy="1714500"/>
          </a:xfrm>
        </p:grpSpPr>
        <p:grpSp>
          <p:nvGrpSpPr>
            <p:cNvPr id="161" name="Google Shape;161;p17"/>
            <p:cNvGrpSpPr/>
            <p:nvPr/>
          </p:nvGrpSpPr>
          <p:grpSpPr>
            <a:xfrm>
              <a:off x="0" y="0"/>
              <a:ext cx="2590800" cy="1714500"/>
              <a:chOff x="0" y="0"/>
              <a:chExt cx="2590800" cy="1714500"/>
            </a:xfrm>
          </p:grpSpPr>
          <p:sp>
            <p:nvSpPr>
              <p:cNvPr id="162" name="Google Shape;162;p17"/>
              <p:cNvSpPr/>
              <p:nvPr/>
            </p:nvSpPr>
            <p:spPr>
              <a:xfrm>
                <a:off x="0" y="0"/>
                <a:ext cx="25908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7"/>
              <p:cNvSpPr/>
              <p:nvPr/>
            </p:nvSpPr>
            <p:spPr>
              <a:xfrm>
                <a:off x="190500" y="190500"/>
                <a:ext cx="457200" cy="457200"/>
              </a:xfrm>
              <a:prstGeom prst="roundRect">
                <a:avLst>
                  <a:gd fmla="val 20833"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7"/>
              <p:cNvSpPr/>
              <p:nvPr/>
            </p:nvSpPr>
            <p:spPr>
              <a:xfrm>
                <a:off x="333375" y="361950"/>
                <a:ext cx="142800" cy="114300"/>
              </a:xfrm>
              <a:custGeom>
                <a:rect b="b" l="l" r="r" t="t"/>
                <a:pathLst>
                  <a:path extrusionOk="0" h="120000" w="120000">
                    <a:moveTo>
                      <a:pt x="24000" y="0"/>
                    </a:moveTo>
                    <a:lnTo>
                      <a:pt x="120000" y="120000"/>
                    </a:lnTo>
                    <a:moveTo>
                      <a:pt x="120000" y="0"/>
                    </a:moveTo>
                    <a:lnTo>
                      <a:pt x="24000" y="120000"/>
                    </a:lnTo>
                    <a:moveTo>
                      <a:pt x="0" y="60000"/>
                    </a:moveTo>
                    <a:cubicBezTo>
                      <a:pt x="0" y="0"/>
                      <a:pt x="112000" y="0"/>
                      <a:pt x="112000" y="60000"/>
                    </a:cubicBezTo>
                    <a:cubicBezTo>
                      <a:pt x="112000" y="120000"/>
                      <a:pt x="0" y="120000"/>
                      <a:pt x="0" y="60000"/>
                    </a:cubicBezTo>
                  </a:path>
                </a:pathLst>
              </a:custGeom>
              <a:solidFill>
                <a:srgbClr val="000000">
                  <a:alpha val="0"/>
                </a:srgbClr>
              </a:solidFill>
              <a:ln cap="rnd" cmpd="sng" w="28575">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7"/>
              <p:cNvSpPr txBox="1"/>
              <p:nvPr/>
            </p:nvSpPr>
            <p:spPr>
              <a:xfrm>
                <a:off x="190500" y="762000"/>
                <a:ext cx="22098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3">
                    <a:solidFill>
                      <a:srgbClr val="2563EB"/>
                    </a:solidFill>
                    <a:latin typeface="Inter SemiBold"/>
                    <a:ea typeface="Inter SemiBold"/>
                    <a:cs typeface="Inter SemiBold"/>
                    <a:sym typeface="Inter SemiBold"/>
                  </a:rPr>
                  <a:t>'and' Operator</a:t>
                </a:r>
                <a:endParaRPr b="0" sz="853">
                  <a:solidFill>
                    <a:srgbClr val="2563EB"/>
                  </a:solidFill>
                  <a:latin typeface="Inter SemiBold"/>
                  <a:ea typeface="Inter SemiBold"/>
                  <a:cs typeface="Inter SemiBold"/>
                  <a:sym typeface="Inter SemiBold"/>
                </a:endParaRPr>
              </a:p>
              <a:p>
                <a:pPr indent="0" lvl="0" marL="0" rtl="0" algn="l">
                  <a:spcBef>
                    <a:spcPts val="450"/>
                  </a:spcBef>
                  <a:spcAft>
                    <a:spcPts val="0"/>
                  </a:spcAft>
                  <a:buNone/>
                </a:pPr>
                <a:r>
                  <a:rPr b="1" lang="en" sz="1163">
                    <a:solidFill>
                      <a:srgbClr val="1E293B"/>
                    </a:solidFill>
                    <a:latin typeface="Inter"/>
                    <a:ea typeface="Inter"/>
                    <a:cs typeface="Inter"/>
                    <a:sym typeface="Inter"/>
                  </a:rPr>
                  <a:t>All Conditions True</a:t>
                </a:r>
                <a:endParaRPr b="1" sz="1163">
                  <a:solidFill>
                    <a:srgbClr val="1E293B"/>
                  </a:solidFill>
                  <a:latin typeface="Inter"/>
                  <a:ea typeface="Inter"/>
                  <a:cs typeface="Inter"/>
                  <a:sym typeface="Inter"/>
                </a:endParaRPr>
              </a:p>
              <a:p>
                <a:pPr indent="0" lvl="0" marL="0" rtl="0" algn="l">
                  <a:spcBef>
                    <a:spcPts val="600"/>
                  </a:spcBef>
                  <a:spcAft>
                    <a:spcPts val="0"/>
                  </a:spcAft>
                  <a:buNone/>
                </a:pPr>
                <a:r>
                  <a:rPr b="0" lang="en" sz="1085">
                    <a:solidFill>
                      <a:srgbClr val="475569"/>
                    </a:solidFill>
                    <a:latin typeface="Inter"/>
                    <a:ea typeface="Inter"/>
                    <a:cs typeface="Inter"/>
                    <a:sym typeface="Inter"/>
                  </a:rPr>
                  <a:t>Requires all conditions to be true.</a:t>
                </a:r>
                <a:endParaRPr b="0" sz="1085">
                  <a:solidFill>
                    <a:srgbClr val="475569"/>
                  </a:solidFill>
                  <a:latin typeface="Inter"/>
                  <a:ea typeface="Inter"/>
                  <a:cs typeface="Inter"/>
                  <a:sym typeface="Inter"/>
                </a:endParaRPr>
              </a:p>
            </p:txBody>
          </p:sp>
        </p:grpSp>
        <p:grpSp>
          <p:nvGrpSpPr>
            <p:cNvPr id="166" name="Google Shape;166;p17"/>
            <p:cNvGrpSpPr/>
            <p:nvPr/>
          </p:nvGrpSpPr>
          <p:grpSpPr>
            <a:xfrm>
              <a:off x="2895600" y="0"/>
              <a:ext cx="2590800" cy="1714500"/>
              <a:chOff x="0" y="0"/>
              <a:chExt cx="2590800" cy="1714500"/>
            </a:xfrm>
          </p:grpSpPr>
          <p:sp>
            <p:nvSpPr>
              <p:cNvPr id="167" name="Google Shape;167;p17"/>
              <p:cNvSpPr/>
              <p:nvPr/>
            </p:nvSpPr>
            <p:spPr>
              <a:xfrm>
                <a:off x="0" y="0"/>
                <a:ext cx="25908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7"/>
              <p:cNvSpPr/>
              <p:nvPr/>
            </p:nvSpPr>
            <p:spPr>
              <a:xfrm>
                <a:off x="190500" y="190500"/>
                <a:ext cx="457200" cy="457200"/>
              </a:xfrm>
              <a:prstGeom prst="roundRect">
                <a:avLst>
                  <a:gd fmla="val 20833" name="adj"/>
                </a:avLst>
              </a:prstGeom>
              <a:solidFill>
                <a:srgbClr val="ECFDF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7"/>
              <p:cNvSpPr/>
              <p:nvPr/>
            </p:nvSpPr>
            <p:spPr>
              <a:xfrm>
                <a:off x="342900" y="342900"/>
                <a:ext cx="152400" cy="152400"/>
              </a:xfrm>
              <a:custGeom>
                <a:rect b="b" l="l" r="r" t="t"/>
                <a:pathLst>
                  <a:path extrusionOk="0" h="120000" w="120000">
                    <a:moveTo>
                      <a:pt x="0" y="0"/>
                    </a:moveTo>
                    <a:lnTo>
                      <a:pt x="0" y="120000"/>
                    </a:lnTo>
                    <a:moveTo>
                      <a:pt x="120000" y="0"/>
                    </a:moveTo>
                    <a:lnTo>
                      <a:pt x="120000" y="120000"/>
                    </a:lnTo>
                    <a:moveTo>
                      <a:pt x="0" y="60000"/>
                    </a:moveTo>
                    <a:lnTo>
                      <a:pt x="120000" y="60000"/>
                    </a:lnTo>
                  </a:path>
                </a:pathLst>
              </a:custGeom>
              <a:solidFill>
                <a:srgbClr val="000000">
                  <a:alpha val="0"/>
                </a:srgbClr>
              </a:solidFill>
              <a:ln cap="rnd" cmpd="sng" w="2857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7"/>
              <p:cNvSpPr txBox="1"/>
              <p:nvPr/>
            </p:nvSpPr>
            <p:spPr>
              <a:xfrm>
                <a:off x="190500" y="762000"/>
                <a:ext cx="22098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3">
                    <a:solidFill>
                      <a:srgbClr val="10B981"/>
                    </a:solidFill>
                    <a:latin typeface="Inter SemiBold"/>
                    <a:ea typeface="Inter SemiBold"/>
                    <a:cs typeface="Inter SemiBold"/>
                    <a:sym typeface="Inter SemiBold"/>
                  </a:rPr>
                  <a:t>'or' Operator</a:t>
                </a:r>
                <a:endParaRPr b="0" sz="853">
                  <a:solidFill>
                    <a:srgbClr val="10B981"/>
                  </a:solidFill>
                  <a:latin typeface="Inter SemiBold"/>
                  <a:ea typeface="Inter SemiBold"/>
                  <a:cs typeface="Inter SemiBold"/>
                  <a:sym typeface="Inter SemiBold"/>
                </a:endParaRPr>
              </a:p>
              <a:p>
                <a:pPr indent="0" lvl="0" marL="0" rtl="0" algn="l">
                  <a:spcBef>
                    <a:spcPts val="450"/>
                  </a:spcBef>
                  <a:spcAft>
                    <a:spcPts val="0"/>
                  </a:spcAft>
                  <a:buNone/>
                </a:pPr>
                <a:r>
                  <a:rPr b="1" lang="en" sz="1163">
                    <a:solidFill>
                      <a:srgbClr val="1E293B"/>
                    </a:solidFill>
                    <a:latin typeface="Inter"/>
                    <a:ea typeface="Inter"/>
                    <a:cs typeface="Inter"/>
                    <a:sym typeface="Inter"/>
                  </a:rPr>
                  <a:t>At Least One True</a:t>
                </a:r>
                <a:endParaRPr b="1" sz="1163">
                  <a:solidFill>
                    <a:srgbClr val="1E293B"/>
                  </a:solidFill>
                  <a:latin typeface="Inter"/>
                  <a:ea typeface="Inter"/>
                  <a:cs typeface="Inter"/>
                  <a:sym typeface="Inter"/>
                </a:endParaRPr>
              </a:p>
              <a:p>
                <a:pPr indent="0" lvl="0" marL="0" rtl="0" algn="l">
                  <a:spcBef>
                    <a:spcPts val="600"/>
                  </a:spcBef>
                  <a:spcAft>
                    <a:spcPts val="0"/>
                  </a:spcAft>
                  <a:buNone/>
                </a:pPr>
                <a:r>
                  <a:rPr b="0" lang="en" sz="1085">
                    <a:solidFill>
                      <a:srgbClr val="475569"/>
                    </a:solidFill>
                    <a:latin typeface="Inter"/>
                    <a:ea typeface="Inter"/>
                    <a:cs typeface="Inter"/>
                    <a:sym typeface="Inter"/>
                  </a:rPr>
                  <a:t>Requires only one condition to be true.</a:t>
                </a:r>
                <a:endParaRPr b="0" sz="1085">
                  <a:solidFill>
                    <a:srgbClr val="475569"/>
                  </a:solidFill>
                  <a:latin typeface="Inter"/>
                  <a:ea typeface="Inter"/>
                  <a:cs typeface="Inter"/>
                  <a:sym typeface="Inter"/>
                </a:endParaRPr>
              </a:p>
            </p:txBody>
          </p:sp>
        </p:grpSp>
        <p:grpSp>
          <p:nvGrpSpPr>
            <p:cNvPr id="171" name="Google Shape;171;p17"/>
            <p:cNvGrpSpPr/>
            <p:nvPr/>
          </p:nvGrpSpPr>
          <p:grpSpPr>
            <a:xfrm>
              <a:off x="5791200" y="0"/>
              <a:ext cx="2590800" cy="1714500"/>
              <a:chOff x="0" y="0"/>
              <a:chExt cx="2590800" cy="1714500"/>
            </a:xfrm>
          </p:grpSpPr>
          <p:sp>
            <p:nvSpPr>
              <p:cNvPr id="172" name="Google Shape;172;p17"/>
              <p:cNvSpPr/>
              <p:nvPr/>
            </p:nvSpPr>
            <p:spPr>
              <a:xfrm>
                <a:off x="0" y="0"/>
                <a:ext cx="25908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7"/>
              <p:cNvSpPr/>
              <p:nvPr/>
            </p:nvSpPr>
            <p:spPr>
              <a:xfrm>
                <a:off x="190500" y="190500"/>
                <a:ext cx="457200" cy="457200"/>
              </a:xfrm>
              <a:prstGeom prst="roundRect">
                <a:avLst>
                  <a:gd fmla="val 20833" name="adj"/>
                </a:avLst>
              </a:prstGeom>
              <a:solidFill>
                <a:srgbClr val="FEF3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17"/>
              <p:cNvSpPr/>
              <p:nvPr/>
            </p:nvSpPr>
            <p:spPr>
              <a:xfrm>
                <a:off x="419100" y="323850"/>
                <a:ext cx="0" cy="180900"/>
              </a:xfrm>
              <a:custGeom>
                <a:rect b="b" l="l" r="r" t="t"/>
                <a:pathLst>
                  <a:path extrusionOk="0" h="120000" w="120000">
                    <a:moveTo>
                      <a:pt x="0" y="0"/>
                    </a:moveTo>
                    <a:lnTo>
                      <a:pt x="0" y="75789"/>
                    </a:lnTo>
                    <a:moveTo>
                      <a:pt x="0" y="107368"/>
                    </a:moveTo>
                    <a:lnTo>
                      <a:pt x="0" y="120000"/>
                    </a:lnTo>
                  </a:path>
                </a:pathLst>
              </a:custGeom>
              <a:solidFill>
                <a:srgbClr val="000000">
                  <a:alpha val="0"/>
                </a:srgbClr>
              </a:solidFill>
              <a:ln cap="rnd" cmpd="sng" w="33350">
                <a:solidFill>
                  <a:srgbClr val="D9770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17"/>
              <p:cNvSpPr txBox="1"/>
              <p:nvPr/>
            </p:nvSpPr>
            <p:spPr>
              <a:xfrm>
                <a:off x="190500" y="762000"/>
                <a:ext cx="22098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3">
                    <a:solidFill>
                      <a:srgbClr val="D97706"/>
                    </a:solidFill>
                    <a:latin typeface="Inter SemiBold"/>
                    <a:ea typeface="Inter SemiBold"/>
                    <a:cs typeface="Inter SemiBold"/>
                    <a:sym typeface="Inter SemiBold"/>
                  </a:rPr>
                  <a:t>'not' Operator</a:t>
                </a:r>
                <a:endParaRPr b="0" sz="853">
                  <a:solidFill>
                    <a:srgbClr val="D97706"/>
                  </a:solidFill>
                  <a:latin typeface="Inter SemiBold"/>
                  <a:ea typeface="Inter SemiBold"/>
                  <a:cs typeface="Inter SemiBold"/>
                  <a:sym typeface="Inter SemiBold"/>
                </a:endParaRPr>
              </a:p>
              <a:p>
                <a:pPr indent="0" lvl="0" marL="0" rtl="0" algn="l">
                  <a:spcBef>
                    <a:spcPts val="450"/>
                  </a:spcBef>
                  <a:spcAft>
                    <a:spcPts val="0"/>
                  </a:spcAft>
                  <a:buNone/>
                </a:pPr>
                <a:r>
                  <a:rPr b="1" lang="en" sz="1163">
                    <a:solidFill>
                      <a:srgbClr val="1E293B"/>
                    </a:solidFill>
                    <a:latin typeface="Inter"/>
                    <a:ea typeface="Inter"/>
                    <a:cs typeface="Inter"/>
                    <a:sym typeface="Inter"/>
                  </a:rPr>
                  <a:t>Inverts Truth Value</a:t>
                </a:r>
                <a:endParaRPr b="1" sz="1163">
                  <a:solidFill>
                    <a:srgbClr val="1E293B"/>
                  </a:solidFill>
                  <a:latin typeface="Inter"/>
                  <a:ea typeface="Inter"/>
                  <a:cs typeface="Inter"/>
                  <a:sym typeface="Inter"/>
                </a:endParaRPr>
              </a:p>
              <a:p>
                <a:pPr indent="0" lvl="0" marL="0" rtl="0" algn="l">
                  <a:spcBef>
                    <a:spcPts val="600"/>
                  </a:spcBef>
                  <a:spcAft>
                    <a:spcPts val="0"/>
                  </a:spcAft>
                  <a:buNone/>
                </a:pPr>
                <a:r>
                  <a:rPr b="0" lang="en" sz="1085">
                    <a:solidFill>
                      <a:srgbClr val="475569"/>
                    </a:solidFill>
                    <a:latin typeface="Inter"/>
                    <a:ea typeface="Inter"/>
                    <a:cs typeface="Inter"/>
                    <a:sym typeface="Inter"/>
                  </a:rPr>
                  <a:t>Reverses the current truth value.</a:t>
                </a:r>
                <a:endParaRPr b="0" sz="1085">
                  <a:solidFill>
                    <a:srgbClr val="475569"/>
                  </a:solidFill>
                  <a:latin typeface="Inter"/>
                  <a:ea typeface="Inter"/>
                  <a:cs typeface="Inter"/>
                  <a:sym typeface="Inter"/>
                </a:endParaRPr>
              </a:p>
            </p:txBody>
          </p:sp>
        </p:grpSp>
      </p:grpSp>
      <p:grpSp>
        <p:nvGrpSpPr>
          <p:cNvPr id="176" name="Google Shape;176;p17"/>
          <p:cNvGrpSpPr/>
          <p:nvPr/>
        </p:nvGrpSpPr>
        <p:grpSpPr>
          <a:xfrm>
            <a:off x="381000" y="3476625"/>
            <a:ext cx="8382000" cy="1285800"/>
            <a:chOff x="0" y="0"/>
            <a:chExt cx="8382000" cy="1285800"/>
          </a:xfrm>
        </p:grpSpPr>
        <p:sp>
          <p:nvSpPr>
            <p:cNvPr id="177" name="Google Shape;177;p17"/>
            <p:cNvSpPr/>
            <p:nvPr/>
          </p:nvSpPr>
          <p:spPr>
            <a:xfrm>
              <a:off x="0" y="0"/>
              <a:ext cx="8382000" cy="1285800"/>
            </a:xfrm>
            <a:prstGeom prst="roundRect">
              <a:avLst>
                <a:gd fmla="val 7407" name="adj"/>
              </a:avLst>
            </a:prstGeom>
            <a:solidFill>
              <a:srgbClr val="FFFBEB"/>
            </a:solidFill>
            <a:ln cap="flat" cmpd="sng" w="9525">
              <a:solidFill>
                <a:srgbClr val="FEF3C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8" name="Google Shape;178;p17"/>
            <p:cNvSpPr/>
            <p:nvPr/>
          </p:nvSpPr>
          <p:spPr>
            <a:xfrm>
              <a:off x="0" y="0"/>
              <a:ext cx="76200" cy="12858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7"/>
            <p:cNvSpPr txBox="1"/>
            <p:nvPr/>
          </p:nvSpPr>
          <p:spPr>
            <a:xfrm>
              <a:off x="304800" y="171450"/>
              <a:ext cx="78486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D97706"/>
                  </a:solidFill>
                  <a:latin typeface="Inter SemiBold"/>
                  <a:ea typeface="Inter SemiBold"/>
                  <a:cs typeface="Inter SemiBold"/>
                  <a:sym typeface="Inter SemiBold"/>
                </a:rPr>
                <a:t>Optimization // Short-Circuit Evaluation</a:t>
              </a:r>
              <a:endParaRPr b="0" sz="1100">
                <a:solidFill>
                  <a:srgbClr val="D97706"/>
                </a:solidFill>
                <a:latin typeface="Inter SemiBold"/>
                <a:ea typeface="Inter SemiBold"/>
                <a:cs typeface="Inter SemiBold"/>
                <a:sym typeface="Inter SemiBold"/>
              </a:endParaRPr>
            </a:p>
            <a:p>
              <a:pPr indent="0" lvl="0" marL="0" rtl="0" algn="l">
                <a:spcBef>
                  <a:spcPts val="450"/>
                </a:spcBef>
                <a:spcAft>
                  <a:spcPts val="0"/>
                </a:spcAft>
                <a:buNone/>
              </a:pPr>
              <a:r>
                <a:rPr b="0" lang="en" sz="1400">
                  <a:solidFill>
                    <a:srgbClr val="1E293B"/>
                  </a:solidFill>
                  <a:latin typeface="Inter"/>
                  <a:ea typeface="Inter"/>
                  <a:cs typeface="Inter"/>
                  <a:sym typeface="Inter"/>
                </a:rPr>
                <a:t>Python utilizes short-circuit evaluation, meaning it stops evaluating a logical expression as soon as the final outcome is determined. This optimization improves performance and prevents unnecessary computations when processing complex truth value combinations.</a:t>
              </a:r>
              <a:endParaRPr b="0" sz="1400">
                <a:solidFill>
                  <a:srgbClr val="1E293B"/>
                </a:solidFill>
                <a:latin typeface="Inter"/>
                <a:ea typeface="Inter"/>
                <a:cs typeface="Inter"/>
                <a:sym typeface="Int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83" name="Shape 183"/>
        <p:cNvGrpSpPr/>
        <p:nvPr/>
      </p:nvGrpSpPr>
      <p:grpSpPr>
        <a:xfrm>
          <a:off x="0" y="0"/>
          <a:ext cx="0" cy="0"/>
          <a:chOff x="0" y="0"/>
          <a:chExt cx="0" cy="0"/>
        </a:xfrm>
      </p:grpSpPr>
      <p:pic>
        <p:nvPicPr>
          <p:cNvPr id="184" name="Google Shape;184;p18"/>
          <p:cNvPicPr preferRelativeResize="0"/>
          <p:nvPr/>
        </p:nvPicPr>
        <p:blipFill rotWithShape="1">
          <a:blip r:embed="rId3">
            <a:alphaModFix/>
          </a:blip>
          <a:srcRect b="0" l="0" r="0" t="0"/>
          <a:stretch/>
        </p:blipFill>
        <p:spPr>
          <a:xfrm>
            <a:off x="4763" y="4763"/>
            <a:ext cx="8982000" cy="4981500"/>
          </a:xfrm>
          <a:prstGeom prst="rect">
            <a:avLst/>
          </a:prstGeom>
          <a:noFill/>
          <a:ln>
            <a:noFill/>
          </a:ln>
        </p:spPr>
      </p:pic>
      <p:grpSp>
        <p:nvGrpSpPr>
          <p:cNvPr id="185" name="Google Shape;185;p18"/>
          <p:cNvGrpSpPr/>
          <p:nvPr/>
        </p:nvGrpSpPr>
        <p:grpSpPr>
          <a:xfrm>
            <a:off x="381000" y="190500"/>
            <a:ext cx="8382000" cy="333375"/>
            <a:chOff x="381000" y="190500"/>
            <a:chExt cx="8382000" cy="333375"/>
          </a:xfrm>
        </p:grpSpPr>
        <p:sp>
          <p:nvSpPr>
            <p:cNvPr id="186" name="Google Shape;186;p18"/>
            <p:cNvSpPr/>
            <p:nvPr/>
          </p:nvSpPr>
          <p:spPr>
            <a:xfrm>
              <a:off x="381000" y="190500"/>
              <a:ext cx="76200" cy="2286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8"/>
            <p:cNvSpPr txBox="1"/>
            <p:nvPr/>
          </p:nvSpPr>
          <p:spPr>
            <a:xfrm>
              <a:off x="571500" y="209550"/>
              <a:ext cx="3810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lang="en" sz="1100">
                  <a:solidFill>
                    <a:srgbClr val="2563EB"/>
                  </a:solidFill>
                  <a:latin typeface="Inter SemiBold"/>
                  <a:ea typeface="Inter SemiBold"/>
                  <a:cs typeface="Inter SemiBold"/>
                  <a:sym typeface="Inter SemiBold"/>
                </a:rPr>
                <a:t>LEARNWITHVARSHHH</a:t>
              </a:r>
              <a:r>
                <a:rPr b="0" lang="en" sz="1200">
                  <a:solidFill>
                    <a:srgbClr val="2563EB"/>
                  </a:solidFill>
                  <a:latin typeface="Inter SemiBold"/>
                  <a:ea typeface="Inter SemiBold"/>
                  <a:cs typeface="Inter SemiBold"/>
                  <a:sym typeface="Inter SemiBold"/>
                </a:rPr>
                <a:t> // PYTHON-SERIES</a:t>
              </a:r>
              <a:endParaRPr b="0" sz="1200">
                <a:solidFill>
                  <a:srgbClr val="2563EB"/>
                </a:solidFill>
                <a:latin typeface="Inter SemiBold"/>
                <a:ea typeface="Inter SemiBold"/>
                <a:cs typeface="Inter SemiBold"/>
                <a:sym typeface="Inter SemiBold"/>
              </a:endParaRPr>
            </a:p>
          </p:txBody>
        </p:sp>
        <p:cxnSp>
          <p:nvCxnSpPr>
            <p:cNvPr id="188" name="Google Shape;188;p18"/>
            <p:cNvCxnSpPr/>
            <p:nvPr/>
          </p:nvCxnSpPr>
          <p:spPr>
            <a:xfrm>
              <a:off x="381000" y="523875"/>
              <a:ext cx="8382000" cy="0"/>
            </a:xfrm>
            <a:prstGeom prst="straightConnector1">
              <a:avLst/>
            </a:prstGeom>
            <a:solidFill>
              <a:srgbClr val="FFFFFF"/>
            </a:solidFill>
            <a:ln cap="flat" cmpd="sng" w="9525">
              <a:solidFill>
                <a:srgbClr val="E2E8F0"/>
              </a:solidFill>
              <a:prstDash val="solid"/>
              <a:round/>
              <a:headEnd len="sm" w="sm" type="none"/>
              <a:tailEnd len="sm" w="sm" type="none"/>
            </a:ln>
          </p:spPr>
        </p:cxnSp>
      </p:grpSp>
      <p:sp>
        <p:nvSpPr>
          <p:cNvPr id="189" name="Google Shape;189;p18"/>
          <p:cNvSpPr txBox="1"/>
          <p:nvPr/>
        </p:nvSpPr>
        <p:spPr>
          <a:xfrm>
            <a:off x="381000" y="714375"/>
            <a:ext cx="8382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960">
                <a:solidFill>
                  <a:srgbClr val="1E293B"/>
                </a:solidFill>
                <a:latin typeface="Outfit"/>
                <a:ea typeface="Outfit"/>
                <a:cs typeface="Outfit"/>
                <a:sym typeface="Outfit"/>
              </a:rPr>
              <a:t>Bitwise Operators: Manipulating Binary Digits</a:t>
            </a:r>
            <a:endParaRPr b="1" sz="2960">
              <a:solidFill>
                <a:srgbClr val="1E293B"/>
              </a:solidFill>
              <a:latin typeface="Outfit"/>
              <a:ea typeface="Outfit"/>
              <a:cs typeface="Outfit"/>
              <a:sym typeface="Outfit"/>
            </a:endParaRPr>
          </a:p>
        </p:txBody>
      </p:sp>
      <p:grpSp>
        <p:nvGrpSpPr>
          <p:cNvPr id="190" name="Google Shape;190;p18"/>
          <p:cNvGrpSpPr/>
          <p:nvPr/>
        </p:nvGrpSpPr>
        <p:grpSpPr>
          <a:xfrm>
            <a:off x="381000" y="1428750"/>
            <a:ext cx="8382000" cy="3333900"/>
            <a:chOff x="0" y="0"/>
            <a:chExt cx="8382000" cy="3333900"/>
          </a:xfrm>
        </p:grpSpPr>
        <p:sp>
          <p:nvSpPr>
            <p:cNvPr id="191" name="Google Shape;191;p18"/>
            <p:cNvSpPr txBox="1"/>
            <p:nvPr/>
          </p:nvSpPr>
          <p:spPr>
            <a:xfrm>
              <a:off x="0" y="0"/>
              <a:ext cx="41910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850">
                  <a:solidFill>
                    <a:srgbClr val="2563EB"/>
                  </a:solidFill>
                  <a:latin typeface="Outfit Medium"/>
                  <a:ea typeface="Outfit Medium"/>
                  <a:cs typeface="Outfit Medium"/>
                  <a:sym typeface="Outfit Medium"/>
                </a:rPr>
                <a:t>Fundamental Bit-Level Operations</a:t>
              </a:r>
              <a:endParaRPr b="0" sz="1850">
                <a:solidFill>
                  <a:srgbClr val="2563EB"/>
                </a:solidFill>
                <a:latin typeface="Outfit Medium"/>
                <a:ea typeface="Outfit Medium"/>
                <a:cs typeface="Outfit Medium"/>
                <a:sym typeface="Outfit Medium"/>
              </a:endParaRPr>
            </a:p>
            <a:p>
              <a:pPr indent="0" lvl="0" marL="0" rtl="0" algn="l">
                <a:spcBef>
                  <a:spcPts val="900"/>
                </a:spcBef>
                <a:spcAft>
                  <a:spcPts val="0"/>
                </a:spcAft>
                <a:buNone/>
              </a:pPr>
              <a:r>
                <a:rPr b="0" lang="en" sz="1203">
                  <a:solidFill>
                    <a:srgbClr val="475569"/>
                  </a:solidFill>
                  <a:latin typeface="Inter"/>
                  <a:ea typeface="Inter"/>
                  <a:cs typeface="Inter"/>
                  <a:sym typeface="Inter"/>
                </a:rPr>
                <a:t>Bitwise operators manipulate data at its most fundamental level: binary digits (bits).</a:t>
              </a:r>
              <a:endParaRPr b="0" sz="1203">
                <a:solidFill>
                  <a:srgbClr val="475569"/>
                </a:solidFill>
                <a:latin typeface="Inter"/>
                <a:ea typeface="Inter"/>
                <a:cs typeface="Inter"/>
                <a:sym typeface="Inter"/>
              </a:endParaRPr>
            </a:p>
            <a:p>
              <a:pPr indent="0" lvl="0" marL="0" rtl="0" algn="l">
                <a:spcBef>
                  <a:spcPts val="900"/>
                </a:spcBef>
                <a:spcAft>
                  <a:spcPts val="0"/>
                </a:spcAft>
                <a:buNone/>
              </a:pPr>
              <a:r>
                <a:rPr b="0" lang="en" sz="1203">
                  <a:solidFill>
                    <a:srgbClr val="475569"/>
                  </a:solidFill>
                  <a:latin typeface="Inter"/>
                  <a:ea typeface="Inter"/>
                  <a:cs typeface="Inter"/>
                  <a:sym typeface="Inter"/>
                </a:rPr>
                <a:t>Instead of processing standard integers, these operators evaluate the underlying 1s and 0s. Key operations include AND (&amp;), OR (|), XOR (^), and NOT (~).</a:t>
              </a:r>
              <a:endParaRPr b="0" sz="1203">
                <a:solidFill>
                  <a:srgbClr val="475569"/>
                </a:solidFill>
                <a:latin typeface="Inter"/>
                <a:ea typeface="Inter"/>
                <a:cs typeface="Inter"/>
                <a:sym typeface="Inter"/>
              </a:endParaRPr>
            </a:p>
            <a:p>
              <a:pPr indent="0" lvl="0" marL="0" rtl="0" algn="l">
                <a:spcBef>
                  <a:spcPts val="900"/>
                </a:spcBef>
                <a:spcAft>
                  <a:spcPts val="0"/>
                </a:spcAft>
                <a:buNone/>
              </a:pPr>
              <a:r>
                <a:rPr b="0" lang="en" sz="1203">
                  <a:solidFill>
                    <a:srgbClr val="475569"/>
                  </a:solidFill>
                  <a:latin typeface="Inter"/>
                  <a:ea typeface="Inter"/>
                  <a:cs typeface="Inter"/>
                  <a:sym typeface="Inter"/>
                </a:rPr>
                <a:t>Additionally, left shift (&lt;&lt;) and right shift (&gt;&gt;) move bits across memory locations, effectively multiplying or dividing by powers of two.</a:t>
              </a:r>
              <a:endParaRPr b="0" sz="1203">
                <a:solidFill>
                  <a:srgbClr val="475569"/>
                </a:solidFill>
                <a:latin typeface="Inter"/>
                <a:ea typeface="Inter"/>
                <a:cs typeface="Inter"/>
                <a:sym typeface="Inter"/>
              </a:endParaRPr>
            </a:p>
            <a:p>
              <a:pPr indent="0" lvl="0" marL="0" rtl="0" algn="l">
                <a:spcBef>
                  <a:spcPts val="900"/>
                </a:spcBef>
                <a:spcAft>
                  <a:spcPts val="0"/>
                </a:spcAft>
                <a:buNone/>
              </a:pPr>
              <a:r>
                <a:rPr b="1" lang="en" sz="1295">
                  <a:solidFill>
                    <a:srgbClr val="2563EB"/>
                  </a:solidFill>
                  <a:latin typeface="Inter"/>
                  <a:ea typeface="Inter"/>
                  <a:cs typeface="Inter"/>
                  <a:sym typeface="Inter"/>
                </a:rPr>
                <a:t>Applications:</a:t>
              </a:r>
              <a:endParaRPr b="1" sz="1295">
                <a:solidFill>
                  <a:srgbClr val="2563EB"/>
                </a:solidFill>
                <a:latin typeface="Inter"/>
                <a:ea typeface="Inter"/>
                <a:cs typeface="Inter"/>
                <a:sym typeface="Inter"/>
              </a:endParaRPr>
            </a:p>
            <a:p>
              <a:pPr indent="0" lvl="0" marL="0" rtl="0" algn="l">
                <a:spcBef>
                  <a:spcPts val="600"/>
                </a:spcBef>
                <a:spcAft>
                  <a:spcPts val="900"/>
                </a:spcAft>
                <a:buNone/>
              </a:pPr>
              <a:r>
                <a:rPr b="0" lang="en" sz="1203">
                  <a:solidFill>
                    <a:srgbClr val="475569"/>
                  </a:solidFill>
                  <a:latin typeface="Inter"/>
                  <a:ea typeface="Inter"/>
                  <a:cs typeface="Inter"/>
                  <a:sym typeface="Inter"/>
                </a:rPr>
                <a:t>These operators are essential for low-level systems programming, cryptography, and performance optimization.</a:t>
              </a:r>
              <a:endParaRPr b="0" sz="1203">
                <a:solidFill>
                  <a:srgbClr val="475569"/>
                </a:solidFill>
                <a:latin typeface="Inter"/>
                <a:ea typeface="Inter"/>
                <a:cs typeface="Inter"/>
                <a:sym typeface="Inter"/>
              </a:endParaRPr>
            </a:p>
          </p:txBody>
        </p:sp>
        <p:pic>
          <p:nvPicPr>
            <p:cNvPr id="192" name="Google Shape;192;p18"/>
            <p:cNvPicPr preferRelativeResize="0"/>
            <p:nvPr/>
          </p:nvPicPr>
          <p:blipFill rotWithShape="1">
            <a:blip r:embed="rId4">
              <a:alphaModFix/>
            </a:blip>
            <a:srcRect b="0" l="0" r="0" t="0"/>
            <a:stretch/>
          </p:blipFill>
          <p:spPr>
            <a:xfrm>
              <a:off x="4572000" y="95250"/>
              <a:ext cx="3810000" cy="2857500"/>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96" name="Shape 196"/>
        <p:cNvGrpSpPr/>
        <p:nvPr/>
      </p:nvGrpSpPr>
      <p:grpSpPr>
        <a:xfrm>
          <a:off x="0" y="0"/>
          <a:ext cx="0" cy="0"/>
          <a:chOff x="0" y="0"/>
          <a:chExt cx="0" cy="0"/>
        </a:xfrm>
      </p:grpSpPr>
      <p:pic>
        <p:nvPicPr>
          <p:cNvPr id="197" name="Google Shape;197;p19"/>
          <p:cNvPicPr preferRelativeResize="0"/>
          <p:nvPr/>
        </p:nvPicPr>
        <p:blipFill rotWithShape="1">
          <a:blip r:embed="rId3">
            <a:alphaModFix/>
          </a:blip>
          <a:srcRect b="0" l="0" r="0" t="0"/>
          <a:stretch/>
        </p:blipFill>
        <p:spPr>
          <a:xfrm>
            <a:off x="4763" y="4763"/>
            <a:ext cx="8982000" cy="4981500"/>
          </a:xfrm>
          <a:prstGeom prst="rect">
            <a:avLst/>
          </a:prstGeom>
          <a:noFill/>
          <a:ln>
            <a:noFill/>
          </a:ln>
        </p:spPr>
      </p:pic>
      <p:grpSp>
        <p:nvGrpSpPr>
          <p:cNvPr id="198" name="Google Shape;198;p19"/>
          <p:cNvGrpSpPr/>
          <p:nvPr/>
        </p:nvGrpSpPr>
        <p:grpSpPr>
          <a:xfrm>
            <a:off x="381000" y="190500"/>
            <a:ext cx="8382000" cy="333375"/>
            <a:chOff x="381000" y="190500"/>
            <a:chExt cx="8382000" cy="333375"/>
          </a:xfrm>
        </p:grpSpPr>
        <p:sp>
          <p:nvSpPr>
            <p:cNvPr id="199" name="Google Shape;199;p19"/>
            <p:cNvSpPr/>
            <p:nvPr/>
          </p:nvSpPr>
          <p:spPr>
            <a:xfrm>
              <a:off x="381000" y="190500"/>
              <a:ext cx="76200" cy="2286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9"/>
            <p:cNvSpPr txBox="1"/>
            <p:nvPr/>
          </p:nvSpPr>
          <p:spPr>
            <a:xfrm>
              <a:off x="571500" y="209550"/>
              <a:ext cx="3810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lang="en" sz="1100">
                  <a:solidFill>
                    <a:srgbClr val="2563EB"/>
                  </a:solidFill>
                  <a:latin typeface="Inter SemiBold"/>
                  <a:ea typeface="Inter SemiBold"/>
                  <a:cs typeface="Inter SemiBold"/>
                  <a:sym typeface="Inter SemiBold"/>
                </a:rPr>
                <a:t>LEARNWITHVARSHHH</a:t>
              </a:r>
              <a:r>
                <a:rPr b="0" lang="en" sz="1200">
                  <a:solidFill>
                    <a:srgbClr val="2563EB"/>
                  </a:solidFill>
                  <a:latin typeface="Inter SemiBold"/>
                  <a:ea typeface="Inter SemiBold"/>
                  <a:cs typeface="Inter SemiBold"/>
                  <a:sym typeface="Inter SemiBold"/>
                </a:rPr>
                <a:t> // PYTHON-SERIES</a:t>
              </a:r>
              <a:endParaRPr b="0" sz="1200">
                <a:solidFill>
                  <a:srgbClr val="2563EB"/>
                </a:solidFill>
                <a:latin typeface="Inter SemiBold"/>
                <a:ea typeface="Inter SemiBold"/>
                <a:cs typeface="Inter SemiBold"/>
                <a:sym typeface="Inter SemiBold"/>
              </a:endParaRPr>
            </a:p>
          </p:txBody>
        </p:sp>
        <p:cxnSp>
          <p:nvCxnSpPr>
            <p:cNvPr id="201" name="Google Shape;201;p19"/>
            <p:cNvCxnSpPr/>
            <p:nvPr/>
          </p:nvCxnSpPr>
          <p:spPr>
            <a:xfrm>
              <a:off x="381000" y="523875"/>
              <a:ext cx="8382000" cy="0"/>
            </a:xfrm>
            <a:prstGeom prst="straightConnector1">
              <a:avLst/>
            </a:prstGeom>
            <a:solidFill>
              <a:srgbClr val="FFFFFF"/>
            </a:solidFill>
            <a:ln cap="flat" cmpd="sng" w="9525">
              <a:solidFill>
                <a:srgbClr val="E2E8F0"/>
              </a:solidFill>
              <a:prstDash val="solid"/>
              <a:round/>
              <a:headEnd len="sm" w="sm" type="none"/>
              <a:tailEnd len="sm" w="sm" type="none"/>
            </a:ln>
          </p:spPr>
        </p:cxnSp>
      </p:grpSp>
      <p:sp>
        <p:nvSpPr>
          <p:cNvPr id="202" name="Google Shape;202;p19"/>
          <p:cNvSpPr txBox="1"/>
          <p:nvPr/>
        </p:nvSpPr>
        <p:spPr>
          <a:xfrm>
            <a:off x="381000" y="666750"/>
            <a:ext cx="83820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rgbClr val="1E293B"/>
                </a:solidFill>
                <a:latin typeface="Outfit"/>
                <a:ea typeface="Outfit"/>
                <a:cs typeface="Outfit"/>
                <a:sym typeface="Outfit"/>
              </a:rPr>
              <a:t>Assignment Operators</a:t>
            </a:r>
            <a:endParaRPr b="1" sz="2600">
              <a:solidFill>
                <a:srgbClr val="1E293B"/>
              </a:solidFill>
              <a:latin typeface="Outfit"/>
              <a:ea typeface="Outfit"/>
              <a:cs typeface="Outfit"/>
              <a:sym typeface="Outfit"/>
            </a:endParaRPr>
          </a:p>
          <a:p>
            <a:pPr indent="0" lvl="0" marL="0" rtl="0" algn="l">
              <a:spcBef>
                <a:spcPts val="300"/>
              </a:spcBef>
              <a:spcAft>
                <a:spcPts val="0"/>
              </a:spcAft>
              <a:buNone/>
            </a:pPr>
            <a:r>
              <a:rPr b="0" lang="en" sz="1800">
                <a:solidFill>
                  <a:srgbClr val="2563EB"/>
                </a:solidFill>
                <a:latin typeface="Outfit Medium"/>
                <a:ea typeface="Outfit Medium"/>
                <a:cs typeface="Outfit Medium"/>
                <a:sym typeface="Outfit Medium"/>
              </a:rPr>
              <a:t>Storing &amp; Modifying Values</a:t>
            </a:r>
            <a:endParaRPr b="0" sz="1800">
              <a:solidFill>
                <a:srgbClr val="2563EB"/>
              </a:solidFill>
              <a:latin typeface="Outfit Medium"/>
              <a:ea typeface="Outfit Medium"/>
              <a:cs typeface="Outfit Medium"/>
              <a:sym typeface="Outfit Medium"/>
            </a:endParaRPr>
          </a:p>
          <a:p>
            <a:pPr indent="0" lvl="0" marL="0" rtl="0" algn="l">
              <a:spcBef>
                <a:spcPts val="450"/>
              </a:spcBef>
              <a:spcAft>
                <a:spcPts val="1500"/>
              </a:spcAft>
              <a:buNone/>
            </a:pPr>
            <a:r>
              <a:rPr b="0" lang="en" sz="1350">
                <a:solidFill>
                  <a:srgbClr val="475569"/>
                </a:solidFill>
                <a:latin typeface="Inter"/>
                <a:ea typeface="Inter"/>
                <a:cs typeface="Inter"/>
                <a:sym typeface="Inter"/>
              </a:rPr>
              <a:t>Assignment operators are used to store and update values within variables.</a:t>
            </a:r>
            <a:endParaRPr b="0" sz="1350">
              <a:solidFill>
                <a:srgbClr val="475569"/>
              </a:solidFill>
              <a:latin typeface="Inter"/>
              <a:ea typeface="Inter"/>
              <a:cs typeface="Inter"/>
              <a:sym typeface="Inter"/>
            </a:endParaRPr>
          </a:p>
        </p:txBody>
      </p:sp>
      <p:grpSp>
        <p:nvGrpSpPr>
          <p:cNvPr id="203" name="Google Shape;203;p19"/>
          <p:cNvGrpSpPr/>
          <p:nvPr/>
        </p:nvGrpSpPr>
        <p:grpSpPr>
          <a:xfrm>
            <a:off x="381000" y="1857375"/>
            <a:ext cx="4000500" cy="2952900"/>
            <a:chOff x="0" y="0"/>
            <a:chExt cx="4000500" cy="2952900"/>
          </a:xfrm>
        </p:grpSpPr>
        <p:sp>
          <p:nvSpPr>
            <p:cNvPr id="204" name="Google Shape;204;p19"/>
            <p:cNvSpPr/>
            <p:nvPr/>
          </p:nvSpPr>
          <p:spPr>
            <a:xfrm>
              <a:off x="0" y="0"/>
              <a:ext cx="4000500" cy="2952900"/>
            </a:xfrm>
            <a:prstGeom prst="roundRect">
              <a:avLst>
                <a:gd fmla="val 387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19"/>
            <p:cNvSpPr/>
            <p:nvPr/>
          </p:nvSpPr>
          <p:spPr>
            <a:xfrm>
              <a:off x="0" y="0"/>
              <a:ext cx="40005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19"/>
            <p:cNvSpPr txBox="1"/>
            <p:nvPr/>
          </p:nvSpPr>
          <p:spPr>
            <a:xfrm>
              <a:off x="228600" y="190500"/>
              <a:ext cx="35433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2563EB"/>
                  </a:solidFill>
                  <a:latin typeface="Inter SemiBold"/>
                  <a:ea typeface="Inter SemiBold"/>
                  <a:cs typeface="Inter SemiBold"/>
                  <a:sym typeface="Inter SemiBold"/>
                </a:rPr>
                <a:t>SIMPLE ASSIGNMENT (=)</a:t>
              </a:r>
              <a:endParaRPr b="0" sz="1200">
                <a:solidFill>
                  <a:srgbClr val="2563EB"/>
                </a:solidFill>
                <a:latin typeface="Inter SemiBold"/>
                <a:ea typeface="Inter SemiBold"/>
                <a:cs typeface="Inter SemiBold"/>
                <a:sym typeface="Inter SemiBold"/>
              </a:endParaRPr>
            </a:p>
            <a:p>
              <a:pPr indent="0" lvl="0" marL="0" rtl="0" algn="l">
                <a:spcBef>
                  <a:spcPts val="600"/>
                </a:spcBef>
                <a:spcAft>
                  <a:spcPts val="1500"/>
                </a:spcAft>
                <a:buNone/>
              </a:pPr>
              <a:r>
                <a:rPr b="0" lang="en" sz="1350">
                  <a:solidFill>
                    <a:srgbClr val="334155"/>
                  </a:solidFill>
                  <a:latin typeface="Inter"/>
                  <a:ea typeface="Inter"/>
                  <a:cs typeface="Inter"/>
                  <a:sym typeface="Inter"/>
                </a:rPr>
                <a:t>The fundamental assignment operator (</a:t>
              </a:r>
              <a:r>
                <a:rPr b="1" lang="en" sz="1350">
                  <a:solidFill>
                    <a:srgbClr val="334155"/>
                  </a:solidFill>
                  <a:latin typeface="Inter"/>
                  <a:ea typeface="Inter"/>
                  <a:cs typeface="Inter"/>
                  <a:sym typeface="Inter"/>
                </a:rPr>
                <a:t>=</a:t>
              </a:r>
              <a:r>
                <a:rPr b="0" lang="en" sz="1350">
                  <a:solidFill>
                    <a:srgbClr val="334155"/>
                  </a:solidFill>
                  <a:latin typeface="Inter"/>
                  <a:ea typeface="Inter"/>
                  <a:cs typeface="Inter"/>
                  <a:sym typeface="Inter"/>
                </a:rPr>
                <a:t>) binds a value to a variable name.</a:t>
              </a:r>
              <a:endParaRPr b="0" sz="1350">
                <a:solidFill>
                  <a:srgbClr val="334155"/>
                </a:solidFill>
                <a:latin typeface="Inter"/>
                <a:ea typeface="Inter"/>
                <a:cs typeface="Inter"/>
                <a:sym typeface="Inter"/>
              </a:endParaRPr>
            </a:p>
          </p:txBody>
        </p:sp>
        <p:grpSp>
          <p:nvGrpSpPr>
            <p:cNvPr id="207" name="Google Shape;207;p19"/>
            <p:cNvGrpSpPr/>
            <p:nvPr/>
          </p:nvGrpSpPr>
          <p:grpSpPr>
            <a:xfrm>
              <a:off x="228600" y="1666875"/>
              <a:ext cx="3543300" cy="1047900"/>
              <a:chOff x="0" y="0"/>
              <a:chExt cx="3543300" cy="1047900"/>
            </a:xfrm>
          </p:grpSpPr>
          <p:sp>
            <p:nvSpPr>
              <p:cNvPr id="208" name="Google Shape;208;p19"/>
              <p:cNvSpPr/>
              <p:nvPr/>
            </p:nvSpPr>
            <p:spPr>
              <a:xfrm>
                <a:off x="0" y="0"/>
                <a:ext cx="3543300" cy="1047900"/>
              </a:xfrm>
              <a:prstGeom prst="roundRect">
                <a:avLst>
                  <a:gd fmla="val 7272"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19"/>
              <p:cNvSpPr/>
              <p:nvPr/>
            </p:nvSpPr>
            <p:spPr>
              <a:xfrm>
                <a:off x="114300" y="114300"/>
                <a:ext cx="76200" cy="762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19"/>
              <p:cNvSpPr/>
              <p:nvPr/>
            </p:nvSpPr>
            <p:spPr>
              <a:xfrm>
                <a:off x="228600" y="114300"/>
                <a:ext cx="76200" cy="762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 name="Google Shape;211;p19"/>
              <p:cNvSpPr/>
              <p:nvPr/>
            </p:nvSpPr>
            <p:spPr>
              <a:xfrm>
                <a:off x="342900" y="11430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12" name="Google Shape;212;p19"/>
              <p:cNvCxnSpPr/>
              <p:nvPr/>
            </p:nvCxnSpPr>
            <p:spPr>
              <a:xfrm>
                <a:off x="0" y="285750"/>
                <a:ext cx="35433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213" name="Google Shape;213;p19"/>
              <p:cNvSpPr txBox="1"/>
              <p:nvPr/>
            </p:nvSpPr>
            <p:spPr>
              <a:xfrm>
                <a:off x="152400" y="361950"/>
                <a:ext cx="3238500" cy="5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64748B"/>
                    </a:solidFill>
                    <a:latin typeface="Fira Code"/>
                    <a:ea typeface="Fira Code"/>
                    <a:cs typeface="Fira Code"/>
                    <a:sym typeface="Fira Code"/>
                  </a:rPr>
                  <a:t># Binds 10 to variable name 'x'</a:t>
                </a:r>
                <a:endParaRPr b="0" sz="1250">
                  <a:solidFill>
                    <a:srgbClr val="64748B"/>
                  </a:solidFill>
                  <a:latin typeface="Fira Code"/>
                  <a:ea typeface="Fira Code"/>
                  <a:cs typeface="Fira Code"/>
                  <a:sym typeface="Fira Code"/>
                </a:endParaRPr>
              </a:p>
              <a:p>
                <a:pPr indent="0" lvl="0" marL="0" rtl="0" algn="l">
                  <a:spcBef>
                    <a:spcPts val="750"/>
                  </a:spcBef>
                  <a:spcAft>
                    <a:spcPts val="750"/>
                  </a:spcAft>
                  <a:buNone/>
                </a:pPr>
                <a:r>
                  <a:rPr b="0" lang="en" sz="1300">
                    <a:solidFill>
                      <a:srgbClr val="38BDF8"/>
                    </a:solidFill>
                    <a:latin typeface="Fira Code"/>
                    <a:ea typeface="Fira Code"/>
                    <a:cs typeface="Fira Code"/>
                    <a:sym typeface="Fira Code"/>
                  </a:rPr>
                  <a:t>x = 10</a:t>
                </a:r>
                <a:endParaRPr b="0" sz="1300">
                  <a:solidFill>
                    <a:srgbClr val="38BDF8"/>
                  </a:solidFill>
                  <a:latin typeface="Fira Code"/>
                  <a:ea typeface="Fira Code"/>
                  <a:cs typeface="Fira Code"/>
                  <a:sym typeface="Fira Code"/>
                </a:endParaRPr>
              </a:p>
            </p:txBody>
          </p:sp>
        </p:grpSp>
      </p:grpSp>
      <p:grpSp>
        <p:nvGrpSpPr>
          <p:cNvPr id="214" name="Google Shape;214;p19"/>
          <p:cNvGrpSpPr/>
          <p:nvPr/>
        </p:nvGrpSpPr>
        <p:grpSpPr>
          <a:xfrm>
            <a:off x="4762500" y="1857375"/>
            <a:ext cx="4000500" cy="2952900"/>
            <a:chOff x="0" y="0"/>
            <a:chExt cx="4000500" cy="2952900"/>
          </a:xfrm>
        </p:grpSpPr>
        <p:sp>
          <p:nvSpPr>
            <p:cNvPr id="215" name="Google Shape;215;p19"/>
            <p:cNvSpPr/>
            <p:nvPr/>
          </p:nvSpPr>
          <p:spPr>
            <a:xfrm>
              <a:off x="0" y="0"/>
              <a:ext cx="4000500" cy="2952900"/>
            </a:xfrm>
            <a:prstGeom prst="roundRect">
              <a:avLst>
                <a:gd fmla="val 387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19"/>
            <p:cNvSpPr/>
            <p:nvPr/>
          </p:nvSpPr>
          <p:spPr>
            <a:xfrm>
              <a:off x="0" y="0"/>
              <a:ext cx="4000500" cy="573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19"/>
            <p:cNvSpPr txBox="1"/>
            <p:nvPr/>
          </p:nvSpPr>
          <p:spPr>
            <a:xfrm>
              <a:off x="228600" y="190500"/>
              <a:ext cx="35433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20">
                  <a:solidFill>
                    <a:srgbClr val="10B981"/>
                  </a:solidFill>
                  <a:latin typeface="Inter SemiBold"/>
                  <a:ea typeface="Inter SemiBold"/>
                  <a:cs typeface="Inter SemiBold"/>
                  <a:sym typeface="Inter SemiBold"/>
                </a:rPr>
                <a:t>COMPOUND ASSIGNMENT (+=, -=, *=, /=)</a:t>
              </a:r>
              <a:endParaRPr b="0" sz="1020">
                <a:solidFill>
                  <a:srgbClr val="10B981"/>
                </a:solidFill>
                <a:latin typeface="Inter SemiBold"/>
                <a:ea typeface="Inter SemiBold"/>
                <a:cs typeface="Inter SemiBold"/>
                <a:sym typeface="Inter SemiBold"/>
              </a:endParaRPr>
            </a:p>
            <a:p>
              <a:pPr indent="0" lvl="0" marL="0" rtl="0" algn="l">
                <a:spcBef>
                  <a:spcPts val="600"/>
                </a:spcBef>
                <a:spcAft>
                  <a:spcPts val="0"/>
                </a:spcAft>
                <a:buNone/>
              </a:pPr>
              <a:r>
                <a:rPr b="0" lang="en" sz="1063">
                  <a:solidFill>
                    <a:srgbClr val="334155"/>
                  </a:solidFill>
                  <a:latin typeface="Inter"/>
                  <a:ea typeface="Inter"/>
                  <a:cs typeface="Inter"/>
                  <a:sym typeface="Inter"/>
                </a:rPr>
                <a:t>To streamline code, Python offers compound assignment operators like </a:t>
              </a:r>
              <a:r>
                <a:rPr b="1" lang="en" sz="1063">
                  <a:solidFill>
                    <a:srgbClr val="334155"/>
                  </a:solidFill>
                  <a:latin typeface="Inter"/>
                  <a:ea typeface="Inter"/>
                  <a:cs typeface="Inter"/>
                  <a:sym typeface="Inter"/>
                </a:rPr>
                <a:t>+=</a:t>
              </a:r>
              <a:r>
                <a:rPr b="0" lang="en" sz="1063">
                  <a:solidFill>
                    <a:srgbClr val="334155"/>
                  </a:solidFill>
                  <a:latin typeface="Inter"/>
                  <a:ea typeface="Inter"/>
                  <a:cs typeface="Inter"/>
                  <a:sym typeface="Inter"/>
                </a:rPr>
                <a:t>, </a:t>
              </a:r>
              <a:r>
                <a:rPr b="1" lang="en" sz="1063">
                  <a:solidFill>
                    <a:srgbClr val="334155"/>
                  </a:solidFill>
                  <a:latin typeface="Inter"/>
                  <a:ea typeface="Inter"/>
                  <a:cs typeface="Inter"/>
                  <a:sym typeface="Inter"/>
                </a:rPr>
                <a:t>-=</a:t>
              </a:r>
              <a:r>
                <a:rPr b="0" lang="en" sz="1063">
                  <a:solidFill>
                    <a:srgbClr val="334155"/>
                  </a:solidFill>
                  <a:latin typeface="Inter"/>
                  <a:ea typeface="Inter"/>
                  <a:cs typeface="Inter"/>
                  <a:sym typeface="Inter"/>
                </a:rPr>
                <a:t>, and </a:t>
              </a:r>
              <a:r>
                <a:rPr b="1" lang="en" sz="1063">
                  <a:solidFill>
                    <a:srgbClr val="334155"/>
                  </a:solidFill>
                  <a:latin typeface="Inter"/>
                  <a:ea typeface="Inter"/>
                  <a:cs typeface="Inter"/>
                  <a:sym typeface="Inter"/>
                </a:rPr>
                <a:t>*=</a:t>
              </a:r>
              <a:r>
                <a:rPr b="0" lang="en" sz="1063">
                  <a:solidFill>
                    <a:srgbClr val="334155"/>
                  </a:solidFill>
                  <a:latin typeface="Inter"/>
                  <a:ea typeface="Inter"/>
                  <a:cs typeface="Inter"/>
                  <a:sym typeface="Inter"/>
                </a:rPr>
                <a:t>.</a:t>
              </a:r>
              <a:endParaRPr b="0" sz="1063">
                <a:solidFill>
                  <a:srgbClr val="334155"/>
                </a:solidFill>
                <a:latin typeface="Inter"/>
                <a:ea typeface="Inter"/>
                <a:cs typeface="Inter"/>
                <a:sym typeface="Inter"/>
              </a:endParaRPr>
            </a:p>
            <a:p>
              <a:pPr indent="0" lvl="0" marL="0" rtl="0" algn="l">
                <a:spcBef>
                  <a:spcPts val="1500"/>
                </a:spcBef>
                <a:spcAft>
                  <a:spcPts val="1500"/>
                </a:spcAft>
                <a:buNone/>
              </a:pPr>
              <a:r>
                <a:rPr b="0" lang="en" sz="1020">
                  <a:solidFill>
                    <a:srgbClr val="475569"/>
                  </a:solidFill>
                  <a:latin typeface="Inter"/>
                  <a:ea typeface="Inter"/>
                  <a:cs typeface="Inter"/>
                  <a:sym typeface="Inter"/>
                </a:rPr>
                <a:t>These combine an arithmetic or bitwise operation with assignment in a single step. For example, an addition assignment directly updates a variable's existing value by adding a new amount, making iterative processes cleaner and more efficient.</a:t>
              </a:r>
              <a:endParaRPr b="0" sz="1020">
                <a:solidFill>
                  <a:srgbClr val="475569"/>
                </a:solidFill>
                <a:latin typeface="Inter"/>
                <a:ea typeface="Inter"/>
                <a:cs typeface="Inter"/>
                <a:sym typeface="Inter"/>
              </a:endParaRPr>
            </a:p>
          </p:txBody>
        </p:sp>
        <p:grpSp>
          <p:nvGrpSpPr>
            <p:cNvPr id="218" name="Google Shape;218;p19"/>
            <p:cNvGrpSpPr/>
            <p:nvPr/>
          </p:nvGrpSpPr>
          <p:grpSpPr>
            <a:xfrm>
              <a:off x="228600" y="1905000"/>
              <a:ext cx="3543300" cy="809700"/>
              <a:chOff x="0" y="0"/>
              <a:chExt cx="3543300" cy="809700"/>
            </a:xfrm>
          </p:grpSpPr>
          <p:sp>
            <p:nvSpPr>
              <p:cNvPr id="219" name="Google Shape;219;p19"/>
              <p:cNvSpPr/>
              <p:nvPr/>
            </p:nvSpPr>
            <p:spPr>
              <a:xfrm>
                <a:off x="0" y="0"/>
                <a:ext cx="3543300" cy="809700"/>
              </a:xfrm>
              <a:prstGeom prst="roundRect">
                <a:avLst>
                  <a:gd fmla="val 9411"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0" name="Google Shape;220;p19"/>
              <p:cNvSpPr/>
              <p:nvPr/>
            </p:nvSpPr>
            <p:spPr>
              <a:xfrm>
                <a:off x="114300" y="95250"/>
                <a:ext cx="76200" cy="762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19"/>
              <p:cNvSpPr/>
              <p:nvPr/>
            </p:nvSpPr>
            <p:spPr>
              <a:xfrm>
                <a:off x="228600" y="95250"/>
                <a:ext cx="76200" cy="762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19"/>
              <p:cNvSpPr/>
              <p:nvPr/>
            </p:nvSpPr>
            <p:spPr>
              <a:xfrm>
                <a:off x="342900" y="952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23" name="Google Shape;223;p19"/>
              <p:cNvCxnSpPr/>
              <p:nvPr/>
            </p:nvCxnSpPr>
            <p:spPr>
              <a:xfrm>
                <a:off x="0" y="247650"/>
                <a:ext cx="35433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224" name="Google Shape;224;p19"/>
              <p:cNvSpPr txBox="1"/>
              <p:nvPr/>
            </p:nvSpPr>
            <p:spPr>
              <a:xfrm>
                <a:off x="152400" y="304800"/>
                <a:ext cx="32385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750"/>
                  </a:spcAft>
                  <a:buNone/>
                </a:pPr>
                <a:r>
                  <a:rPr b="0" lang="en" sz="1200">
                    <a:solidFill>
                      <a:srgbClr val="34D399"/>
                    </a:solidFill>
                    <a:latin typeface="Fira Code"/>
                    <a:ea typeface="Fira Code"/>
                    <a:cs typeface="Fira Code"/>
                    <a:sym typeface="Fira Code"/>
                  </a:rPr>
                  <a:t>x += 5 </a:t>
                </a:r>
                <a:r>
                  <a:rPr b="0" lang="en" sz="1200">
                    <a:solidFill>
                      <a:srgbClr val="64748B"/>
                    </a:solidFill>
                    <a:latin typeface="Fira Code"/>
                    <a:ea typeface="Fira Code"/>
                    <a:cs typeface="Fira Code"/>
                    <a:sym typeface="Fira Code"/>
                  </a:rPr>
                  <a:t># Equivalent to: x = x + 5</a:t>
                </a:r>
                <a:endParaRPr b="0" sz="1200">
                  <a:solidFill>
                    <a:srgbClr val="34D399"/>
                  </a:solidFill>
                  <a:latin typeface="Fira Code"/>
                  <a:ea typeface="Fira Code"/>
                  <a:cs typeface="Fira Code"/>
                  <a:sym typeface="Fira Code"/>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8" name="Shape 228"/>
        <p:cNvGrpSpPr/>
        <p:nvPr/>
      </p:nvGrpSpPr>
      <p:grpSpPr>
        <a:xfrm>
          <a:off x="0" y="0"/>
          <a:ext cx="0" cy="0"/>
          <a:chOff x="0" y="0"/>
          <a:chExt cx="0" cy="0"/>
        </a:xfrm>
      </p:grpSpPr>
      <p:pic>
        <p:nvPicPr>
          <p:cNvPr id="229" name="Google Shape;229;p20"/>
          <p:cNvPicPr preferRelativeResize="0"/>
          <p:nvPr/>
        </p:nvPicPr>
        <p:blipFill rotWithShape="1">
          <a:blip r:embed="rId4">
            <a:alphaModFix/>
          </a:blip>
          <a:srcRect b="0" l="0" r="0" t="0"/>
          <a:stretch/>
        </p:blipFill>
        <p:spPr>
          <a:xfrm>
            <a:off x="4763" y="4763"/>
            <a:ext cx="8982000" cy="4981500"/>
          </a:xfrm>
          <a:prstGeom prst="rect">
            <a:avLst/>
          </a:prstGeom>
          <a:noFill/>
          <a:ln>
            <a:noFill/>
          </a:ln>
        </p:spPr>
      </p:pic>
      <p:grpSp>
        <p:nvGrpSpPr>
          <p:cNvPr id="230" name="Google Shape;230;p20"/>
          <p:cNvGrpSpPr/>
          <p:nvPr/>
        </p:nvGrpSpPr>
        <p:grpSpPr>
          <a:xfrm>
            <a:off x="381000" y="190500"/>
            <a:ext cx="8382000" cy="304950"/>
            <a:chOff x="381000" y="190500"/>
            <a:chExt cx="8382000" cy="304950"/>
          </a:xfrm>
        </p:grpSpPr>
        <p:sp>
          <p:nvSpPr>
            <p:cNvPr id="231" name="Google Shape;231;p20"/>
            <p:cNvSpPr/>
            <p:nvPr/>
          </p:nvSpPr>
          <p:spPr>
            <a:xfrm>
              <a:off x="381000" y="190500"/>
              <a:ext cx="76200" cy="2286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0"/>
            <p:cNvSpPr txBox="1"/>
            <p:nvPr/>
          </p:nvSpPr>
          <p:spPr>
            <a:xfrm>
              <a:off x="571500" y="209550"/>
              <a:ext cx="3810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solidFill>
                    <a:srgbClr val="2563EB"/>
                  </a:solidFill>
                  <a:latin typeface="Inter SemiBold"/>
                  <a:ea typeface="Inter SemiBold"/>
                  <a:cs typeface="Inter SemiBold"/>
                  <a:sym typeface="Inter SemiBold"/>
                </a:rPr>
                <a:t>LEARNWITHVARSHHH</a:t>
              </a:r>
              <a:r>
                <a:rPr b="0" lang="en" sz="1000">
                  <a:solidFill>
                    <a:srgbClr val="2563EB"/>
                  </a:solidFill>
                  <a:latin typeface="Inter SemiBold"/>
                  <a:ea typeface="Inter SemiBold"/>
                  <a:cs typeface="Inter SemiBold"/>
                  <a:sym typeface="Inter SemiBold"/>
                </a:rPr>
                <a:t> // PYTHON-SERIES</a:t>
              </a:r>
              <a:endParaRPr b="0" sz="1000">
                <a:solidFill>
                  <a:srgbClr val="2563EB"/>
                </a:solidFill>
                <a:latin typeface="Inter SemiBold"/>
                <a:ea typeface="Inter SemiBold"/>
                <a:cs typeface="Inter SemiBold"/>
                <a:sym typeface="Inter SemiBold"/>
              </a:endParaRPr>
            </a:p>
          </p:txBody>
        </p:sp>
        <p:cxnSp>
          <p:nvCxnSpPr>
            <p:cNvPr id="233" name="Google Shape;233;p20"/>
            <p:cNvCxnSpPr/>
            <p:nvPr/>
          </p:nvCxnSpPr>
          <p:spPr>
            <a:xfrm>
              <a:off x="381000" y="495300"/>
              <a:ext cx="8382000" cy="0"/>
            </a:xfrm>
            <a:prstGeom prst="straightConnector1">
              <a:avLst/>
            </a:prstGeom>
            <a:solidFill>
              <a:srgbClr val="FFFFFF"/>
            </a:solidFill>
            <a:ln cap="flat" cmpd="sng" w="9525">
              <a:solidFill>
                <a:srgbClr val="E2E8F0"/>
              </a:solidFill>
              <a:prstDash val="solid"/>
              <a:round/>
              <a:headEnd len="sm" w="sm" type="none"/>
              <a:tailEnd len="sm" w="sm" type="none"/>
            </a:ln>
          </p:spPr>
        </p:cxnSp>
      </p:grpSp>
      <p:sp>
        <p:nvSpPr>
          <p:cNvPr id="234" name="Google Shape;234;p20"/>
          <p:cNvSpPr txBox="1"/>
          <p:nvPr/>
        </p:nvSpPr>
        <p:spPr>
          <a:xfrm>
            <a:off x="381000" y="647700"/>
            <a:ext cx="8382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rgbClr val="1E293B"/>
                </a:solidFill>
                <a:latin typeface="Outfit"/>
                <a:ea typeface="Outfit"/>
                <a:cs typeface="Outfit"/>
                <a:sym typeface="Outfit"/>
              </a:rPr>
              <a:t>Special Operators: Identity &amp; Membership</a:t>
            </a:r>
            <a:endParaRPr b="1" sz="2800">
              <a:solidFill>
                <a:srgbClr val="1E293B"/>
              </a:solidFill>
              <a:latin typeface="Outfit"/>
              <a:ea typeface="Outfit"/>
              <a:cs typeface="Outfit"/>
              <a:sym typeface="Outfit"/>
            </a:endParaRPr>
          </a:p>
          <a:p>
            <a:pPr indent="0" lvl="0" marL="0" rtl="0" algn="l">
              <a:spcBef>
                <a:spcPts val="300"/>
              </a:spcBef>
              <a:spcAft>
                <a:spcPts val="0"/>
              </a:spcAft>
              <a:buNone/>
            </a:pPr>
            <a:r>
              <a:rPr b="0" lang="en" sz="1500">
                <a:solidFill>
                  <a:srgbClr val="475569"/>
                </a:solidFill>
                <a:latin typeface="Outfit Medium"/>
                <a:ea typeface="Outfit Medium"/>
                <a:cs typeface="Outfit Medium"/>
                <a:sym typeface="Outfit Medium"/>
              </a:rPr>
              <a:t>Python features special operators for advanced evaluations and structural checks.</a:t>
            </a:r>
            <a:endParaRPr b="0" sz="1500">
              <a:solidFill>
                <a:srgbClr val="475569"/>
              </a:solidFill>
              <a:latin typeface="Outfit Medium"/>
              <a:ea typeface="Outfit Medium"/>
              <a:cs typeface="Outfit Medium"/>
              <a:sym typeface="Outfit Medium"/>
            </a:endParaRPr>
          </a:p>
        </p:txBody>
      </p:sp>
      <p:grpSp>
        <p:nvGrpSpPr>
          <p:cNvPr id="235" name="Google Shape;235;p20"/>
          <p:cNvGrpSpPr/>
          <p:nvPr/>
        </p:nvGrpSpPr>
        <p:grpSpPr>
          <a:xfrm>
            <a:off x="381000" y="1600200"/>
            <a:ext cx="8382000" cy="1905000"/>
            <a:chOff x="0" y="0"/>
            <a:chExt cx="8382000" cy="1905000"/>
          </a:xfrm>
        </p:grpSpPr>
        <p:grpSp>
          <p:nvGrpSpPr>
            <p:cNvPr id="236" name="Google Shape;236;p20"/>
            <p:cNvGrpSpPr/>
            <p:nvPr/>
          </p:nvGrpSpPr>
          <p:grpSpPr>
            <a:xfrm>
              <a:off x="0" y="0"/>
              <a:ext cx="4000500" cy="1905000"/>
              <a:chOff x="0" y="0"/>
              <a:chExt cx="4000500" cy="1905000"/>
            </a:xfrm>
          </p:grpSpPr>
          <p:sp>
            <p:nvSpPr>
              <p:cNvPr id="237" name="Google Shape;237;p20"/>
              <p:cNvSpPr/>
              <p:nvPr/>
            </p:nvSpPr>
            <p:spPr>
              <a:xfrm>
                <a:off x="0" y="0"/>
                <a:ext cx="4000500" cy="1905000"/>
              </a:xfrm>
              <a:prstGeom prst="roundRect">
                <a:avLst>
                  <a:gd fmla="val 6000" name="adj"/>
                </a:avLst>
              </a:prstGeom>
              <a:solidFill>
                <a:srgbClr val="FFFFFF"/>
              </a:solidFill>
              <a:ln cap="flat" cmpd="sng" w="1905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20"/>
              <p:cNvSpPr txBox="1"/>
              <p:nvPr/>
            </p:nvSpPr>
            <p:spPr>
              <a:xfrm>
                <a:off x="228600" y="190500"/>
                <a:ext cx="35433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10B981"/>
                    </a:solidFill>
                    <a:latin typeface="Inter SemiBold"/>
                    <a:ea typeface="Inter SemiBold"/>
                    <a:cs typeface="Inter SemiBold"/>
                    <a:sym typeface="Inter SemiBold"/>
                  </a:rPr>
                  <a:t>IDENTITY OPERATORS</a:t>
                </a:r>
                <a:endParaRPr b="0" sz="1100">
                  <a:solidFill>
                    <a:srgbClr val="10B981"/>
                  </a:solidFill>
                  <a:latin typeface="Inter SemiBold"/>
                  <a:ea typeface="Inter SemiBold"/>
                  <a:cs typeface="Inter SemiBold"/>
                  <a:sym typeface="Inter SemiBold"/>
                </a:endParaRPr>
              </a:p>
              <a:p>
                <a:pPr indent="0" lvl="0" marL="0" rtl="0" algn="l">
                  <a:spcBef>
                    <a:spcPts val="450"/>
                  </a:spcBef>
                  <a:spcAft>
                    <a:spcPts val="0"/>
                  </a:spcAft>
                  <a:buNone/>
                </a:pPr>
                <a:r>
                  <a:rPr b="0" lang="en" sz="1300">
                    <a:solidFill>
                      <a:srgbClr val="0F172A"/>
                    </a:solidFill>
                    <a:highlight>
                      <a:srgbClr val="F1F5F9"/>
                    </a:highlight>
                    <a:latin typeface="Fira Code SemiBold"/>
                    <a:ea typeface="Fira Code SemiBold"/>
                    <a:cs typeface="Fira Code SemiBold"/>
                    <a:sym typeface="Fira Code SemiBold"/>
                  </a:rPr>
                  <a:t>is</a:t>
                </a:r>
                <a:r>
                  <a:rPr lang="en"/>
                  <a:t> </a:t>
                </a:r>
                <a:r>
                  <a:rPr lang="en" sz="1100">
                    <a:solidFill>
                      <a:srgbClr val="475569"/>
                    </a:solidFill>
                    <a:latin typeface="Inter"/>
                    <a:ea typeface="Inter"/>
                    <a:cs typeface="Inter"/>
                    <a:sym typeface="Inter"/>
                  </a:rPr>
                  <a:t>and</a:t>
                </a:r>
                <a:r>
                  <a:rPr lang="en"/>
                  <a:t> </a:t>
                </a:r>
                <a:r>
                  <a:rPr b="0" lang="en" sz="1300">
                    <a:solidFill>
                      <a:srgbClr val="0F172A"/>
                    </a:solidFill>
                    <a:highlight>
                      <a:srgbClr val="F1F5F9"/>
                    </a:highlight>
                    <a:latin typeface="Fira Code SemiBold"/>
                    <a:ea typeface="Fira Code SemiBold"/>
                    <a:cs typeface="Fira Code SemiBold"/>
                    <a:sym typeface="Fira Code SemiBold"/>
                  </a:rPr>
                  <a:t>is not</a:t>
                </a:r>
                <a:endParaRPr/>
              </a:p>
              <a:p>
                <a:pPr indent="0" lvl="0" marL="0" rtl="0" algn="l">
                  <a:spcBef>
                    <a:spcPts val="900"/>
                  </a:spcBef>
                  <a:spcAft>
                    <a:spcPts val="0"/>
                  </a:spcAft>
                  <a:buNone/>
                </a:pPr>
                <a:r>
                  <a:rPr b="0" lang="en" sz="1200">
                    <a:solidFill>
                      <a:srgbClr val="475569"/>
                    </a:solidFill>
                    <a:latin typeface="Inter"/>
                    <a:ea typeface="Inter"/>
                    <a:cs typeface="Inter"/>
                    <a:sym typeface="Inter"/>
                  </a:rPr>
                  <a:t>Check if two variables point to the </a:t>
                </a:r>
                <a:r>
                  <a:rPr b="1" lang="en" sz="1200">
                    <a:solidFill>
                      <a:srgbClr val="475569"/>
                    </a:solidFill>
                    <a:latin typeface="Inter"/>
                    <a:ea typeface="Inter"/>
                    <a:cs typeface="Inter"/>
                    <a:sym typeface="Inter"/>
                  </a:rPr>
                  <a:t>exact same object in memory</a:t>
                </a:r>
                <a:r>
                  <a:rPr b="0" lang="en" sz="1200">
                    <a:solidFill>
                      <a:srgbClr val="475569"/>
                    </a:solidFill>
                    <a:latin typeface="Inter"/>
                    <a:ea typeface="Inter"/>
                    <a:cs typeface="Inter"/>
                    <a:sym typeface="Inter"/>
                  </a:rPr>
                  <a:t>. This is distinctly different from checking if their values are merely equal.</a:t>
                </a:r>
                <a:endParaRPr b="0" sz="1200">
                  <a:solidFill>
                    <a:srgbClr val="475569"/>
                  </a:solidFill>
                  <a:latin typeface="Inter"/>
                  <a:ea typeface="Inter"/>
                  <a:cs typeface="Inter"/>
                  <a:sym typeface="Inter"/>
                </a:endParaRPr>
              </a:p>
            </p:txBody>
          </p:sp>
        </p:grpSp>
        <p:grpSp>
          <p:nvGrpSpPr>
            <p:cNvPr id="239" name="Google Shape;239;p20"/>
            <p:cNvGrpSpPr/>
            <p:nvPr/>
          </p:nvGrpSpPr>
          <p:grpSpPr>
            <a:xfrm>
              <a:off x="4381500" y="0"/>
              <a:ext cx="4000500" cy="1905000"/>
              <a:chOff x="0" y="0"/>
              <a:chExt cx="4000500" cy="1905000"/>
            </a:xfrm>
          </p:grpSpPr>
          <p:sp>
            <p:nvSpPr>
              <p:cNvPr id="240" name="Google Shape;240;p20"/>
              <p:cNvSpPr/>
              <p:nvPr/>
            </p:nvSpPr>
            <p:spPr>
              <a:xfrm>
                <a:off x="0" y="0"/>
                <a:ext cx="4000500" cy="1905000"/>
              </a:xfrm>
              <a:prstGeom prst="roundRect">
                <a:avLst>
                  <a:gd fmla="val 6000" name="adj"/>
                </a:avLst>
              </a:prstGeom>
              <a:solidFill>
                <a:srgbClr val="FFFFFF"/>
              </a:solidFill>
              <a:ln cap="flat"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20"/>
              <p:cNvSpPr txBox="1"/>
              <p:nvPr/>
            </p:nvSpPr>
            <p:spPr>
              <a:xfrm>
                <a:off x="228600" y="190500"/>
                <a:ext cx="35433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D97706"/>
                    </a:solidFill>
                    <a:latin typeface="Inter SemiBold"/>
                    <a:ea typeface="Inter SemiBold"/>
                    <a:cs typeface="Inter SemiBold"/>
                    <a:sym typeface="Inter SemiBold"/>
                  </a:rPr>
                  <a:t>MEMBERSHIP OPERATORS</a:t>
                </a:r>
                <a:endParaRPr b="0" sz="1100">
                  <a:solidFill>
                    <a:srgbClr val="D97706"/>
                  </a:solidFill>
                  <a:latin typeface="Inter SemiBold"/>
                  <a:ea typeface="Inter SemiBold"/>
                  <a:cs typeface="Inter SemiBold"/>
                  <a:sym typeface="Inter SemiBold"/>
                </a:endParaRPr>
              </a:p>
              <a:p>
                <a:pPr indent="0" lvl="0" marL="0" rtl="0" algn="l">
                  <a:spcBef>
                    <a:spcPts val="450"/>
                  </a:spcBef>
                  <a:spcAft>
                    <a:spcPts val="0"/>
                  </a:spcAft>
                  <a:buNone/>
                </a:pPr>
                <a:r>
                  <a:rPr b="0" lang="en" sz="1300">
                    <a:solidFill>
                      <a:srgbClr val="0F172A"/>
                    </a:solidFill>
                    <a:highlight>
                      <a:srgbClr val="F1F5F9"/>
                    </a:highlight>
                    <a:latin typeface="Fira Code SemiBold"/>
                    <a:ea typeface="Fira Code SemiBold"/>
                    <a:cs typeface="Fira Code SemiBold"/>
                    <a:sym typeface="Fira Code SemiBold"/>
                  </a:rPr>
                  <a:t>in</a:t>
                </a:r>
                <a:r>
                  <a:rPr lang="en"/>
                  <a:t> </a:t>
                </a:r>
                <a:r>
                  <a:rPr lang="en" sz="1100">
                    <a:solidFill>
                      <a:srgbClr val="475569"/>
                    </a:solidFill>
                    <a:latin typeface="Inter"/>
                    <a:ea typeface="Inter"/>
                    <a:cs typeface="Inter"/>
                    <a:sym typeface="Inter"/>
                  </a:rPr>
                  <a:t>and</a:t>
                </a:r>
                <a:r>
                  <a:rPr lang="en"/>
                  <a:t> </a:t>
                </a:r>
                <a:r>
                  <a:rPr b="0" lang="en" sz="1300">
                    <a:solidFill>
                      <a:srgbClr val="0F172A"/>
                    </a:solidFill>
                    <a:highlight>
                      <a:srgbClr val="F1F5F9"/>
                    </a:highlight>
                    <a:latin typeface="Fira Code SemiBold"/>
                    <a:ea typeface="Fira Code SemiBold"/>
                    <a:cs typeface="Fira Code SemiBold"/>
                    <a:sym typeface="Fira Code SemiBold"/>
                  </a:rPr>
                  <a:t>not in</a:t>
                </a:r>
                <a:endParaRPr/>
              </a:p>
              <a:p>
                <a:pPr indent="0" lvl="0" marL="0" rtl="0" algn="l">
                  <a:spcBef>
                    <a:spcPts val="900"/>
                  </a:spcBef>
                  <a:spcAft>
                    <a:spcPts val="0"/>
                  </a:spcAft>
                  <a:buNone/>
                </a:pPr>
                <a:r>
                  <a:rPr b="0" lang="en" sz="1200">
                    <a:solidFill>
                      <a:srgbClr val="475569"/>
                    </a:solidFill>
                    <a:latin typeface="Inter"/>
                    <a:ea typeface="Inter"/>
                    <a:cs typeface="Inter"/>
                    <a:sym typeface="Inter"/>
                  </a:rPr>
                  <a:t>Test whether a </a:t>
                </a:r>
                <a:r>
                  <a:rPr b="1" lang="en" sz="1200">
                    <a:solidFill>
                      <a:srgbClr val="475569"/>
                    </a:solidFill>
                    <a:latin typeface="Inter"/>
                    <a:ea typeface="Inter"/>
                    <a:cs typeface="Inter"/>
                    <a:sym typeface="Inter"/>
                  </a:rPr>
                  <a:t>specific sequence or value exists within a collection</a:t>
                </a:r>
                <a:r>
                  <a:rPr b="0" lang="en" sz="1200">
                    <a:solidFill>
                      <a:srgbClr val="475569"/>
                    </a:solidFill>
                    <a:latin typeface="Inter"/>
                    <a:ea typeface="Inter"/>
                    <a:cs typeface="Inter"/>
                    <a:sym typeface="Inter"/>
                  </a:rPr>
                  <a:t>, such as a list, tuple, or string.</a:t>
                </a:r>
                <a:endParaRPr b="0" sz="1200">
                  <a:solidFill>
                    <a:srgbClr val="475569"/>
                  </a:solidFill>
                  <a:latin typeface="Inter"/>
                  <a:ea typeface="Inter"/>
                  <a:cs typeface="Inter"/>
                  <a:sym typeface="Inter"/>
                </a:endParaRPr>
              </a:p>
            </p:txBody>
          </p:sp>
        </p:grpSp>
      </p:grpSp>
      <p:grpSp>
        <p:nvGrpSpPr>
          <p:cNvPr id="242" name="Google Shape;242;p20"/>
          <p:cNvGrpSpPr/>
          <p:nvPr/>
        </p:nvGrpSpPr>
        <p:grpSpPr>
          <a:xfrm>
            <a:off x="381000" y="3695700"/>
            <a:ext cx="8382000" cy="1047900"/>
            <a:chOff x="0" y="0"/>
            <a:chExt cx="8382000" cy="1047900"/>
          </a:xfrm>
        </p:grpSpPr>
        <p:sp>
          <p:nvSpPr>
            <p:cNvPr id="243" name="Google Shape;243;p20"/>
            <p:cNvSpPr/>
            <p:nvPr/>
          </p:nvSpPr>
          <p:spPr>
            <a:xfrm>
              <a:off x="0" y="0"/>
              <a:ext cx="8382000" cy="1047900"/>
            </a:xfrm>
            <a:prstGeom prst="roundRect">
              <a:avLst>
                <a:gd fmla="val 7272" name="adj"/>
              </a:avLst>
            </a:prstGeom>
            <a:solidFill>
              <a:srgbClr val="FFFB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0"/>
            <p:cNvSpPr/>
            <p:nvPr/>
          </p:nvSpPr>
          <p:spPr>
            <a:xfrm>
              <a:off x="0" y="0"/>
              <a:ext cx="76200" cy="10479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20"/>
            <p:cNvSpPr txBox="1"/>
            <p:nvPr/>
          </p:nvSpPr>
          <p:spPr>
            <a:xfrm>
              <a:off x="266700" y="152400"/>
              <a:ext cx="78867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D97706"/>
                  </a:solidFill>
                  <a:latin typeface="Inter SemiBold"/>
                  <a:ea typeface="Inter SemiBold"/>
                  <a:cs typeface="Inter SemiBold"/>
                  <a:sym typeface="Inter SemiBold"/>
                </a:rPr>
                <a:t>KEY TAKEAWAY: MEMORY LOCATION VS. VALUE EQUALITY</a:t>
              </a:r>
              <a:endParaRPr b="0" sz="1100">
                <a:solidFill>
                  <a:srgbClr val="D97706"/>
                </a:solidFill>
                <a:latin typeface="Inter SemiBold"/>
                <a:ea typeface="Inter SemiBold"/>
                <a:cs typeface="Inter SemiBold"/>
                <a:sym typeface="Inter SemiBold"/>
              </a:endParaRPr>
            </a:p>
            <a:p>
              <a:pPr indent="0" lvl="0" marL="0" rtl="0" algn="l">
                <a:spcBef>
                  <a:spcPts val="300"/>
                </a:spcBef>
                <a:spcAft>
                  <a:spcPts val="0"/>
                </a:spcAft>
                <a:buNone/>
              </a:pPr>
              <a:r>
                <a:rPr b="0" lang="en" sz="1200">
                  <a:solidFill>
                    <a:srgbClr val="1E293B"/>
                  </a:solidFill>
                  <a:latin typeface="Inter"/>
                  <a:ea typeface="Inter"/>
                  <a:cs typeface="Inter"/>
                  <a:sym typeface="Inter"/>
                </a:rPr>
                <a:t>These operators provide highly readable, English-like syntax for complex memory and structural checks. Always distinguish between identity (</a:t>
              </a:r>
              <a:r>
                <a:rPr b="0" lang="en" sz="1000">
                  <a:solidFill>
                    <a:srgbClr val="0F172A"/>
                  </a:solidFill>
                  <a:highlight>
                    <a:srgbClr val="F1F5F9"/>
                  </a:highlight>
                  <a:latin typeface="Fira Code SemiBold"/>
                  <a:ea typeface="Fira Code SemiBold"/>
                  <a:cs typeface="Fira Code SemiBold"/>
                  <a:sym typeface="Fira Code SemiBold"/>
                </a:rPr>
                <a:t>is</a:t>
              </a:r>
              <a:r>
                <a:rPr b="0" lang="en" sz="1200">
                  <a:solidFill>
                    <a:srgbClr val="1E293B"/>
                  </a:solidFill>
                  <a:latin typeface="Inter"/>
                  <a:ea typeface="Inter"/>
                  <a:cs typeface="Inter"/>
                  <a:sym typeface="Inter"/>
                </a:rPr>
                <a:t>) which validates memory references, and equality (</a:t>
              </a:r>
              <a:r>
                <a:rPr b="0" lang="en" sz="1000">
                  <a:solidFill>
                    <a:srgbClr val="0F172A"/>
                  </a:solidFill>
                  <a:highlight>
                    <a:srgbClr val="F1F5F9"/>
                  </a:highlight>
                  <a:latin typeface="Fira Code SemiBold"/>
                  <a:ea typeface="Fira Code SemiBold"/>
                  <a:cs typeface="Fira Code SemiBold"/>
                  <a:sym typeface="Fira Code SemiBold"/>
                </a:rPr>
                <a:t>==</a:t>
              </a:r>
              <a:r>
                <a:rPr b="0" lang="en" sz="1200">
                  <a:solidFill>
                    <a:srgbClr val="1E293B"/>
                  </a:solidFill>
                  <a:latin typeface="Inter"/>
                  <a:ea typeface="Inter"/>
                  <a:cs typeface="Inter"/>
                  <a:sym typeface="Inter"/>
                </a:rPr>
                <a:t>) which checks content matching.</a:t>
              </a:r>
              <a:endParaRPr b="0" sz="1200">
                <a:solidFill>
                  <a:srgbClr val="1E293B"/>
                </a:solidFill>
                <a:latin typeface="Inter"/>
                <a:ea typeface="Inter"/>
                <a:cs typeface="Inter"/>
                <a:sym typeface="Inte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1"/>
          <p:cNvSpPr/>
          <p:nvPr/>
        </p:nvSpPr>
        <p:spPr>
          <a:xfrm>
            <a:off x="0" y="0"/>
            <a:ext cx="9144000" cy="5143500"/>
          </a:xfrm>
          <a:prstGeom prst="rect">
            <a:avLst/>
          </a:prstGeom>
          <a:solidFill>
            <a:srgbClr val="FAFA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51" name="Google Shape;251;p21"/>
          <p:cNvPicPr preferRelativeResize="0"/>
          <p:nvPr/>
        </p:nvPicPr>
        <p:blipFill rotWithShape="1">
          <a:blip r:embed="rId3">
            <a:alphaModFix/>
          </a:blip>
          <a:srcRect b="0" l="0" r="0" t="0"/>
          <a:stretch/>
        </p:blipFill>
        <p:spPr>
          <a:xfrm>
            <a:off x="4763" y="4763"/>
            <a:ext cx="8982000" cy="4981500"/>
          </a:xfrm>
          <a:prstGeom prst="rect">
            <a:avLst/>
          </a:prstGeom>
          <a:noFill/>
          <a:ln>
            <a:noFill/>
          </a:ln>
        </p:spPr>
      </p:pic>
      <p:grpSp>
        <p:nvGrpSpPr>
          <p:cNvPr id="252" name="Google Shape;252;p21"/>
          <p:cNvGrpSpPr/>
          <p:nvPr/>
        </p:nvGrpSpPr>
        <p:grpSpPr>
          <a:xfrm>
            <a:off x="0" y="0"/>
            <a:ext cx="2286000" cy="5143500"/>
            <a:chOff x="0" y="0"/>
            <a:chExt cx="2286000" cy="5143500"/>
          </a:xfrm>
        </p:grpSpPr>
        <p:sp>
          <p:nvSpPr>
            <p:cNvPr id="253" name="Google Shape;253;p21"/>
            <p:cNvSpPr/>
            <p:nvPr/>
          </p:nvSpPr>
          <p:spPr>
            <a:xfrm>
              <a:off x="0" y="0"/>
              <a:ext cx="2286000" cy="51435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21"/>
            <p:cNvSpPr/>
            <p:nvPr/>
          </p:nvSpPr>
          <p:spPr>
            <a:xfrm>
              <a:off x="342900" y="419100"/>
              <a:ext cx="3048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21"/>
            <p:cNvSpPr txBox="1"/>
            <p:nvPr/>
          </p:nvSpPr>
          <p:spPr>
            <a:xfrm>
              <a:off x="342900" y="628650"/>
              <a:ext cx="16002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solidFill>
                    <a:srgbClr val="10B981"/>
                  </a:solidFill>
                  <a:latin typeface="Inter SemiBold"/>
                  <a:ea typeface="Inter SemiBold"/>
                  <a:cs typeface="Inter SemiBold"/>
                  <a:sym typeface="Inter SemiBold"/>
                </a:rPr>
                <a:t>LEARNWITHVARSHHH</a:t>
              </a:r>
              <a:endParaRPr b="0" sz="1100">
                <a:solidFill>
                  <a:srgbClr val="10B981"/>
                </a:solidFill>
                <a:latin typeface="Inter SemiBold"/>
                <a:ea typeface="Inter SemiBold"/>
                <a:cs typeface="Inter SemiBold"/>
                <a:sym typeface="Inter SemiBold"/>
              </a:endParaRPr>
            </a:p>
            <a:p>
              <a:pPr indent="0" lvl="0" marL="0" rtl="0" algn="l">
                <a:spcBef>
                  <a:spcPts val="450"/>
                </a:spcBef>
                <a:spcAft>
                  <a:spcPts val="0"/>
                </a:spcAft>
                <a:buNone/>
              </a:pPr>
              <a:r>
                <a:rPr b="1" lang="en" sz="1800">
                  <a:solidFill>
                    <a:srgbClr val="FFFFFF"/>
                  </a:solidFill>
                  <a:latin typeface="Outfit"/>
                  <a:ea typeface="Outfit"/>
                  <a:cs typeface="Outfit"/>
                  <a:sym typeface="Outfit"/>
                </a:rPr>
                <a:t>PYTHON</a:t>
              </a:r>
              <a:br>
                <a:rPr b="1" lang="en" sz="1800">
                  <a:solidFill>
                    <a:srgbClr val="FFFFFF"/>
                  </a:solidFill>
                  <a:latin typeface="Outfit"/>
                  <a:ea typeface="Outfit"/>
                  <a:cs typeface="Outfit"/>
                  <a:sym typeface="Outfit"/>
                </a:rPr>
              </a:br>
              <a:r>
                <a:rPr b="1" lang="en" sz="1800">
                  <a:solidFill>
                    <a:srgbClr val="FFFFFF"/>
                  </a:solidFill>
                  <a:latin typeface="Outfit"/>
                  <a:ea typeface="Outfit"/>
                  <a:cs typeface="Outfit"/>
                  <a:sym typeface="Outfit"/>
                </a:rPr>
                <a:t>SERIES</a:t>
              </a:r>
              <a:endParaRPr b="1" sz="1800">
                <a:solidFill>
                  <a:srgbClr val="FFFFFF"/>
                </a:solidFill>
                <a:latin typeface="Outfit"/>
                <a:ea typeface="Outfit"/>
                <a:cs typeface="Outfit"/>
                <a:sym typeface="Outfit"/>
              </a:endParaRPr>
            </a:p>
          </p:txBody>
        </p:sp>
        <p:cxnSp>
          <p:nvCxnSpPr>
            <p:cNvPr id="256" name="Google Shape;256;p21"/>
            <p:cNvCxnSpPr/>
            <p:nvPr/>
          </p:nvCxnSpPr>
          <p:spPr>
            <a:xfrm>
              <a:off x="342900" y="1524000"/>
              <a:ext cx="16002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257" name="Google Shape;257;p21"/>
            <p:cNvSpPr txBox="1"/>
            <p:nvPr/>
          </p:nvSpPr>
          <p:spPr>
            <a:xfrm>
              <a:off x="342900" y="1714500"/>
              <a:ext cx="16002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64748B"/>
                  </a:solidFill>
                  <a:latin typeface="Inter SemiBold"/>
                  <a:ea typeface="Inter SemiBold"/>
                  <a:cs typeface="Inter SemiBold"/>
                  <a:sym typeface="Inter SemiBold"/>
                </a:rPr>
                <a:t>CURRENT MODULE</a:t>
              </a:r>
              <a:endParaRPr b="0" sz="900">
                <a:solidFill>
                  <a:srgbClr val="64748B"/>
                </a:solidFill>
                <a:latin typeface="Inter SemiBold"/>
                <a:ea typeface="Inter SemiBold"/>
                <a:cs typeface="Inter SemiBold"/>
                <a:sym typeface="Inter SemiBold"/>
              </a:endParaRPr>
            </a:p>
            <a:p>
              <a:pPr indent="0" lvl="0" marL="0" rtl="0" algn="l">
                <a:spcBef>
                  <a:spcPts val="450"/>
                </a:spcBef>
                <a:spcAft>
                  <a:spcPts val="0"/>
                </a:spcAft>
                <a:buNone/>
              </a:pPr>
              <a:r>
                <a:rPr b="0" lang="en" sz="1100">
                  <a:solidFill>
                    <a:srgbClr val="94A3B8"/>
                  </a:solidFill>
                  <a:latin typeface="Inter"/>
                  <a:ea typeface="Inter"/>
                  <a:cs typeface="Inter"/>
                  <a:sym typeface="Inter"/>
                </a:rPr>
                <a:t>Core Foundations</a:t>
              </a:r>
              <a:endParaRPr b="0" sz="1100">
                <a:solidFill>
                  <a:srgbClr val="94A3B8"/>
                </a:solidFill>
                <a:latin typeface="Inter"/>
                <a:ea typeface="Inter"/>
                <a:cs typeface="Inter"/>
                <a:sym typeface="Inter"/>
              </a:endParaRPr>
            </a:p>
            <a:p>
              <a:pPr indent="0" lvl="0" marL="0" rtl="0" algn="l">
                <a:spcBef>
                  <a:spcPts val="1200"/>
                </a:spcBef>
                <a:spcAft>
                  <a:spcPts val="0"/>
                </a:spcAft>
                <a:buNone/>
              </a:pPr>
              <a:r>
                <a:rPr b="0" lang="en" sz="900">
                  <a:solidFill>
                    <a:srgbClr val="64748B"/>
                  </a:solidFill>
                  <a:latin typeface="Inter SemiBold"/>
                  <a:ea typeface="Inter SemiBold"/>
                  <a:cs typeface="Inter SemiBold"/>
                  <a:sym typeface="Inter SemiBold"/>
                </a:rPr>
                <a:t>UPCOMING</a:t>
              </a:r>
              <a:endParaRPr b="0" sz="900">
                <a:solidFill>
                  <a:srgbClr val="64748B"/>
                </a:solidFill>
                <a:latin typeface="Inter SemiBold"/>
                <a:ea typeface="Inter SemiBold"/>
                <a:cs typeface="Inter SemiBold"/>
                <a:sym typeface="Inter SemiBold"/>
              </a:endParaRPr>
            </a:p>
            <a:p>
              <a:pPr indent="0" lvl="0" marL="0" rtl="0" algn="l">
                <a:spcBef>
                  <a:spcPts val="450"/>
                </a:spcBef>
                <a:spcAft>
                  <a:spcPts val="0"/>
                </a:spcAft>
                <a:buNone/>
              </a:pPr>
              <a:r>
                <a:rPr b="0" lang="en" sz="1100">
                  <a:solidFill>
                    <a:srgbClr val="38BDF8"/>
                  </a:solidFill>
                  <a:latin typeface="Inter"/>
                  <a:ea typeface="Inter"/>
                  <a:cs typeface="Inter"/>
                  <a:sym typeface="Inter"/>
                </a:rPr>
                <a:t>Interactive Input</a:t>
              </a:r>
              <a:endParaRPr b="0" sz="1100">
                <a:solidFill>
                  <a:srgbClr val="38BDF8"/>
                </a:solidFill>
                <a:latin typeface="Inter"/>
                <a:ea typeface="Inter"/>
                <a:cs typeface="Inter"/>
                <a:sym typeface="Inter"/>
              </a:endParaRPr>
            </a:p>
          </p:txBody>
        </p:sp>
        <p:grpSp>
          <p:nvGrpSpPr>
            <p:cNvPr id="258" name="Google Shape;258;p21"/>
            <p:cNvGrpSpPr/>
            <p:nvPr/>
          </p:nvGrpSpPr>
          <p:grpSpPr>
            <a:xfrm>
              <a:off x="342900" y="4381500"/>
              <a:ext cx="1600200" cy="342900"/>
              <a:chOff x="0" y="0"/>
              <a:chExt cx="1600200" cy="342900"/>
            </a:xfrm>
          </p:grpSpPr>
          <p:sp>
            <p:nvSpPr>
              <p:cNvPr id="259" name="Google Shape;259;p21"/>
              <p:cNvSpPr/>
              <p:nvPr/>
            </p:nvSpPr>
            <p:spPr>
              <a:xfrm>
                <a:off x="0" y="0"/>
                <a:ext cx="1600200" cy="342900"/>
              </a:xfrm>
              <a:prstGeom prst="roundRect">
                <a:avLst>
                  <a:gd fmla="val 16666"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21"/>
              <p:cNvSpPr/>
              <p:nvPr/>
            </p:nvSpPr>
            <p:spPr>
              <a:xfrm>
                <a:off x="95250" y="114300"/>
                <a:ext cx="228600" cy="114300"/>
              </a:xfrm>
              <a:custGeom>
                <a:rect b="b" l="l" r="r" t="t"/>
                <a:pathLst>
                  <a:path extrusionOk="0" h="120000" w="120000">
                    <a:moveTo>
                      <a:pt x="30000" y="0"/>
                    </a:moveTo>
                    <a:lnTo>
                      <a:pt x="0" y="60000"/>
                    </a:lnTo>
                    <a:lnTo>
                      <a:pt x="30000" y="120000"/>
                    </a:lnTo>
                    <a:moveTo>
                      <a:pt x="90000" y="0"/>
                    </a:moveTo>
                    <a:lnTo>
                      <a:pt x="120000" y="60000"/>
                    </a:lnTo>
                    <a:lnTo>
                      <a:pt x="90000" y="120000"/>
                    </a:lnTo>
                  </a:path>
                </a:pathLst>
              </a:custGeom>
              <a:solidFill>
                <a:srgbClr val="000000">
                  <a:alpha val="0"/>
                </a:srgbClr>
              </a:solidFill>
              <a:ln cap="rnd" cmpd="sng" w="19050">
                <a:solidFill>
                  <a:srgbClr val="64748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21"/>
              <p:cNvSpPr txBox="1"/>
              <p:nvPr/>
            </p:nvSpPr>
            <p:spPr>
              <a:xfrm>
                <a:off x="419100" y="76200"/>
                <a:ext cx="1047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94A3B8"/>
                    </a:solidFill>
                    <a:latin typeface="Fira Code"/>
                    <a:ea typeface="Fira Code"/>
                    <a:cs typeface="Fira Code"/>
                    <a:sym typeface="Fira Code"/>
                  </a:rPr>
                  <a:t>input_demo.py</a:t>
                </a:r>
                <a:endParaRPr b="0" sz="1000">
                  <a:solidFill>
                    <a:srgbClr val="94A3B8"/>
                  </a:solidFill>
                  <a:latin typeface="Fira Code"/>
                  <a:ea typeface="Fira Code"/>
                  <a:cs typeface="Fira Code"/>
                  <a:sym typeface="Fira Code"/>
                </a:endParaRPr>
              </a:p>
            </p:txBody>
          </p:sp>
        </p:grpSp>
      </p:grpSp>
      <p:grpSp>
        <p:nvGrpSpPr>
          <p:cNvPr id="262" name="Google Shape;262;p21"/>
          <p:cNvGrpSpPr/>
          <p:nvPr/>
        </p:nvGrpSpPr>
        <p:grpSpPr>
          <a:xfrm>
            <a:off x="2667000" y="381000"/>
            <a:ext cx="6096000" cy="4334025"/>
            <a:chOff x="2667000" y="381000"/>
            <a:chExt cx="6096000" cy="4334025"/>
          </a:xfrm>
        </p:grpSpPr>
        <p:sp>
          <p:nvSpPr>
            <p:cNvPr id="263" name="Google Shape;263;p21"/>
            <p:cNvSpPr txBox="1"/>
            <p:nvPr/>
          </p:nvSpPr>
          <p:spPr>
            <a:xfrm>
              <a:off x="2667000" y="381000"/>
              <a:ext cx="60960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18">
                  <a:solidFill>
                    <a:srgbClr val="2563EB"/>
                  </a:solidFill>
                  <a:latin typeface="Inter SemiBold"/>
                  <a:ea typeface="Inter SemiBold"/>
                  <a:cs typeface="Inter SemiBold"/>
                  <a:sym typeface="Inter SemiBold"/>
                </a:rPr>
                <a:t>NEXT CLASS &amp; RESOURCES</a:t>
              </a:r>
              <a:endParaRPr b="0" sz="1018">
                <a:solidFill>
                  <a:srgbClr val="2563EB"/>
                </a:solidFill>
                <a:latin typeface="Inter SemiBold"/>
                <a:ea typeface="Inter SemiBold"/>
                <a:cs typeface="Inter SemiBold"/>
                <a:sym typeface="Inter SemiBold"/>
              </a:endParaRPr>
            </a:p>
            <a:p>
              <a:pPr indent="0" lvl="0" marL="0" rtl="0" algn="l">
                <a:spcBef>
                  <a:spcPts val="450"/>
                </a:spcBef>
                <a:spcAft>
                  <a:spcPts val="0"/>
                </a:spcAft>
                <a:buNone/>
              </a:pPr>
              <a:r>
                <a:rPr b="1" lang="en" sz="2590">
                  <a:solidFill>
                    <a:srgbClr val="1E293B"/>
                  </a:solidFill>
                  <a:latin typeface="Outfit"/>
                  <a:ea typeface="Outfit"/>
                  <a:cs typeface="Outfit"/>
                  <a:sym typeface="Outfit"/>
                </a:rPr>
                <a:t>Getting User Input in Python</a:t>
              </a:r>
              <a:endParaRPr b="1" sz="2590">
                <a:solidFill>
                  <a:srgbClr val="1E293B"/>
                </a:solidFill>
                <a:latin typeface="Outfit"/>
                <a:ea typeface="Outfit"/>
                <a:cs typeface="Outfit"/>
                <a:sym typeface="Outfit"/>
              </a:endParaRPr>
            </a:p>
            <a:p>
              <a:pPr indent="0" lvl="0" marL="0" rtl="0" algn="l">
                <a:spcBef>
                  <a:spcPts val="900"/>
                </a:spcBef>
                <a:spcAft>
                  <a:spcPts val="1200"/>
                </a:spcAft>
                <a:buNone/>
              </a:pPr>
              <a:r>
                <a:rPr b="0" lang="en" sz="1388">
                  <a:solidFill>
                    <a:srgbClr val="475569"/>
                  </a:solidFill>
                  <a:latin typeface="Inter"/>
                  <a:ea typeface="Inter"/>
                  <a:cs typeface="Inter"/>
                  <a:sym typeface="Inter"/>
                </a:rPr>
                <a:t>In our next session, we will transition from internal operations to interactive programming by exploring 'Getting User Input in Python'. You will learn how to capture and process data directly from users.</a:t>
              </a:r>
              <a:endParaRPr b="0" sz="1388">
                <a:solidFill>
                  <a:srgbClr val="475569"/>
                </a:solidFill>
                <a:latin typeface="Inter"/>
                <a:ea typeface="Inter"/>
                <a:cs typeface="Inter"/>
                <a:sym typeface="Inter"/>
              </a:endParaRPr>
            </a:p>
          </p:txBody>
        </p:sp>
        <p:grpSp>
          <p:nvGrpSpPr>
            <p:cNvPr id="264" name="Google Shape;264;p21"/>
            <p:cNvGrpSpPr/>
            <p:nvPr/>
          </p:nvGrpSpPr>
          <p:grpSpPr>
            <a:xfrm>
              <a:off x="2667000" y="2143125"/>
              <a:ext cx="6096000" cy="2571900"/>
              <a:chOff x="0" y="0"/>
              <a:chExt cx="6096000" cy="2571900"/>
            </a:xfrm>
          </p:grpSpPr>
          <p:sp>
            <p:nvSpPr>
              <p:cNvPr id="265" name="Google Shape;265;p21"/>
              <p:cNvSpPr/>
              <p:nvPr/>
            </p:nvSpPr>
            <p:spPr>
              <a:xfrm>
                <a:off x="0" y="0"/>
                <a:ext cx="6096000" cy="2571900"/>
              </a:xfrm>
              <a:prstGeom prst="roundRect">
                <a:avLst>
                  <a:gd fmla="val 444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1"/>
              <p:cNvSpPr/>
              <p:nvPr/>
            </p:nvSpPr>
            <p:spPr>
              <a:xfrm>
                <a:off x="228600" y="228600"/>
                <a:ext cx="419100" cy="419100"/>
              </a:xfrm>
              <a:prstGeom prst="roundRect">
                <a:avLst>
                  <a:gd fmla="val 22727"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p21"/>
              <p:cNvSpPr/>
              <p:nvPr/>
            </p:nvSpPr>
            <p:spPr>
              <a:xfrm>
                <a:off x="304800" y="361950"/>
                <a:ext cx="152400" cy="152400"/>
              </a:xfrm>
              <a:custGeom>
                <a:rect b="b" l="l" r="r" t="t"/>
                <a:pathLst>
                  <a:path extrusionOk="0" fill="none" h="120000" w="120000">
                    <a:moveTo>
                      <a:pt x="60000" y="0"/>
                    </a:moveTo>
                    <a:lnTo>
                      <a:pt x="60000" y="120000"/>
                    </a:lnTo>
                    <a:moveTo>
                      <a:pt x="0" y="60000"/>
                    </a:moveTo>
                    <a:lnTo>
                      <a:pt x="120000" y="60000"/>
                    </a:lnTo>
                  </a:path>
                </a:pathLst>
              </a:custGeom>
              <a:solidFill>
                <a:srgbClr val="FFFFFF"/>
              </a:solidFill>
              <a:ln cap="rnd" cmpd="sng" w="28575">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21"/>
              <p:cNvSpPr/>
              <p:nvPr/>
            </p:nvSpPr>
            <p:spPr>
              <a:xfrm>
                <a:off x="361950" y="266700"/>
                <a:ext cx="114300" cy="133500"/>
              </a:xfrm>
              <a:custGeom>
                <a:rect b="b" l="l" r="r" t="t"/>
                <a:pathLst>
                  <a:path extrusionOk="0" h="120000" w="120000">
                    <a:moveTo>
                      <a:pt x="0" y="34286"/>
                    </a:moveTo>
                    <a:cubicBezTo>
                      <a:pt x="0" y="17143"/>
                      <a:pt x="20000" y="0"/>
                      <a:pt x="60000" y="0"/>
                    </a:cubicBezTo>
                    <a:cubicBezTo>
                      <a:pt x="100000" y="0"/>
                      <a:pt x="120000" y="17143"/>
                      <a:pt x="120000" y="34286"/>
                    </a:cubicBezTo>
                    <a:cubicBezTo>
                      <a:pt x="120000" y="68571"/>
                      <a:pt x="60000" y="85714"/>
                      <a:pt x="60000" y="120000"/>
                    </a:cubicBezTo>
                  </a:path>
                </a:pathLst>
              </a:custGeom>
              <a:solidFill>
                <a:srgbClr val="000000">
                  <a:alpha val="0"/>
                </a:srgbClr>
              </a:solidFill>
              <a:ln cap="rnd" cmpd="sng" w="23825">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21"/>
              <p:cNvSpPr txBox="1"/>
              <p:nvPr/>
            </p:nvSpPr>
            <p:spPr>
              <a:xfrm>
                <a:off x="762000" y="228600"/>
                <a:ext cx="5105400" cy="4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18">
                    <a:solidFill>
                      <a:srgbClr val="2563EB"/>
                    </a:solidFill>
                    <a:latin typeface="Inter SemiBold"/>
                    <a:ea typeface="Inter SemiBold"/>
                    <a:cs typeface="Inter SemiBold"/>
                    <a:sym typeface="Inter SemiBold"/>
                  </a:rPr>
                  <a:t>STUDY MATERIALS &amp; DOCUMENTATION</a:t>
                </a:r>
                <a:endParaRPr b="0" sz="1018">
                  <a:solidFill>
                    <a:srgbClr val="2563EB"/>
                  </a:solidFill>
                  <a:latin typeface="Inter SemiBold"/>
                  <a:ea typeface="Inter SemiBold"/>
                  <a:cs typeface="Inter SemiBold"/>
                  <a:sym typeface="Inter SemiBold"/>
                </a:endParaRPr>
              </a:p>
              <a:p>
                <a:pPr indent="0" lvl="0" marL="0" rtl="0" algn="l">
                  <a:spcBef>
                    <a:spcPts val="450"/>
                  </a:spcBef>
                  <a:spcAft>
                    <a:spcPts val="600"/>
                  </a:spcAft>
                  <a:buNone/>
                </a:pPr>
                <a:r>
                  <a:rPr b="1" lang="en" sz="1295">
                    <a:solidFill>
                      <a:srgbClr val="1E293B"/>
                    </a:solidFill>
                    <a:latin typeface="Inter"/>
                    <a:ea typeface="Inter"/>
                    <a:cs typeface="Inter"/>
                    <a:sym typeface="Inter"/>
                  </a:rPr>
                  <a:t>Access Course Notes &amp; Repository Updates</a:t>
                </a:r>
                <a:endParaRPr b="1" sz="1295">
                  <a:solidFill>
                    <a:srgbClr val="1E293B"/>
                  </a:solidFill>
                  <a:latin typeface="Inter"/>
                  <a:ea typeface="Inter"/>
                  <a:cs typeface="Inter"/>
                  <a:sym typeface="Inter"/>
                </a:endParaRPr>
              </a:p>
            </p:txBody>
          </p:sp>
          <p:sp>
            <p:nvSpPr>
              <p:cNvPr id="270" name="Google Shape;270;p21"/>
              <p:cNvSpPr txBox="1"/>
              <p:nvPr/>
            </p:nvSpPr>
            <p:spPr>
              <a:xfrm>
                <a:off x="228600" y="762000"/>
                <a:ext cx="56388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1200"/>
                  </a:spcAft>
                  <a:buNone/>
                </a:pPr>
                <a:r>
                  <a:rPr b="0" lang="en" sz="1350">
                    <a:solidFill>
                      <a:srgbClr val="475569"/>
                    </a:solidFill>
                    <a:latin typeface="Inter"/>
                    <a:ea typeface="Inter"/>
                    <a:cs typeface="Inter"/>
                    <a:sym typeface="Inter"/>
                  </a:rPr>
                  <a:t>To review today's conceptual breakdown, access the complete study materials and documentation.</a:t>
                </a:r>
                <a:endParaRPr b="0" sz="1350">
                  <a:solidFill>
                    <a:srgbClr val="475569"/>
                  </a:solidFill>
                  <a:latin typeface="Inter"/>
                  <a:ea typeface="Inter"/>
                  <a:cs typeface="Inter"/>
                  <a:sym typeface="Inter"/>
                </a:endParaRPr>
              </a:p>
            </p:txBody>
          </p:sp>
          <p:grpSp>
            <p:nvGrpSpPr>
              <p:cNvPr id="271" name="Google Shape;271;p21"/>
              <p:cNvGrpSpPr/>
              <p:nvPr/>
            </p:nvGrpSpPr>
            <p:grpSpPr>
              <a:xfrm>
                <a:off x="228600" y="1352550"/>
                <a:ext cx="5638800" cy="990600"/>
                <a:chOff x="0" y="0"/>
                <a:chExt cx="5638800" cy="990600"/>
              </a:xfrm>
            </p:grpSpPr>
            <p:sp>
              <p:nvSpPr>
                <p:cNvPr id="272" name="Google Shape;272;p21"/>
                <p:cNvSpPr/>
                <p:nvPr/>
              </p:nvSpPr>
              <p:spPr>
                <a:xfrm>
                  <a:off x="0" y="0"/>
                  <a:ext cx="5638800" cy="990600"/>
                </a:xfrm>
                <a:prstGeom prst="roundRect">
                  <a:avLst>
                    <a:gd fmla="val 7692"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21"/>
                <p:cNvSpPr/>
                <p:nvPr/>
              </p:nvSpPr>
              <p:spPr>
                <a:xfrm>
                  <a:off x="152400" y="133350"/>
                  <a:ext cx="76200" cy="762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4" name="Google Shape;274;p21"/>
                <p:cNvSpPr/>
                <p:nvPr/>
              </p:nvSpPr>
              <p:spPr>
                <a:xfrm>
                  <a:off x="285750" y="133350"/>
                  <a:ext cx="76200" cy="762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21"/>
                <p:cNvSpPr/>
                <p:nvPr/>
              </p:nvSpPr>
              <p:spPr>
                <a:xfrm>
                  <a:off x="419100" y="1333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76" name="Google Shape;276;p21"/>
                <p:cNvCxnSpPr/>
                <p:nvPr/>
              </p:nvCxnSpPr>
              <p:spPr>
                <a:xfrm>
                  <a:off x="0" y="304800"/>
                  <a:ext cx="56388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277" name="Google Shape;277;p21"/>
                <p:cNvSpPr txBox="1"/>
                <p:nvPr/>
              </p:nvSpPr>
              <p:spPr>
                <a:xfrm>
                  <a:off x="190500" y="400050"/>
                  <a:ext cx="5257800" cy="4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35">
                      <a:solidFill>
                        <a:srgbClr val="94A3B8"/>
                      </a:solidFill>
                      <a:latin typeface="Fira Code"/>
                      <a:ea typeface="Fira Code"/>
                      <a:cs typeface="Fira Code"/>
                      <a:sym typeface="Fira Code"/>
                    </a:rPr>
                    <a:t># Follow the repository and navigate to the section below for updates:</a:t>
                  </a:r>
                  <a:endParaRPr b="0" sz="935">
                    <a:solidFill>
                      <a:srgbClr val="94A3B8"/>
                    </a:solidFill>
                    <a:latin typeface="Fira Code"/>
                    <a:ea typeface="Fira Code"/>
                    <a:cs typeface="Fira Code"/>
                    <a:sym typeface="Fira Code"/>
                  </a:endParaRPr>
                </a:p>
                <a:p>
                  <a:pPr indent="0" lvl="0" marL="0" rtl="0" algn="l">
                    <a:spcBef>
                      <a:spcPts val="450"/>
                    </a:spcBef>
                    <a:spcAft>
                      <a:spcPts val="0"/>
                    </a:spcAft>
                    <a:buNone/>
                  </a:pPr>
                  <a:r>
                    <a:rPr b="0" lang="en" sz="1105">
                      <a:solidFill>
                        <a:srgbClr val="10B981"/>
                      </a:solidFill>
                      <a:latin typeface="Fira Code"/>
                      <a:ea typeface="Fira Code"/>
                      <a:cs typeface="Fira Code"/>
                      <a:sym typeface="Fira Code"/>
                    </a:rPr>
                    <a:t>github.com/</a:t>
                  </a:r>
                  <a:r>
                    <a:rPr b="0" lang="en" sz="1105">
                      <a:solidFill>
                        <a:srgbClr val="60A5FA"/>
                      </a:solidFill>
                      <a:latin typeface="Fira Code SemiBold"/>
                      <a:ea typeface="Fira Code SemiBold"/>
                      <a:cs typeface="Fira Code SemiBold"/>
                      <a:sym typeface="Fira Code SemiBold"/>
                    </a:rPr>
                    <a:t>Varshh-hub</a:t>
                  </a:r>
                  <a:r>
                    <a:rPr b="0" lang="en" sz="1105">
                      <a:solidFill>
                        <a:srgbClr val="E2E8F0"/>
                      </a:solidFill>
                      <a:latin typeface="Fira Code"/>
                      <a:ea typeface="Fira Code"/>
                      <a:cs typeface="Fira Code"/>
                      <a:sym typeface="Fira Code"/>
                    </a:rPr>
                    <a:t> / </a:t>
                  </a:r>
                  <a:r>
                    <a:rPr b="0" lang="en" sz="1105">
                      <a:solidFill>
                        <a:srgbClr val="F59E0B"/>
                      </a:solidFill>
                      <a:latin typeface="Fira Code SemiBold"/>
                      <a:ea typeface="Fira Code SemiBold"/>
                      <a:cs typeface="Fira Code SemiBold"/>
                      <a:sym typeface="Fira Code SemiBold"/>
                    </a:rPr>
                    <a:t>PYTHON-SERIES</a:t>
                  </a:r>
                  <a:endParaRPr b="0" sz="1105">
                    <a:solidFill>
                      <a:srgbClr val="E2E8F0"/>
                    </a:solidFill>
                    <a:latin typeface="Fira Code"/>
                    <a:ea typeface="Fira Code"/>
                    <a:cs typeface="Fira Code"/>
                    <a:sym typeface="Fira Code"/>
                  </a:endParaRPr>
                </a:p>
              </p:txBody>
            </p:sp>
          </p:grpSp>
        </p:gr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